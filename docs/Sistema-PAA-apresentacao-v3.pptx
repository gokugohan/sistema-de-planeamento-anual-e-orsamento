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d26fde8-01ec-16c7-bb7f-a7bf64166552}">
          <p14:sldIdLst>
            <p14:sldId id="256"/>
            <p14:sldId id="257"/>
          </p14:sldIdLst>
        </p14:section>
        <p14:section name="How it works" id="{f4806f01-3c49-e09c-589e-46517fb4aab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Fit and trust" id="{bf349acd-0a91-ef9f-b07f-e4d02a5e72bc}">
          <p14:sldIdLst>
            <p14:sldId id="267"/>
            <p14:sldId id="268"/>
          </p14:sldIdLst>
        </p14:section>
        <p14:section name="Readiness" id="{c2f24523-52c4-6baa-e209-99f7e2c25574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Time to open a page, milliseconds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Annual report</c:v>
                  </c:pt>
                  <c:pt idx="1">
                    <c:v>Budget allocation</c:v>
                  </c:pt>
                  <c:pt idx="2">
                    <c:v>Plan approval</c:v>
                  </c:pt>
                  <c:pt idx="3">
                    <c:v>Activities</c:v>
                  </c:pt>
                  <c:pt idx="4">
                    <c:v>Dashboard</c:v>
                  </c:pt>
                  <c:pt idx="5">
                    <c:v>Monitoring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202</c:v>
                </c:pt>
                <c:pt idx="1">
                  <c:v>272</c:v>
                </c:pt>
                <c:pt idx="2">
                  <c:v>355</c:v>
                </c:pt>
                <c:pt idx="3">
                  <c:v>402</c:v>
                </c:pt>
                <c:pt idx="4">
                  <c:v>427</c:v>
                </c:pt>
                <c:pt idx="5">
                  <c:v>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b"/>
        <c:majorGridlines>
          <c:spPr>
            <a:ln w="6350" cap="flat">
              <a:solidFill>
                <a:srgbClr val="D9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C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system: one place where a public body plans its year and its budget. It is not tied to one institution; the Ministry of Transport and Communications appears only as a sample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plan, approve, distribute. The distribution is exact to the cent and never gives a unit more than it asked for; any surplus stays unallocated.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order verified with the users: plan, internal approval, CRO, ministry total, Parliament and promulgation, envelope, distribution. Distribution only uses approved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programme and its units are created first. A unit then creates an activity under a programme, and gives it indicators (what will be delivered) and budget lines (what it will cost, by economic category). The system refuses to submit an activity without a budget line with an amount, an indicator, and sensible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chain the system enforces. Who gives the final approval follows the level of the institution. In a ministry the top director sends the validated activity up (status Waiting Approval) and the Minister approves it. In a directorate or gabinete there is no Minister: the Director or Chefe do Gabinete approves it directly. Both rules, and whether a parent director validates first, can be adjusted in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 is new: units report what each approved budget line committed and paid per quarter, a different person verifies it, and only verified figures count. The sample data follows today's date, so the running year shows its finished quarters and the current one part-way.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roles. Directors only see their own unit and the units beneath it. Every action is checked on the server, not only hidden in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ministry sends its plan to the CRO and the Minister approves. An office inside a ministry has no Minister: its head approves and the plan goes to the ministry. The presets can be adjusted, and changes are recorded in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screens, notifications and reports work in three languages. The PDF is the approved plan that goes to the 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screen. A ministry would see the CRO decision and the State Budget law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PAA Activities page. The redesign is applied through shared design tokens and components, so every screen follows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Ministry of Transport and Communications is only a sample. A deployment serves one institution; you can start with a single office such as the Gabinete de Digitalização e Segurança Cibernética.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trail covers model saves. Two-factor is required for the Administrator and Minister roles by default and can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come from a load test with synthetic data. Guardrails now fail the build when a page runs too many database queries, and slow requests are logged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datasets are optional and removable. The Gabinete plan is illustrative; the ministry plan is taken from the published State Budget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agree the pilot office and the deployment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Sistema de Planeamento Anual e Orçamento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Sistema de Planeamento Anual e Orçamento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annual action plan and budget of a public body, from the first activity to the approved envelope</a:t>
            </a:r>
            <a:endParaRPr lang="en-US" sz="2000" dirty="0"/>
          </a:p>
        </p:txBody>
      </p:sp>
      <p:sp>
        <p:nvSpPr>
          <p:cNvPr id="4" name="Mark"/>
          <p:cNvSpPr/>
          <p:nvPr/>
        </p:nvSpPr>
        <p:spPr>
          <a:xfrm>
            <a:off x="9966960" y="146304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ark icon" descr="Plan and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874520"/>
            <a:ext cx="731520" cy="731520"/>
          </a:xfrm>
          <a:prstGeom prst="rect">
            <a:avLst/>
          </a:prstGeom>
        </p:spPr>
      </p:pic>
      <p:sp>
        <p:nvSpPr>
          <p:cNvPr id="6" name="Implementer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Implemented by G-Kakaroto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system from the first plan to the final budget</a:t>
            </a:r>
            <a:endParaRPr lang="en-US" sz="3600" dirty="0"/>
          </a:p>
        </p:txBody>
      </p:sp>
      <p:sp>
        <p:nvSpPr>
          <p:cNvPr id="3" name="Card Plan"/>
          <p:cNvSpPr/>
          <p:nvPr/>
        </p:nvSpPr>
        <p:spPr>
          <a:xfrm>
            <a:off x="64008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Circle Plan"/>
          <p:cNvSpPr/>
          <p:nvPr/>
        </p:nvSpPr>
        <p:spPr>
          <a:xfrm>
            <a:off x="1005840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Plan" descr="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411480" cy="411480"/>
          </a:xfrm>
          <a:prstGeom prst="rect">
            <a:avLst/>
          </a:prstGeom>
        </p:spPr>
      </p:pic>
      <p:sp>
        <p:nvSpPr>
          <p:cNvPr id="6" name="Heading Plan"/>
          <p:cNvSpPr txBox="1"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400" dirty="0"/>
          </a:p>
        </p:txBody>
      </p:sp>
      <p:sp>
        <p:nvSpPr>
          <p:cNvPr id="7" name="Text Plan"/>
          <p:cNvSpPr txBox="1"/>
          <p:nvPr/>
        </p:nvSpPr>
        <p:spPr>
          <a:xfrm>
            <a:off x="100584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write their activities, indicators and budget lines by economic category.</a:t>
            </a:r>
            <a:endParaRPr lang="en-US" sz="1600" dirty="0"/>
          </a:p>
        </p:txBody>
      </p:sp>
      <p:sp>
        <p:nvSpPr>
          <p:cNvPr id="8" name="Card Approve"/>
          <p:cNvSpPr/>
          <p:nvPr/>
        </p:nvSpPr>
        <p:spPr>
          <a:xfrm>
            <a:off x="443484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Circle Approve"/>
          <p:cNvSpPr/>
          <p:nvPr/>
        </p:nvSpPr>
        <p:spPr>
          <a:xfrm>
            <a:off x="4800600" y="21488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Approve" descr="Appr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77440"/>
            <a:ext cx="411480" cy="411480"/>
          </a:xfrm>
          <a:prstGeom prst="rect">
            <a:avLst/>
          </a:prstGeom>
        </p:spPr>
      </p:pic>
      <p:sp>
        <p:nvSpPr>
          <p:cNvPr id="11" name="Heading Approve"/>
          <p:cNvSpPr txBox="1"/>
          <p:nvPr/>
        </p:nvSpPr>
        <p:spPr>
          <a:xfrm>
            <a:off x="48006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400" dirty="0"/>
          </a:p>
        </p:txBody>
      </p:sp>
      <p:sp>
        <p:nvSpPr>
          <p:cNvPr id="12" name="Text Approve"/>
          <p:cNvSpPr txBox="1"/>
          <p:nvPr/>
        </p:nvSpPr>
        <p:spPr>
          <a:xfrm>
            <a:off x="480060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plan is reviewed and validated up the chain until the head of the institution approves it.</a:t>
            </a:r>
            <a:endParaRPr lang="en-US" sz="1600" dirty="0"/>
          </a:p>
        </p:txBody>
      </p:sp>
      <p:sp>
        <p:nvSpPr>
          <p:cNvPr id="13" name="Card Distribute"/>
          <p:cNvSpPr/>
          <p:nvPr/>
        </p:nvSpPr>
        <p:spPr>
          <a:xfrm>
            <a:off x="822960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Circle Distribute"/>
          <p:cNvSpPr/>
          <p:nvPr/>
        </p:nvSpPr>
        <p:spPr>
          <a:xfrm>
            <a:off x="8595360" y="21488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 Distribute" descr="Distrib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377440"/>
            <a:ext cx="411480" cy="411480"/>
          </a:xfrm>
          <a:prstGeom prst="rect">
            <a:avLst/>
          </a:prstGeom>
        </p:spPr>
      </p:pic>
      <p:sp>
        <p:nvSpPr>
          <p:cNvPr id="16" name="Heading Distribute"/>
          <p:cNvSpPr txBox="1"/>
          <p:nvPr/>
        </p:nvSpPr>
        <p:spPr>
          <a:xfrm>
            <a:off x="85953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2400" dirty="0"/>
          </a:p>
        </p:txBody>
      </p:sp>
      <p:sp>
        <p:nvSpPr>
          <p:cNvPr id="17" name="Text Distribute"/>
          <p:cNvSpPr txBox="1"/>
          <p:nvPr/>
        </p:nvSpPr>
        <p:spPr>
          <a:xfrm>
            <a:off x="859536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envelope is shared over the approved plan, to the cent, never above what was planned.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annual cycle of a ministry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64008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91440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Number text 1"/>
          <p:cNvSpPr txBox="1"/>
          <p:nvPr/>
        </p:nvSpPr>
        <p:spPr>
          <a:xfrm>
            <a:off x="9144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itle 1"/>
          <p:cNvSpPr txBox="1"/>
          <p:nvPr/>
        </p:nvSpPr>
        <p:spPr>
          <a:xfrm>
            <a:off x="166420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plan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91440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draft activities with indicators and budget lines.</a:t>
            </a:r>
            <a:endParaRPr lang="en-US" sz="1600" dirty="0"/>
          </a:p>
        </p:txBody>
      </p:sp>
      <p:sp>
        <p:nvSpPr>
          <p:cNvPr id="8" name="Step 2"/>
          <p:cNvSpPr/>
          <p:nvPr/>
        </p:nvSpPr>
        <p:spPr>
          <a:xfrm>
            <a:off x="443484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70916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Number text 2"/>
          <p:cNvSpPr txBox="1"/>
          <p:nvPr/>
        </p:nvSpPr>
        <p:spPr>
          <a:xfrm>
            <a:off x="47091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title 2"/>
          <p:cNvSpPr txBox="1"/>
          <p:nvPr/>
        </p:nvSpPr>
        <p:spPr>
          <a:xfrm>
            <a:off x="545896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approval</a:t>
            </a:r>
            <a:endParaRPr lang="en-US" sz="2000" dirty="0"/>
          </a:p>
        </p:txBody>
      </p:sp>
      <p:sp>
        <p:nvSpPr>
          <p:cNvPr id="12" name="Step text 2"/>
          <p:cNvSpPr txBox="1"/>
          <p:nvPr/>
        </p:nvSpPr>
        <p:spPr>
          <a:xfrm>
            <a:off x="47091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Directors review and validate; the head approves the plan.</a:t>
            </a:r>
            <a:endParaRPr lang="en-US" sz="1600" dirty="0"/>
          </a:p>
        </p:txBody>
      </p:sp>
      <p:sp>
        <p:nvSpPr>
          <p:cNvPr id="13" name="Step 3"/>
          <p:cNvSpPr/>
          <p:nvPr/>
        </p:nvSpPr>
        <p:spPr>
          <a:xfrm>
            <a:off x="822960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850392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85039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title 3"/>
          <p:cNvSpPr txBox="1"/>
          <p:nvPr/>
        </p:nvSpPr>
        <p:spPr>
          <a:xfrm>
            <a:off x="925372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CRO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850392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plan goes to the Comité de Revisão Político.</a:t>
            </a:r>
            <a:endParaRPr lang="en-US" sz="1600" dirty="0"/>
          </a:p>
        </p:txBody>
      </p:sp>
      <p:sp>
        <p:nvSpPr>
          <p:cNvPr id="18" name="Step 4"/>
          <p:cNvSpPr/>
          <p:nvPr/>
        </p:nvSpPr>
        <p:spPr>
          <a:xfrm>
            <a:off x="64008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Number text 4"/>
          <p:cNvSpPr txBox="1"/>
          <p:nvPr/>
        </p:nvSpPr>
        <p:spPr>
          <a:xfrm>
            <a:off x="91440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tep title 4"/>
          <p:cNvSpPr txBox="1"/>
          <p:nvPr/>
        </p:nvSpPr>
        <p:spPr>
          <a:xfrm>
            <a:off x="166420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Ministry total</a:t>
            </a:r>
            <a:endParaRPr lang="en-US" sz="2000" dirty="0"/>
          </a:p>
        </p:txBody>
      </p:sp>
      <p:sp>
        <p:nvSpPr>
          <p:cNvPr id="22" name="Step text 4"/>
          <p:cNvSpPr txBox="1"/>
          <p:nvPr/>
        </p:nvSpPr>
        <p:spPr>
          <a:xfrm>
            <a:off x="9144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CRO decides the total for the ministry.</a:t>
            </a:r>
            <a:endParaRPr lang="en-US" sz="1600" dirty="0"/>
          </a:p>
        </p:txBody>
      </p:sp>
      <p:sp>
        <p:nvSpPr>
          <p:cNvPr id="23" name="Step 5"/>
          <p:cNvSpPr/>
          <p:nvPr/>
        </p:nvSpPr>
        <p:spPr>
          <a:xfrm>
            <a:off x="443484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Number text 5"/>
          <p:cNvSpPr txBox="1"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tep title 5"/>
          <p:cNvSpPr txBox="1"/>
          <p:nvPr/>
        </p:nvSpPr>
        <p:spPr>
          <a:xfrm>
            <a:off x="545896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law</a:t>
            </a:r>
            <a:endParaRPr lang="en-US" sz="2000" dirty="0"/>
          </a:p>
        </p:txBody>
      </p:sp>
      <p:sp>
        <p:nvSpPr>
          <p:cNvPr id="27" name="Step text 5"/>
          <p:cNvSpPr txBox="1"/>
          <p:nvPr/>
        </p:nvSpPr>
        <p:spPr>
          <a:xfrm>
            <a:off x="470916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Parliament approves and the President promulgates; the envelope is registered.</a:t>
            </a:r>
            <a:endParaRPr lang="en-US" sz="1600" dirty="0"/>
          </a:p>
        </p:txBody>
      </p:sp>
      <p:sp>
        <p:nvSpPr>
          <p:cNvPr id="28" name="Step 6"/>
          <p:cNvSpPr/>
          <p:nvPr/>
        </p:nvSpPr>
        <p:spPr>
          <a:xfrm>
            <a:off x="822960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850392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ber text 6"/>
          <p:cNvSpPr txBox="1"/>
          <p:nvPr/>
        </p:nvSpPr>
        <p:spPr>
          <a:xfrm>
            <a:off x="85039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Step title 6"/>
          <p:cNvSpPr txBox="1"/>
          <p:nvPr/>
        </p:nvSpPr>
        <p:spPr>
          <a:xfrm>
            <a:off x="925372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32" name="Step text 6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envelope is shared over the approved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a programme to an activity: what is recorded</a:t>
            </a:r>
            <a:endParaRPr lang="en-US" sz="3600" dirty="0"/>
          </a:p>
        </p:txBody>
      </p:sp>
      <p:sp>
        <p:nvSpPr>
          <p:cNvPr id="3" name="Programme box"/>
          <p:cNvSpPr/>
          <p:nvPr/>
        </p:nvSpPr>
        <p:spPr>
          <a:xfrm>
            <a:off x="64008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4" name="Programme box title"/>
          <p:cNvSpPr txBox="1"/>
          <p:nvPr/>
        </p:nvSpPr>
        <p:spPr>
          <a:xfrm>
            <a:off x="86868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endParaRPr lang="en-US" sz="2000" dirty="0"/>
          </a:p>
        </p:txBody>
      </p:sp>
      <p:sp>
        <p:nvSpPr>
          <p:cNvPr id="5" name="Programme box text"/>
          <p:cNvSpPr txBox="1"/>
          <p:nvPr/>
        </p:nvSpPr>
        <p:spPr>
          <a:xfrm>
            <a:off x="8686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OGE code, name, objective. Set up once by the administrator.</a:t>
            </a:r>
            <a:endParaRPr lang="en-US" sz="1400" dirty="0"/>
          </a:p>
        </p:txBody>
      </p:sp>
      <p:sp>
        <p:nvSpPr>
          <p:cNvPr id="6" name="Unit box"/>
          <p:cNvSpPr/>
          <p:nvPr/>
        </p:nvSpPr>
        <p:spPr>
          <a:xfrm>
            <a:off x="640080" y="31089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/>
        </p:spPr>
      </p:sp>
      <p:sp>
        <p:nvSpPr>
          <p:cNvPr id="7" name="Unit box title"/>
          <p:cNvSpPr txBox="1"/>
          <p:nvPr/>
        </p:nvSpPr>
        <p:spPr>
          <a:xfrm>
            <a:off x="868680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2000" dirty="0"/>
          </a:p>
        </p:txBody>
      </p:sp>
      <p:sp>
        <p:nvSpPr>
          <p:cNvPr id="8" name="Unit box text"/>
          <p:cNvSpPr txBox="1"/>
          <p:nvPr/>
        </p:nvSpPr>
        <p:spPr>
          <a:xfrm>
            <a:off x="868680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directorate or unit that owns and answers for the work.</a:t>
            </a:r>
            <a:endParaRPr lang="en-US" sz="1400" dirty="0"/>
          </a:p>
        </p:txBody>
      </p:sp>
      <p:sp>
        <p:nvSpPr>
          <p:cNvPr id="9" name="Programme arrow"/>
          <p:cNvSpPr/>
          <p:nvPr/>
        </p:nvSpPr>
        <p:spPr>
          <a:xfrm>
            <a:off x="3337560" y="2286000"/>
            <a:ext cx="54864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Unit arrow"/>
          <p:cNvSpPr/>
          <p:nvPr/>
        </p:nvSpPr>
        <p:spPr>
          <a:xfrm>
            <a:off x="3337560" y="3794760"/>
            <a:ext cx="54864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ctivity box"/>
          <p:cNvSpPr/>
          <p:nvPr/>
        </p:nvSpPr>
        <p:spPr>
          <a:xfrm>
            <a:off x="3931920" y="1600200"/>
            <a:ext cx="2926080" cy="2880360"/>
          </a:xfrm>
          <a:prstGeom prst="roundRect">
            <a:avLst>
              <a:gd name="adj" fmla="val 3175"/>
            </a:avLst>
          </a:prstGeom>
          <a:solidFill>
            <a:schemeClr val="accent1"/>
          </a:solidFill>
          <a:ln/>
        </p:spPr>
      </p:sp>
      <p:sp>
        <p:nvSpPr>
          <p:cNvPr id="12" name="Activity box title"/>
          <p:cNvSpPr txBox="1"/>
          <p:nvPr/>
        </p:nvSpPr>
        <p:spPr>
          <a:xfrm>
            <a:off x="416052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2000" dirty="0"/>
          </a:p>
        </p:txBody>
      </p:sp>
      <p:sp>
        <p:nvSpPr>
          <p:cNvPr id="13" name="Activity box text"/>
          <p:cNvSpPr txBox="1"/>
          <p:nvPr/>
        </p:nvSpPr>
        <p:spPr>
          <a:xfrm>
            <a:off x="4160520" y="224028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will be done in the year: description, priority, the quarters it runs in, start and end dates, who manages it. Starts as a Draft. The quarters it runs in also set its spending schedule.</a:t>
            </a:r>
            <a:endParaRPr lang="en-US" sz="1400" dirty="0"/>
          </a:p>
        </p:txBody>
      </p:sp>
      <p:sp>
        <p:nvSpPr>
          <p:cNvPr id="14" name="Indicator arrow"/>
          <p:cNvSpPr/>
          <p:nvPr/>
        </p:nvSpPr>
        <p:spPr>
          <a:xfrm>
            <a:off x="6903720" y="2286000"/>
            <a:ext cx="54864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Budget arrow"/>
          <p:cNvSpPr/>
          <p:nvPr/>
        </p:nvSpPr>
        <p:spPr>
          <a:xfrm>
            <a:off x="6903720" y="3794760"/>
            <a:ext cx="548640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Indicators box"/>
          <p:cNvSpPr/>
          <p:nvPr/>
        </p:nvSpPr>
        <p:spPr>
          <a:xfrm>
            <a:off x="7498080" y="1600200"/>
            <a:ext cx="4050792" cy="137160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/>
        </p:spPr>
      </p:sp>
      <p:sp>
        <p:nvSpPr>
          <p:cNvPr id="17" name="Indicators box title"/>
          <p:cNvSpPr txBox="1"/>
          <p:nvPr/>
        </p:nvSpPr>
        <p:spPr>
          <a:xfrm>
            <a:off x="7726680" y="173736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Indicators</a:t>
            </a:r>
            <a:endParaRPr lang="en-US" sz="2000" dirty="0"/>
          </a:p>
        </p:txBody>
      </p:sp>
      <p:sp>
        <p:nvSpPr>
          <p:cNvPr id="18" name="Indicators box text"/>
          <p:cNvSpPr txBox="1"/>
          <p:nvPr/>
        </p:nvSpPr>
        <p:spPr>
          <a:xfrm>
            <a:off x="7726680" y="2240280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What success looks like: a target, a baseline and a unit of measure, followed quarter by quarter.</a:t>
            </a:r>
            <a:endParaRPr lang="en-US" sz="1400" dirty="0"/>
          </a:p>
        </p:txBody>
      </p:sp>
      <p:sp>
        <p:nvSpPr>
          <p:cNvPr id="19" name="Budget lines box"/>
          <p:cNvSpPr/>
          <p:nvPr/>
        </p:nvSpPr>
        <p:spPr>
          <a:xfrm>
            <a:off x="7498080" y="3108960"/>
            <a:ext cx="4050792" cy="137160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</p:sp>
      <p:sp>
        <p:nvSpPr>
          <p:cNvPr id="20" name="Budget lines box title"/>
          <p:cNvSpPr txBox="1"/>
          <p:nvPr/>
        </p:nvSpPr>
        <p:spPr>
          <a:xfrm>
            <a:off x="7726680" y="324612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lines</a:t>
            </a:r>
            <a:endParaRPr lang="en-US" sz="2000" dirty="0"/>
          </a:p>
        </p:txBody>
      </p:sp>
      <p:sp>
        <p:nvSpPr>
          <p:cNvPr id="21" name="Budget lines box text"/>
          <p:cNvSpPr txBox="1"/>
          <p:nvPr/>
        </p:nvSpPr>
        <p:spPr>
          <a:xfrm>
            <a:off x="7726680" y="3749040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money, by economic category (salaries, goods and services, transfers, capital) with an amount each.</a:t>
            </a:r>
            <a:endParaRPr lang="en-US" sz="1400" dirty="0"/>
          </a:p>
        </p:txBody>
      </p:sp>
      <p:sp>
        <p:nvSpPr>
          <p:cNvPr id="22" name="Ready panel"/>
          <p:cNvSpPr/>
          <p:nvPr/>
        </p:nvSpPr>
        <p:spPr>
          <a:xfrm>
            <a:off x="640080" y="4754880"/>
            <a:ext cx="1090879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3" name="Ready title"/>
          <p:cNvSpPr txBox="1"/>
          <p:nvPr/>
        </p:nvSpPr>
        <p:spPr>
          <a:xfrm>
            <a:off x="91440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 activity can be submitted when</a:t>
            </a:r>
            <a:endParaRPr lang="en-US" sz="1600" dirty="0"/>
          </a:p>
        </p:txBody>
      </p:sp>
      <p:sp>
        <p:nvSpPr>
          <p:cNvPr id="24" name="Ready dot 1"/>
          <p:cNvSpPr/>
          <p:nvPr/>
        </p:nvSpPr>
        <p:spPr>
          <a:xfrm>
            <a:off x="914400" y="546811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5" name="Ready text 1"/>
          <p:cNvSpPr txBox="1"/>
          <p:nvPr/>
        </p:nvSpPr>
        <p:spPr>
          <a:xfrm>
            <a:off x="128016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has at least one budget line with an amount</a:t>
            </a:r>
            <a:endParaRPr lang="en-US" sz="1400" dirty="0"/>
          </a:p>
        </p:txBody>
      </p:sp>
      <p:sp>
        <p:nvSpPr>
          <p:cNvPr id="26" name="Ready dot 2"/>
          <p:cNvSpPr/>
          <p:nvPr/>
        </p:nvSpPr>
        <p:spPr>
          <a:xfrm>
            <a:off x="4526280" y="546811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Ready text 2"/>
          <p:cNvSpPr txBox="1"/>
          <p:nvPr/>
        </p:nvSpPr>
        <p:spPr>
          <a:xfrm>
            <a:off x="489204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has at least one indicator with a target</a:t>
            </a:r>
            <a:endParaRPr lang="en-US" sz="1400" dirty="0"/>
          </a:p>
        </p:txBody>
      </p:sp>
      <p:sp>
        <p:nvSpPr>
          <p:cNvPr id="28" name="Ready dot 3"/>
          <p:cNvSpPr/>
          <p:nvPr/>
        </p:nvSpPr>
        <p:spPr>
          <a:xfrm>
            <a:off x="8138160" y="5468112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9" name="Ready text 3"/>
          <p:cNvSpPr txBox="1"/>
          <p:nvPr/>
        </p:nvSpPr>
        <p:spPr>
          <a:xfrm>
            <a:off x="8503920" y="5321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end date is not before the start 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draft to approved: who does what</a:t>
            </a:r>
            <a:endParaRPr lang="en-US" sz="3600" dirty="0"/>
          </a:p>
        </p:txBody>
      </p:sp>
      <p:sp>
        <p:nvSpPr>
          <p:cNvPr id="3" name="Approval card 1"/>
          <p:cNvSpPr/>
          <p:nvPr/>
        </p:nvSpPr>
        <p:spPr>
          <a:xfrm>
            <a:off x="640080" y="160020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Approval number 1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Approval number text 1"/>
          <p:cNvSpPr txBox="1"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pproval title 1"/>
          <p:cNvSpPr txBox="1"/>
          <p:nvPr/>
        </p:nvSpPr>
        <p:spPr>
          <a:xfrm>
            <a:off x="141732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500" dirty="0"/>
          </a:p>
        </p:txBody>
      </p:sp>
      <p:sp>
        <p:nvSpPr>
          <p:cNvPr id="7" name="Approval who 1"/>
          <p:cNvSpPr txBox="1"/>
          <p:nvPr/>
        </p:nvSpPr>
        <p:spPr>
          <a:xfrm>
            <a:off x="86868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The unit</a:t>
            </a:r>
            <a:endParaRPr lang="en-US" sz="1300" dirty="0"/>
          </a:p>
        </p:txBody>
      </p:sp>
      <p:sp>
        <p:nvSpPr>
          <p:cNvPr id="8" name="Approval text 1"/>
          <p:cNvSpPr txBox="1"/>
          <p:nvPr/>
        </p:nvSpPr>
        <p:spPr>
          <a:xfrm>
            <a:off x="86868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Completes the activity, its indicators and budget lines.</a:t>
            </a:r>
            <a:endParaRPr lang="en-US" sz="1300" dirty="0"/>
          </a:p>
        </p:txBody>
      </p:sp>
      <p:sp>
        <p:nvSpPr>
          <p:cNvPr id="9" name="Approval arrow 1"/>
          <p:cNvSpPr/>
          <p:nvPr/>
        </p:nvSpPr>
        <p:spPr>
          <a:xfrm>
            <a:off x="258775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Approval card 2"/>
          <p:cNvSpPr/>
          <p:nvPr/>
        </p:nvSpPr>
        <p:spPr>
          <a:xfrm>
            <a:off x="2880360" y="160020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Approval number 2"/>
          <p:cNvSpPr/>
          <p:nvPr/>
        </p:nvSpPr>
        <p:spPr>
          <a:xfrm>
            <a:off x="3108960" y="18288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Approval number text 2"/>
          <p:cNvSpPr txBox="1"/>
          <p:nvPr/>
        </p:nvSpPr>
        <p:spPr>
          <a:xfrm>
            <a:off x="3108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Approval title 2"/>
          <p:cNvSpPr txBox="1"/>
          <p:nvPr/>
        </p:nvSpPr>
        <p:spPr>
          <a:xfrm>
            <a:off x="365760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</a:t>
            </a:r>
            <a:endParaRPr lang="en-US" sz="1500" dirty="0"/>
          </a:p>
        </p:txBody>
      </p:sp>
      <p:sp>
        <p:nvSpPr>
          <p:cNvPr id="14" name="Approval who 2"/>
          <p:cNvSpPr txBox="1"/>
          <p:nvPr/>
        </p:nvSpPr>
        <p:spPr>
          <a:xfrm>
            <a:off x="310896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Planner or unit director</a:t>
            </a:r>
            <a:endParaRPr lang="en-US" sz="1300" dirty="0"/>
          </a:p>
        </p:txBody>
      </p:sp>
      <p:sp>
        <p:nvSpPr>
          <p:cNvPr id="15" name="Approval text 2"/>
          <p:cNvSpPr txBox="1"/>
          <p:nvPr/>
        </p:nvSpPr>
        <p:spPr>
          <a:xfrm>
            <a:off x="310896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Sends it for review once it passes the checks.</a:t>
            </a:r>
            <a:endParaRPr lang="en-US" sz="1300" dirty="0"/>
          </a:p>
        </p:txBody>
      </p:sp>
      <p:sp>
        <p:nvSpPr>
          <p:cNvPr id="16" name="Approval arrow 2"/>
          <p:cNvSpPr/>
          <p:nvPr/>
        </p:nvSpPr>
        <p:spPr>
          <a:xfrm>
            <a:off x="482803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pproval card 3"/>
          <p:cNvSpPr/>
          <p:nvPr/>
        </p:nvSpPr>
        <p:spPr>
          <a:xfrm>
            <a:off x="5120640" y="160020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8" name="Approval number 3"/>
          <p:cNvSpPr/>
          <p:nvPr/>
        </p:nvSpPr>
        <p:spPr>
          <a:xfrm>
            <a:off x="5349240" y="18288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Approval number text 3"/>
          <p:cNvSpPr txBox="1"/>
          <p:nvPr/>
        </p:nvSpPr>
        <p:spPr>
          <a:xfrm>
            <a:off x="5349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Approval title 3"/>
          <p:cNvSpPr txBox="1"/>
          <p:nvPr/>
        </p:nvSpPr>
        <p:spPr>
          <a:xfrm>
            <a:off x="589788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Reviewed</a:t>
            </a:r>
            <a:endParaRPr lang="en-US" sz="1500" dirty="0"/>
          </a:p>
        </p:txBody>
      </p:sp>
      <p:sp>
        <p:nvSpPr>
          <p:cNvPr id="21" name="Approval who 3"/>
          <p:cNvSpPr txBox="1"/>
          <p:nvPr/>
        </p:nvSpPr>
        <p:spPr>
          <a:xfrm>
            <a:off x="534924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Director of the unit</a:t>
            </a:r>
            <a:endParaRPr lang="en-US" sz="1300" dirty="0"/>
          </a:p>
        </p:txBody>
      </p:sp>
      <p:sp>
        <p:nvSpPr>
          <p:cNvPr id="22" name="Approval text 3"/>
          <p:cNvSpPr txBox="1"/>
          <p:nvPr/>
        </p:nvSpPr>
        <p:spPr>
          <a:xfrm>
            <a:off x="534924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Reviews it; where there is a unit above, it goes up for validation.</a:t>
            </a:r>
            <a:endParaRPr lang="en-US" sz="1300" dirty="0"/>
          </a:p>
        </p:txBody>
      </p:sp>
      <p:sp>
        <p:nvSpPr>
          <p:cNvPr id="23" name="Approval arrow 3"/>
          <p:cNvSpPr/>
          <p:nvPr/>
        </p:nvSpPr>
        <p:spPr>
          <a:xfrm>
            <a:off x="706831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pproval card 4"/>
          <p:cNvSpPr/>
          <p:nvPr/>
        </p:nvSpPr>
        <p:spPr>
          <a:xfrm>
            <a:off x="7360920" y="160020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5" name="Approval number 4"/>
          <p:cNvSpPr/>
          <p:nvPr/>
        </p:nvSpPr>
        <p:spPr>
          <a:xfrm>
            <a:off x="7589520" y="182880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6" name="Approval number text 4"/>
          <p:cNvSpPr txBox="1"/>
          <p:nvPr/>
        </p:nvSpPr>
        <p:spPr>
          <a:xfrm>
            <a:off x="7589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Approval title 4"/>
          <p:cNvSpPr txBox="1"/>
          <p:nvPr/>
        </p:nvSpPr>
        <p:spPr>
          <a:xfrm>
            <a:off x="813816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</a:t>
            </a:r>
            <a:endParaRPr lang="en-US" sz="1500" dirty="0"/>
          </a:p>
        </p:txBody>
      </p:sp>
      <p:sp>
        <p:nvSpPr>
          <p:cNvPr id="28" name="Approval who 4"/>
          <p:cNvSpPr txBox="1"/>
          <p:nvPr/>
        </p:nvSpPr>
        <p:spPr>
          <a:xfrm>
            <a:off x="75895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Director of the unit above</a:t>
            </a:r>
            <a:endParaRPr lang="en-US" sz="1300" dirty="0"/>
          </a:p>
        </p:txBody>
      </p:sp>
      <p:sp>
        <p:nvSpPr>
          <p:cNvPr id="29" name="Approval text 4"/>
          <p:cNvSpPr txBox="1"/>
          <p:nvPr/>
        </p:nvSpPr>
        <p:spPr>
          <a:xfrm>
            <a:off x="7589520" y="30632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Validates the plans of the units beneath.</a:t>
            </a:r>
            <a:endParaRPr lang="en-US" sz="1300" dirty="0"/>
          </a:p>
        </p:txBody>
      </p:sp>
      <p:sp>
        <p:nvSpPr>
          <p:cNvPr id="30" name="Approval arrow 4"/>
          <p:cNvSpPr/>
          <p:nvPr/>
        </p:nvSpPr>
        <p:spPr>
          <a:xfrm>
            <a:off x="930859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Approval card 5"/>
          <p:cNvSpPr/>
          <p:nvPr/>
        </p:nvSpPr>
        <p:spPr>
          <a:xfrm>
            <a:off x="9601200" y="160020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32" name="Approval number 5"/>
          <p:cNvSpPr/>
          <p:nvPr/>
        </p:nvSpPr>
        <p:spPr>
          <a:xfrm>
            <a:off x="9829800" y="182880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3" name="Approval number text 5"/>
          <p:cNvSpPr txBox="1"/>
          <p:nvPr/>
        </p:nvSpPr>
        <p:spPr>
          <a:xfrm>
            <a:off x="9829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Approval title 5"/>
          <p:cNvSpPr txBox="1"/>
          <p:nvPr/>
        </p:nvSpPr>
        <p:spPr>
          <a:xfrm>
            <a:off x="1037844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500" dirty="0"/>
          </a:p>
        </p:txBody>
      </p:sp>
      <p:sp>
        <p:nvSpPr>
          <p:cNvPr id="35" name="Approval level box 1"/>
          <p:cNvSpPr/>
          <p:nvPr/>
        </p:nvSpPr>
        <p:spPr>
          <a:xfrm>
            <a:off x="9710928" y="2468880"/>
            <a:ext cx="1700784" cy="1069848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</p:spPr>
      </p:sp>
      <p:sp>
        <p:nvSpPr>
          <p:cNvPr id="36" name="Approval level text 1"/>
          <p:cNvSpPr txBox="1"/>
          <p:nvPr/>
        </p:nvSpPr>
        <p:spPr>
          <a:xfrm>
            <a:off x="9802368" y="2532888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Ministry 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top director sends it up and the Minister gives the final approval.</a:t>
            </a:r>
            <a:endParaRPr lang="en-US" sz="1200" dirty="0"/>
          </a:p>
        </p:txBody>
      </p:sp>
      <p:sp>
        <p:nvSpPr>
          <p:cNvPr id="37" name="Approval level box 2"/>
          <p:cNvSpPr/>
          <p:nvPr/>
        </p:nvSpPr>
        <p:spPr>
          <a:xfrm>
            <a:off x="9710928" y="3611880"/>
            <a:ext cx="1700784" cy="1069848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/>
        </p:spPr>
      </p:sp>
      <p:sp>
        <p:nvSpPr>
          <p:cNvPr id="38" name="Approval level text 2"/>
          <p:cNvSpPr txBox="1"/>
          <p:nvPr/>
        </p:nvSpPr>
        <p:spPr>
          <a:xfrm>
            <a:off x="9802368" y="3675888"/>
            <a:ext cx="1517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3"/>
                </a:solidFill>
              </a:rPr>
              <a:t>Directorate or gabinete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Director or Chefe do Gabinete gives the final approval.</a:t>
            </a:r>
            <a:endParaRPr lang="en-US" sz="1200" dirty="0"/>
          </a:p>
        </p:txBody>
      </p:sp>
      <p:sp>
        <p:nvSpPr>
          <p:cNvPr id="39" name="Approval note card 1"/>
          <p:cNvSpPr/>
          <p:nvPr/>
        </p:nvSpPr>
        <p:spPr>
          <a:xfrm>
            <a:off x="640080" y="4983480"/>
            <a:ext cx="350215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0" name="Approval note 1"/>
          <p:cNvSpPr txBox="1"/>
          <p:nvPr/>
        </p:nvSpPr>
        <p:spPr>
          <a:xfrm>
            <a:off x="868680" y="50749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Returned with a reason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At any step a reviewer can send it back. The unit sees the reason, corrects it and submits again.</a:t>
            </a:r>
            <a:endParaRPr lang="en-US" sz="1500" dirty="0"/>
          </a:p>
        </p:txBody>
      </p:sp>
      <p:sp>
        <p:nvSpPr>
          <p:cNvPr id="41" name="Approval note card 2"/>
          <p:cNvSpPr/>
          <p:nvPr/>
        </p:nvSpPr>
        <p:spPr>
          <a:xfrm>
            <a:off x="4343400" y="4983480"/>
            <a:ext cx="350215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2" name="Approval note 2"/>
          <p:cNvSpPr txBox="1"/>
          <p:nvPr/>
        </p:nvSpPr>
        <p:spPr>
          <a:xfrm>
            <a:off x="4572000" y="50749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Locked once approved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 approved activity is not edited. Reopening it needs a written reason.</a:t>
            </a:r>
            <a:endParaRPr lang="en-US" sz="1500" dirty="0"/>
          </a:p>
        </p:txBody>
      </p:sp>
      <p:sp>
        <p:nvSpPr>
          <p:cNvPr id="43" name="Approval note card 3"/>
          <p:cNvSpPr/>
          <p:nvPr/>
        </p:nvSpPr>
        <p:spPr>
          <a:xfrm>
            <a:off x="8046720" y="4983480"/>
            <a:ext cx="3502152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4" name="Approval note 3"/>
          <p:cNvSpPr txBox="1"/>
          <p:nvPr/>
        </p:nvSpPr>
        <p:spPr>
          <a:xfrm>
            <a:off x="8275320" y="50749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step is on record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Who, when and any note are kept in the approval trail, and approvers can approve many at once.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After approval: on to execution</a:t>
            </a:r>
            <a:endParaRPr lang="en-US" sz="3600" dirty="0"/>
          </a:p>
        </p:txBody>
      </p:sp>
      <p:sp>
        <p:nvSpPr>
          <p:cNvPr id="3" name="After card 1"/>
          <p:cNvSpPr/>
          <p:nvPr/>
        </p:nvSpPr>
        <p:spPr>
          <a:xfrm>
            <a:off x="640080" y="160020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</p:spPr>
      </p:sp>
      <p:sp>
        <p:nvSpPr>
          <p:cNvPr id="4" name="After title 1"/>
          <p:cNvSpPr txBox="1"/>
          <p:nvPr/>
        </p:nvSpPr>
        <p:spPr>
          <a:xfrm>
            <a:off x="8229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plan</a:t>
            </a:r>
            <a:endParaRPr lang="en-US" sz="1800" dirty="0"/>
          </a:p>
        </p:txBody>
      </p:sp>
      <p:sp>
        <p:nvSpPr>
          <p:cNvPr id="5" name="After text 1"/>
          <p:cNvSpPr txBox="1"/>
          <p:nvPr/>
        </p:nvSpPr>
        <p:spPr>
          <a:xfrm>
            <a:off x="82296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Only approved activities go forward. The plan is sent up: to the CRO in a ministry, to the ministry for an office.</a:t>
            </a:r>
            <a:endParaRPr lang="en-US" sz="1300" dirty="0"/>
          </a:p>
        </p:txBody>
      </p:sp>
      <p:sp>
        <p:nvSpPr>
          <p:cNvPr id="6" name="After arrow 1"/>
          <p:cNvSpPr/>
          <p:nvPr/>
        </p:nvSpPr>
        <p:spPr>
          <a:xfrm>
            <a:off x="258775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After card 2"/>
          <p:cNvSpPr/>
          <p:nvPr/>
        </p:nvSpPr>
        <p:spPr>
          <a:xfrm>
            <a:off x="2880360" y="160020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accent3"/>
          </a:solidFill>
          <a:ln/>
        </p:spPr>
      </p:sp>
      <p:sp>
        <p:nvSpPr>
          <p:cNvPr id="8" name="After title 2"/>
          <p:cNvSpPr txBox="1"/>
          <p:nvPr/>
        </p:nvSpPr>
        <p:spPr>
          <a:xfrm>
            <a:off x="306324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decided</a:t>
            </a:r>
            <a:endParaRPr lang="en-US" sz="1800" dirty="0"/>
          </a:p>
        </p:txBody>
      </p:sp>
      <p:sp>
        <p:nvSpPr>
          <p:cNvPr id="9" name="After text 2"/>
          <p:cNvSpPr txBox="1"/>
          <p:nvPr/>
        </p:nvSpPr>
        <p:spPr>
          <a:xfrm>
            <a:off x="306324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CRO decides the ministry total and the budget law is passed; an office receives its allocation. The envelope is registered.</a:t>
            </a:r>
            <a:endParaRPr lang="en-US" sz="1300" dirty="0"/>
          </a:p>
        </p:txBody>
      </p:sp>
      <p:sp>
        <p:nvSpPr>
          <p:cNvPr id="10" name="After arrow 2"/>
          <p:cNvSpPr/>
          <p:nvPr/>
        </p:nvSpPr>
        <p:spPr>
          <a:xfrm>
            <a:off x="482803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fter card 3"/>
          <p:cNvSpPr/>
          <p:nvPr/>
        </p:nvSpPr>
        <p:spPr>
          <a:xfrm>
            <a:off x="5120640" y="160020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accent1"/>
          </a:solidFill>
          <a:ln/>
        </p:spPr>
      </p:sp>
      <p:sp>
        <p:nvSpPr>
          <p:cNvPr id="12" name="After title 3"/>
          <p:cNvSpPr txBox="1"/>
          <p:nvPr/>
        </p:nvSpPr>
        <p:spPr>
          <a:xfrm>
            <a:off x="53035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</a:t>
            </a:r>
            <a:endParaRPr lang="en-US" sz="1800" dirty="0"/>
          </a:p>
        </p:txBody>
      </p:sp>
      <p:sp>
        <p:nvSpPr>
          <p:cNvPr id="13" name="After text 3"/>
          <p:cNvSpPr txBox="1"/>
          <p:nvPr/>
        </p:nvSpPr>
        <p:spPr>
          <a:xfrm>
            <a:off x="530352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envelope is shared over the approved budget lines, to the cent, never above what was planned.</a:t>
            </a:r>
            <a:endParaRPr lang="en-US" sz="1300" dirty="0"/>
          </a:p>
        </p:txBody>
      </p:sp>
      <p:sp>
        <p:nvSpPr>
          <p:cNvPr id="14" name="After arrow 3"/>
          <p:cNvSpPr/>
          <p:nvPr/>
        </p:nvSpPr>
        <p:spPr>
          <a:xfrm>
            <a:off x="706831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fter card 4"/>
          <p:cNvSpPr/>
          <p:nvPr/>
        </p:nvSpPr>
        <p:spPr>
          <a:xfrm>
            <a:off x="7360920" y="160020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/>
        </p:spPr>
      </p:sp>
      <p:sp>
        <p:nvSpPr>
          <p:cNvPr id="16" name="After title 4"/>
          <p:cNvSpPr txBox="1"/>
          <p:nvPr/>
        </p:nvSpPr>
        <p:spPr>
          <a:xfrm>
            <a:off x="754380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Executed</a:t>
            </a:r>
            <a:endParaRPr lang="en-US" sz="1800" dirty="0"/>
          </a:p>
        </p:txBody>
      </p:sp>
      <p:sp>
        <p:nvSpPr>
          <p:cNvPr id="17" name="After text 4"/>
          <p:cNvSpPr txBox="1"/>
          <p:nvPr/>
        </p:nvSpPr>
        <p:spPr>
          <a:xfrm>
            <a:off x="754380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Each quarter the unit reports what each line committed and paid. Someone else verifies it.</a:t>
            </a:r>
            <a:endParaRPr lang="en-US" sz="1300" dirty="0"/>
          </a:p>
        </p:txBody>
      </p:sp>
      <p:sp>
        <p:nvSpPr>
          <p:cNvPr id="18" name="After arrow 4"/>
          <p:cNvSpPr/>
          <p:nvPr/>
        </p:nvSpPr>
        <p:spPr>
          <a:xfrm>
            <a:off x="9308592" y="2971800"/>
            <a:ext cx="265176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fter card 5"/>
          <p:cNvSpPr/>
          <p:nvPr/>
        </p:nvSpPr>
        <p:spPr>
          <a:xfrm>
            <a:off x="9601200" y="160020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tx1"/>
          </a:solidFill>
          <a:ln/>
        </p:spPr>
      </p:sp>
      <p:sp>
        <p:nvSpPr>
          <p:cNvPr id="20" name="After title 5"/>
          <p:cNvSpPr txBox="1"/>
          <p:nvPr/>
        </p:nvSpPr>
        <p:spPr>
          <a:xfrm>
            <a:off x="97840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</a:t>
            </a:r>
            <a:endParaRPr lang="en-US" sz="1800" dirty="0"/>
          </a:p>
        </p:txBody>
      </p:sp>
      <p:sp>
        <p:nvSpPr>
          <p:cNvPr id="21" name="After text 5"/>
          <p:cNvSpPr txBox="1"/>
          <p:nvPr/>
        </p:nvSpPr>
        <p:spPr>
          <a:xfrm>
            <a:off x="9784080" y="242316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Dashboard and reports show paid against the calendar, by quarter and programme, with the activities falling behind.</a:t>
            </a:r>
            <a:endParaRPr lang="en-US" sz="1300" dirty="0"/>
          </a:p>
        </p:txBody>
      </p:sp>
      <p:sp>
        <p:nvSpPr>
          <p:cNvPr id="22" name="Trace panel"/>
          <p:cNvSpPr/>
          <p:nvPr/>
        </p:nvSpPr>
        <p:spPr>
          <a:xfrm>
            <a:off x="640080" y="4617720"/>
            <a:ext cx="10908792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23" name="Trace text"/>
          <p:cNvSpPr txBox="1"/>
          <p:nvPr/>
        </p:nvSpPr>
        <p:spPr>
          <a:xfrm>
            <a:off x="914400" y="47091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One chain of data, end to end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Programme, unit, activity, budget line, approved amount, committed and paid. Every figure in a report traces back to a budget line of an approved activity, and every change on the way is in the audit trail.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sees and does what their role allows</a:t>
            </a:r>
            <a:endParaRPr lang="en-US" sz="3600" dirty="0"/>
          </a:p>
        </p:txBody>
      </p:sp>
      <p:sp>
        <p:nvSpPr>
          <p:cNvPr id="3" name="Role card Administrator"/>
          <p:cNvSpPr/>
          <p:nvPr/>
        </p:nvSpPr>
        <p:spPr>
          <a:xfrm>
            <a:off x="64008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Role circle Administrator"/>
          <p:cNvSpPr/>
          <p:nvPr/>
        </p:nvSpPr>
        <p:spPr>
          <a:xfrm>
            <a:off x="11887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le icon Administrator" descr="Adminis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50008"/>
            <a:ext cx="420624" cy="420624"/>
          </a:xfrm>
          <a:prstGeom prst="rect">
            <a:avLst/>
          </a:prstGeom>
        </p:spPr>
      </p:pic>
      <p:sp>
        <p:nvSpPr>
          <p:cNvPr id="6" name="Role title Administrator"/>
          <p:cNvSpPr txBox="1"/>
          <p:nvPr/>
        </p:nvSpPr>
        <p:spPr>
          <a:xfrm>
            <a:off x="8229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7" name="Role text Administrator"/>
          <p:cNvSpPr txBox="1"/>
          <p:nvPr/>
        </p:nvSpPr>
        <p:spPr>
          <a:xfrm>
            <a:off x="82296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Sets up the institution, users and settings.</a:t>
            </a:r>
            <a:endParaRPr lang="en-US" sz="1400" dirty="0"/>
          </a:p>
        </p:txBody>
      </p:sp>
      <p:sp>
        <p:nvSpPr>
          <p:cNvPr id="8" name="Role card Minister"/>
          <p:cNvSpPr/>
          <p:nvPr/>
        </p:nvSpPr>
        <p:spPr>
          <a:xfrm>
            <a:off x="290322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9" name="Role circle Minister"/>
          <p:cNvSpPr/>
          <p:nvPr/>
        </p:nvSpPr>
        <p:spPr>
          <a:xfrm>
            <a:off x="3451860" y="21031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Role icon Minister" descr="Min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350008"/>
            <a:ext cx="420624" cy="420624"/>
          </a:xfrm>
          <a:prstGeom prst="rect">
            <a:avLst/>
          </a:prstGeom>
        </p:spPr>
      </p:pic>
      <p:sp>
        <p:nvSpPr>
          <p:cNvPr id="11" name="Role title Minister"/>
          <p:cNvSpPr txBox="1"/>
          <p:nvPr/>
        </p:nvSpPr>
        <p:spPr>
          <a:xfrm>
            <a:off x="30861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Minister</a:t>
            </a:r>
            <a:endParaRPr lang="en-US" sz="1800" dirty="0"/>
          </a:p>
        </p:txBody>
      </p:sp>
      <p:sp>
        <p:nvSpPr>
          <p:cNvPr id="12" name="Role text Minister"/>
          <p:cNvSpPr txBox="1"/>
          <p:nvPr/>
        </p:nvSpPr>
        <p:spPr>
          <a:xfrm>
            <a:off x="308610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the final approval and registers the envelope.</a:t>
            </a:r>
            <a:endParaRPr lang="en-US" sz="1400" dirty="0"/>
          </a:p>
        </p:txBody>
      </p:sp>
      <p:sp>
        <p:nvSpPr>
          <p:cNvPr id="13" name="Role card Director"/>
          <p:cNvSpPr/>
          <p:nvPr/>
        </p:nvSpPr>
        <p:spPr>
          <a:xfrm>
            <a:off x="516636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Role circle Director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Role icon Director" descr="Dire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350008"/>
            <a:ext cx="420624" cy="420624"/>
          </a:xfrm>
          <a:prstGeom prst="rect">
            <a:avLst/>
          </a:prstGeom>
        </p:spPr>
      </p:pic>
      <p:sp>
        <p:nvSpPr>
          <p:cNvPr id="16" name="Role title Director"/>
          <p:cNvSpPr txBox="1"/>
          <p:nvPr/>
        </p:nvSpPr>
        <p:spPr>
          <a:xfrm>
            <a:off x="53492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1800" dirty="0"/>
          </a:p>
        </p:txBody>
      </p:sp>
      <p:sp>
        <p:nvSpPr>
          <p:cNvPr id="17" name="Role text Director"/>
          <p:cNvSpPr txBox="1"/>
          <p:nvPr/>
        </p:nvSpPr>
        <p:spPr>
          <a:xfrm>
            <a:off x="534924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Reviews and validates the plans of the unit and its sub-units.</a:t>
            </a:r>
            <a:endParaRPr lang="en-US" sz="1400" dirty="0"/>
          </a:p>
        </p:txBody>
      </p:sp>
      <p:sp>
        <p:nvSpPr>
          <p:cNvPr id="18" name="Role card Planning"/>
          <p:cNvSpPr/>
          <p:nvPr/>
        </p:nvSpPr>
        <p:spPr>
          <a:xfrm>
            <a:off x="742950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Role circle Planning"/>
          <p:cNvSpPr/>
          <p:nvPr/>
        </p:nvSpPr>
        <p:spPr>
          <a:xfrm>
            <a:off x="7978140" y="210312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Role icon Planning" descr="Plan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2350008"/>
            <a:ext cx="420624" cy="420624"/>
          </a:xfrm>
          <a:prstGeom prst="rect">
            <a:avLst/>
          </a:prstGeom>
        </p:spPr>
      </p:pic>
      <p:sp>
        <p:nvSpPr>
          <p:cNvPr id="21" name="Role title Planning"/>
          <p:cNvSpPr txBox="1"/>
          <p:nvPr/>
        </p:nvSpPr>
        <p:spPr>
          <a:xfrm>
            <a:off x="76123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2" name="Role text Planning"/>
          <p:cNvSpPr txBox="1"/>
          <p:nvPr/>
        </p:nvSpPr>
        <p:spPr>
          <a:xfrm>
            <a:off x="761238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Prepares activities, indicators and budget lines.</a:t>
            </a:r>
            <a:endParaRPr lang="en-US" sz="1400" dirty="0"/>
          </a:p>
        </p:txBody>
      </p:sp>
      <p:sp>
        <p:nvSpPr>
          <p:cNvPr id="23" name="Role card Viewer"/>
          <p:cNvSpPr/>
          <p:nvPr/>
        </p:nvSpPr>
        <p:spPr>
          <a:xfrm>
            <a:off x="969264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4" name="Role circle Viewer"/>
          <p:cNvSpPr/>
          <p:nvPr/>
        </p:nvSpPr>
        <p:spPr>
          <a:xfrm>
            <a:off x="10241280" y="21031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Role icon Viewer" descr="View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350008"/>
            <a:ext cx="420624" cy="420624"/>
          </a:xfrm>
          <a:prstGeom prst="rect">
            <a:avLst/>
          </a:prstGeom>
        </p:spPr>
      </p:pic>
      <p:sp>
        <p:nvSpPr>
          <p:cNvPr id="26" name="Role title Viewer"/>
          <p:cNvSpPr txBox="1"/>
          <p:nvPr/>
        </p:nvSpPr>
        <p:spPr>
          <a:xfrm>
            <a:off x="98755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800" dirty="0"/>
          </a:p>
        </p:txBody>
      </p:sp>
      <p:sp>
        <p:nvSpPr>
          <p:cNvPr id="27" name="Role text Viewer"/>
          <p:cNvSpPr txBox="1"/>
          <p:nvPr/>
        </p:nvSpPr>
        <p:spPr>
          <a:xfrm>
            <a:off x="987552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plans and reports; changes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system, set for the level of the institution</a:t>
            </a:r>
            <a:endParaRPr lang="en-US" sz="3600" dirty="0"/>
          </a:p>
        </p:txBody>
      </p:sp>
      <p:sp>
        <p:nvSpPr>
          <p:cNvPr id="3" name="Level card 1"/>
          <p:cNvSpPr/>
          <p:nvPr/>
        </p:nvSpPr>
        <p:spPr>
          <a:xfrm>
            <a:off x="640080" y="1600200"/>
            <a:ext cx="525780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4" name="Level circle 1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evel icon 1" descr="A mini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21408"/>
            <a:ext cx="329184" cy="329184"/>
          </a:xfrm>
          <a:prstGeom prst="rect">
            <a:avLst/>
          </a:prstGeom>
        </p:spPr>
      </p:pic>
      <p:sp>
        <p:nvSpPr>
          <p:cNvPr id="6" name="Level title 1"/>
          <p:cNvSpPr txBox="1"/>
          <p:nvPr/>
        </p:nvSpPr>
        <p:spPr>
          <a:xfrm>
            <a:off x="192024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ministry</a:t>
            </a:r>
            <a:endParaRPr lang="en-US" sz="2200" dirty="0"/>
          </a:p>
        </p:txBody>
      </p:sp>
      <p:sp>
        <p:nvSpPr>
          <p:cNvPr id="7" name="Level label 1-1"/>
          <p:cNvSpPr txBox="1"/>
          <p:nvPr/>
        </p:nvSpPr>
        <p:spPr>
          <a:xfrm>
            <a:off x="1005840" y="2880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Final approval</a:t>
            </a:r>
            <a:endParaRPr lang="en-US" sz="1200" dirty="0"/>
          </a:p>
        </p:txBody>
      </p:sp>
      <p:sp>
        <p:nvSpPr>
          <p:cNvPr id="8" name="Level value 1-1"/>
          <p:cNvSpPr txBox="1"/>
          <p:nvPr/>
        </p:nvSpPr>
        <p:spPr>
          <a:xfrm>
            <a:off x="1005840" y="31363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Minister</a:t>
            </a:r>
            <a:endParaRPr lang="en-US" sz="1500" dirty="0"/>
          </a:p>
        </p:txBody>
      </p:sp>
      <p:sp>
        <p:nvSpPr>
          <p:cNvPr id="9" name="Level label 1-2"/>
          <p:cNvSpPr txBox="1"/>
          <p:nvPr/>
        </p:nvSpPr>
        <p:spPr>
          <a:xfrm>
            <a:off x="1005840" y="3630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plan goes to</a:t>
            </a:r>
            <a:endParaRPr lang="en-US" sz="1200" dirty="0"/>
          </a:p>
        </p:txBody>
      </p:sp>
      <p:sp>
        <p:nvSpPr>
          <p:cNvPr id="10" name="Level value 1-2"/>
          <p:cNvSpPr txBox="1"/>
          <p:nvPr/>
        </p:nvSpPr>
        <p:spPr>
          <a:xfrm>
            <a:off x="1005840" y="3886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CRO, the Budget Review Committee</a:t>
            </a:r>
            <a:endParaRPr lang="en-US" sz="1500" dirty="0"/>
          </a:p>
        </p:txBody>
      </p:sp>
      <p:sp>
        <p:nvSpPr>
          <p:cNvPr id="11" name="Level label 1-3"/>
          <p:cNvSpPr txBox="1"/>
          <p:nvPr/>
        </p:nvSpPr>
        <p:spPr>
          <a:xfrm>
            <a:off x="1005840" y="4379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Its cycle</a:t>
            </a:r>
            <a:endParaRPr lang="en-US" sz="1200" dirty="0"/>
          </a:p>
        </p:txBody>
      </p:sp>
      <p:sp>
        <p:nvSpPr>
          <p:cNvPr id="12" name="Level value 1-3"/>
          <p:cNvSpPr txBox="1"/>
          <p:nvPr/>
        </p:nvSpPr>
        <p:spPr>
          <a:xfrm>
            <a:off x="1005840" y="46360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Ceiling, CRO decision, State Budget law, envelope, distribution</a:t>
            </a:r>
            <a:endParaRPr lang="en-US" sz="1500" dirty="0"/>
          </a:p>
        </p:txBody>
      </p:sp>
      <p:sp>
        <p:nvSpPr>
          <p:cNvPr id="13" name="Level card 2"/>
          <p:cNvSpPr/>
          <p:nvPr/>
        </p:nvSpPr>
        <p:spPr>
          <a:xfrm>
            <a:off x="6309360" y="1600200"/>
            <a:ext cx="525780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4" name="Level circle 2"/>
          <p:cNvSpPr/>
          <p:nvPr/>
        </p:nvSpPr>
        <p:spPr>
          <a:xfrm>
            <a:off x="667512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evel icon 2" descr="A directorate or gabine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121408"/>
            <a:ext cx="329184" cy="329184"/>
          </a:xfrm>
          <a:prstGeom prst="rect">
            <a:avLst/>
          </a:prstGeom>
        </p:spPr>
      </p:pic>
      <p:sp>
        <p:nvSpPr>
          <p:cNvPr id="16" name="Level title 2"/>
          <p:cNvSpPr txBox="1"/>
          <p:nvPr/>
        </p:nvSpPr>
        <p:spPr>
          <a:xfrm>
            <a:off x="758952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directorate or gabinete</a:t>
            </a:r>
            <a:endParaRPr lang="en-US" sz="2200" dirty="0"/>
          </a:p>
        </p:txBody>
      </p:sp>
      <p:sp>
        <p:nvSpPr>
          <p:cNvPr id="17" name="Level label 2-1"/>
          <p:cNvSpPr txBox="1"/>
          <p:nvPr/>
        </p:nvSpPr>
        <p:spPr>
          <a:xfrm>
            <a:off x="6675120" y="2880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Final approval</a:t>
            </a:r>
            <a:endParaRPr lang="en-US" sz="1200" dirty="0"/>
          </a:p>
        </p:txBody>
      </p:sp>
      <p:sp>
        <p:nvSpPr>
          <p:cNvPr id="18" name="Level value 2-1"/>
          <p:cNvSpPr txBox="1"/>
          <p:nvPr/>
        </p:nvSpPr>
        <p:spPr>
          <a:xfrm>
            <a:off x="6675120" y="31363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Director or Chefe do Gabinete</a:t>
            </a:r>
            <a:endParaRPr lang="en-US" sz="1500" dirty="0"/>
          </a:p>
        </p:txBody>
      </p:sp>
      <p:sp>
        <p:nvSpPr>
          <p:cNvPr id="19" name="Level label 2-2"/>
          <p:cNvSpPr txBox="1"/>
          <p:nvPr/>
        </p:nvSpPr>
        <p:spPr>
          <a:xfrm>
            <a:off x="6675120" y="3630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plan goes to</a:t>
            </a:r>
            <a:endParaRPr lang="en-US" sz="1200" dirty="0"/>
          </a:p>
        </p:txBody>
      </p:sp>
      <p:sp>
        <p:nvSpPr>
          <p:cNvPr id="20" name="Level value 2-2"/>
          <p:cNvSpPr txBox="1"/>
          <p:nvPr/>
        </p:nvSpPr>
        <p:spPr>
          <a:xfrm>
            <a:off x="6675120" y="3886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ministry, or the team there that prepares the budget</a:t>
            </a:r>
            <a:endParaRPr lang="en-US" sz="1500" dirty="0"/>
          </a:p>
        </p:txBody>
      </p:sp>
      <p:sp>
        <p:nvSpPr>
          <p:cNvPr id="21" name="Level label 2-3"/>
          <p:cNvSpPr txBox="1"/>
          <p:nvPr/>
        </p:nvSpPr>
        <p:spPr>
          <a:xfrm>
            <a:off x="6675120" y="4379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Its cycle</a:t>
            </a:r>
            <a:endParaRPr lang="en-US" sz="1200" dirty="0"/>
          </a:p>
        </p:txBody>
      </p:sp>
      <p:sp>
        <p:nvSpPr>
          <p:cNvPr id="22" name="Level value 2-3"/>
          <p:cNvSpPr txBox="1"/>
          <p:nvPr/>
        </p:nvSpPr>
        <p:spPr>
          <a:xfrm>
            <a:off x="6675120" y="46360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approved, sent to the ministry, allocation received, distribution</a:t>
            </a:r>
            <a:endParaRPr lang="en-US" sz="1500" dirty="0"/>
          </a:p>
        </p:txBody>
      </p:sp>
      <p:sp>
        <p:nvSpPr>
          <p:cNvPr id="23" name="Levels note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These are presets. Who gives the final approval, and whether a parent director validates first, can be adjusted in Settings; every change is audited.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system gives each institution</a:t>
            </a:r>
            <a:endParaRPr lang="en-US" sz="3600" dirty="0"/>
          </a:p>
        </p:txBody>
      </p:sp>
      <p:sp>
        <p:nvSpPr>
          <p:cNvPr id="3" name="Cap circl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ap icon 1" descr="Activities and indica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5" name="Capability 1"/>
          <p:cNvSpPr txBox="1"/>
          <p:nvPr/>
        </p:nvSpPr>
        <p:spPr>
          <a:xfrm>
            <a:off x="1508760" y="15544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Activities and indicators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activity carries targets, quarterly progress and its budget lines.</a:t>
            </a:r>
            <a:endParaRPr lang="en-US" sz="1800" dirty="0"/>
          </a:p>
        </p:txBody>
      </p:sp>
      <p:sp>
        <p:nvSpPr>
          <p:cNvPr id="6" name="Cap circle 2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p icon 2" descr="Budget by economic categ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79192"/>
            <a:ext cx="274320" cy="274320"/>
          </a:xfrm>
          <a:prstGeom prst="rect">
            <a:avLst/>
          </a:prstGeom>
        </p:spPr>
      </p:pic>
      <p:sp>
        <p:nvSpPr>
          <p:cNvPr id="8" name="Capability 2"/>
          <p:cNvSpPr txBox="1"/>
          <p:nvPr/>
        </p:nvSpPr>
        <p:spPr>
          <a:xfrm>
            <a:off x="1508760" y="24505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Budget by economic category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Salaries, goods and services, transfers and capital, in the State Budget's own classification.</a:t>
            </a:r>
            <a:endParaRPr lang="en-US" sz="1800" dirty="0"/>
          </a:p>
        </p:txBody>
      </p:sp>
      <p:sp>
        <p:nvSpPr>
          <p:cNvPr id="9" name="Cap circle 3"/>
          <p:cNvSpPr/>
          <p:nvPr/>
        </p:nvSpPr>
        <p:spPr>
          <a:xfrm>
            <a:off x="640080" y="33924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p icon 3" descr="A clear approval ch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75304"/>
            <a:ext cx="274320" cy="274320"/>
          </a:xfrm>
          <a:prstGeom prst="rect">
            <a:avLst/>
          </a:prstGeom>
        </p:spPr>
      </p:pic>
      <p:sp>
        <p:nvSpPr>
          <p:cNvPr id="11" name="Capability 3"/>
          <p:cNvSpPr txBox="1"/>
          <p:nvPr/>
        </p:nvSpPr>
        <p:spPr>
          <a:xfrm>
            <a:off x="1508760" y="33467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clear approval chain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Submit, review, validate, approve, with notifications at each step.</a:t>
            </a:r>
            <a:endParaRPr lang="en-US" sz="1800" dirty="0"/>
          </a:p>
        </p:txBody>
      </p:sp>
      <p:sp>
        <p:nvSpPr>
          <p:cNvPr id="12" name="Cap circle 4"/>
          <p:cNvSpPr/>
          <p:nvPr/>
        </p:nvSpPr>
        <p:spPr>
          <a:xfrm>
            <a:off x="640080" y="42885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p icon 4" descr="Dashboard and rep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71416"/>
            <a:ext cx="274320" cy="274320"/>
          </a:xfrm>
          <a:prstGeom prst="rect">
            <a:avLst/>
          </a:prstGeom>
        </p:spPr>
      </p:pic>
      <p:sp>
        <p:nvSpPr>
          <p:cNvPr id="14" name="Capability 4"/>
          <p:cNvSpPr txBox="1"/>
          <p:nvPr/>
        </p:nvSpPr>
        <p:spPr>
          <a:xfrm>
            <a:off x="1508760" y="42428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Dashboard and reports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Planned against approved, by unit and by programme, ready for the CRO.</a:t>
            </a:r>
            <a:endParaRPr lang="en-US" sz="1800" dirty="0"/>
          </a:p>
        </p:txBody>
      </p:sp>
      <p:sp>
        <p:nvSpPr>
          <p:cNvPr id="15" name="Cap circle 5"/>
          <p:cNvSpPr/>
          <p:nvPr/>
        </p:nvSpPr>
        <p:spPr>
          <a:xfrm>
            <a:off x="640080" y="51846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p icon 5" descr="Quarterly monito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67528"/>
            <a:ext cx="274320" cy="274320"/>
          </a:xfrm>
          <a:prstGeom prst="rect">
            <a:avLst/>
          </a:prstGeom>
        </p:spPr>
      </p:pic>
      <p:sp>
        <p:nvSpPr>
          <p:cNvPr id="17" name="Capability 5"/>
          <p:cNvSpPr txBox="1"/>
          <p:nvPr/>
        </p:nvSpPr>
        <p:spPr>
          <a:xfrm>
            <a:off x="1508760" y="51389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Quarterly monitoring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Verified progress against targets, and verified spending (committed and paid) against the budget.</a:t>
            </a:r>
            <a:endParaRPr lang="en-US" sz="1800" dirty="0"/>
          </a:p>
        </p:txBody>
      </p:sp>
      <p:sp>
        <p:nvSpPr>
          <p:cNvPr id="18" name="Stat card 1"/>
          <p:cNvSpPr/>
          <p:nvPr/>
        </p:nvSpPr>
        <p:spPr>
          <a:xfrm>
            <a:off x="8229600" y="160020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Stat 1"/>
          <p:cNvSpPr txBox="1"/>
          <p:nvPr/>
        </p:nvSpPr>
        <p:spPr>
          <a:xfrm>
            <a:off x="8503920" y="1709928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Stat label 1"/>
          <p:cNvSpPr txBox="1"/>
          <p:nvPr/>
        </p:nvSpPr>
        <p:spPr>
          <a:xfrm>
            <a:off x="9875520" y="1709928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languages: English, Portuguese and Tetum</a:t>
            </a:r>
            <a:endParaRPr lang="en-US" sz="1400" dirty="0"/>
          </a:p>
        </p:txBody>
      </p:sp>
      <p:sp>
        <p:nvSpPr>
          <p:cNvPr id="21" name="Stat card 2"/>
          <p:cNvSpPr/>
          <p:nvPr/>
        </p:nvSpPr>
        <p:spPr>
          <a:xfrm>
            <a:off x="8229600" y="3081528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Stat 2"/>
          <p:cNvSpPr txBox="1"/>
          <p:nvPr/>
        </p:nvSpPr>
        <p:spPr>
          <a:xfrm>
            <a:off x="8503920" y="3191256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4000" dirty="0"/>
          </a:p>
        </p:txBody>
      </p:sp>
      <p:sp>
        <p:nvSpPr>
          <p:cNvPr id="23" name="Stat label 2"/>
          <p:cNvSpPr txBox="1"/>
          <p:nvPr/>
        </p:nvSpPr>
        <p:spPr>
          <a:xfrm>
            <a:off x="9875520" y="3191256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plan for the CRO</a:t>
            </a:r>
            <a:endParaRPr lang="en-US" sz="1400" dirty="0"/>
          </a:p>
        </p:txBody>
      </p:sp>
      <p:sp>
        <p:nvSpPr>
          <p:cNvPr id="24" name="Stat card 3"/>
          <p:cNvSpPr/>
          <p:nvPr/>
        </p:nvSpPr>
        <p:spPr>
          <a:xfrm>
            <a:off x="8229600" y="4562856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5" name="Stat 3"/>
          <p:cNvSpPr txBox="1"/>
          <p:nvPr/>
        </p:nvSpPr>
        <p:spPr>
          <a:xfrm>
            <a:off x="8503920" y="4672584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4000" dirty="0"/>
          </a:p>
        </p:txBody>
      </p:sp>
      <p:sp>
        <p:nvSpPr>
          <p:cNvPr id="26" name="Stat label 3"/>
          <p:cNvSpPr txBox="1"/>
          <p:nvPr/>
        </p:nvSpPr>
        <p:spPr>
          <a:xfrm>
            <a:off x="9875520" y="4672584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 and export of activities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office sees only what it controls</a:t>
            </a:r>
            <a:endParaRPr lang="en-US" sz="3600" dirty="0"/>
          </a:p>
        </p:txBody>
      </p:sp>
      <p:sp>
        <p:nvSpPr>
          <p:cNvPr id="3" name="Office point circle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Office point number 1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Office point 1"/>
          <p:cNvSpPr txBox="1"/>
          <p:nvPr/>
        </p:nvSpPr>
        <p:spPr>
          <a:xfrm>
            <a:off x="1417320" y="16002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CRO, no State Budget law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Those are decided elsewhere, so they are not steps of an office's own cycle.</a:t>
            </a:r>
            <a:endParaRPr lang="en-US" sz="1800" dirty="0"/>
          </a:p>
        </p:txBody>
      </p:sp>
      <p:sp>
        <p:nvSpPr>
          <p:cNvPr id="6" name="Office point circle 2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Office point number 2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Office point 2"/>
          <p:cNvSpPr txBox="1"/>
          <p:nvPr/>
        </p:nvSpPr>
        <p:spPr>
          <a:xfrm>
            <a:off x="1417320" y="306324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Five steps it does control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Ceiling from the ministry (optional), plan approved, sent to the ministry, allocation received, distributed.</a:t>
            </a:r>
            <a:endParaRPr lang="en-US" sz="1800" dirty="0"/>
          </a:p>
        </p:txBody>
      </p:sp>
      <p:sp>
        <p:nvSpPr>
          <p:cNvPr id="9" name="Office point circle 3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Office point number 3"/>
          <p:cNvSpPr txBox="1"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Office point 3"/>
          <p:cNvSpPr txBox="1"/>
          <p:nvPr/>
        </p:nvSpPr>
        <p:spPr>
          <a:xfrm>
            <a:off x="1417320" y="452628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allocation, not a law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envelope is what the ministry gives the office; a reference to its decision is optional.</a:t>
            </a:r>
            <a:endParaRPr lang="en-US" sz="1800" dirty="0"/>
          </a:p>
        </p:txBody>
      </p:sp>
      <p:sp>
        <p:nvSpPr>
          <p:cNvPr id="12" name="Cycle screenshot frame"/>
          <p:cNvSpPr/>
          <p:nvPr/>
        </p:nvSpPr>
        <p:spPr>
          <a:xfrm>
            <a:off x="5989320" y="1600200"/>
            <a:ext cx="5577840" cy="3227832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3" name="Budget cycle screenshot" descr="The budget cycle page of an office: ceiling, plan approved, sent to the ministry, allocation recei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486400" cy="3086100"/>
          </a:xfrm>
          <a:prstGeom prst="rect">
            <a:avLst/>
          </a:prstGeom>
        </p:spPr>
      </p:pic>
      <p:sp>
        <p:nvSpPr>
          <p:cNvPr id="14" name="Cycle screenshot caption"/>
          <p:cNvSpPr txBox="1"/>
          <p:nvPr/>
        </p:nvSpPr>
        <p:spPr>
          <a:xfrm>
            <a:off x="598932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Budget Cycle page of the Gabinete de Digitalização e Segurança Cibernética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professional, accessible interface</a:t>
            </a:r>
            <a:endParaRPr lang="en-US" sz="3600" dirty="0"/>
          </a:p>
        </p:txBody>
      </p:sp>
      <p:sp>
        <p:nvSpPr>
          <p:cNvPr id="3" name="Activities screenshot frame"/>
          <p:cNvSpPr/>
          <p:nvPr/>
        </p:nvSpPr>
        <p:spPr>
          <a:xfrm>
            <a:off x="640080" y="1554480"/>
            <a:ext cx="6858000" cy="3950208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4" name="Activities screenshot" descr="The PAA Activities page: filters, status chips and a compact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766560" cy="3806190"/>
          </a:xfrm>
          <a:prstGeom prst="rect">
            <a:avLst/>
          </a:prstGeom>
        </p:spPr>
      </p:pic>
      <p:sp>
        <p:nvSpPr>
          <p:cNvPr id="5" name="UI circle 1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UI icon 1" descr="Clear at a g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37360"/>
            <a:ext cx="274320" cy="274320"/>
          </a:xfrm>
          <a:prstGeom prst="rect">
            <a:avLst/>
          </a:prstGeom>
        </p:spPr>
      </p:pic>
      <p:sp>
        <p:nvSpPr>
          <p:cNvPr id="7" name="UI point 1"/>
          <p:cNvSpPr txBox="1"/>
          <p:nvPr/>
        </p:nvSpPr>
        <p:spPr>
          <a:xfrm>
            <a:off x="8686800" y="14447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at a glance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 tables, status chips with a dot and a word, figures that line up.</a:t>
            </a:r>
            <a:endParaRPr lang="en-US" sz="1600" dirty="0"/>
          </a:p>
        </p:txBody>
      </p:sp>
      <p:sp>
        <p:nvSpPr>
          <p:cNvPr id="8" name="UI circle 2"/>
          <p:cNvSpPr/>
          <p:nvPr/>
        </p:nvSpPr>
        <p:spPr>
          <a:xfrm>
            <a:off x="7818120" y="2880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UI icon 2" descr="Accessible to every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063240"/>
            <a:ext cx="274320" cy="274320"/>
          </a:xfrm>
          <a:prstGeom prst="rect">
            <a:avLst/>
          </a:prstGeom>
        </p:spPr>
      </p:pic>
      <p:sp>
        <p:nvSpPr>
          <p:cNvPr id="10" name="UI point 2"/>
          <p:cNvSpPr txBox="1"/>
          <p:nvPr/>
        </p:nvSpPr>
        <p:spPr>
          <a:xfrm>
            <a:off x="8686800" y="277063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Accessible to everyone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WCAG A/AA checks pass on every screen; keyboard use and focus are visible.</a:t>
            </a:r>
            <a:endParaRPr lang="en-US" sz="1600" dirty="0"/>
          </a:p>
        </p:txBody>
      </p:sp>
      <p:sp>
        <p:nvSpPr>
          <p:cNvPr id="11" name="UI circle 3"/>
          <p:cNvSpPr/>
          <p:nvPr/>
        </p:nvSpPr>
        <p:spPr>
          <a:xfrm>
            <a:off x="7818120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UI icon 3" descr="In three langua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389120"/>
            <a:ext cx="274320" cy="274320"/>
          </a:xfrm>
          <a:prstGeom prst="rect">
            <a:avLst/>
          </a:prstGeom>
        </p:spPr>
      </p:pic>
      <p:sp>
        <p:nvSpPr>
          <p:cNvPr id="13" name="UI point 3"/>
          <p:cNvSpPr txBox="1"/>
          <p:nvPr/>
        </p:nvSpPr>
        <p:spPr>
          <a:xfrm>
            <a:off x="8686800" y="409651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three languages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English, Portuguese and Tetum; a test blocks any new text without its translations.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for any institution, whole ministry or one office</a:t>
            </a:r>
            <a:endParaRPr lang="en-US" sz="3600" dirty="0"/>
          </a:p>
        </p:txBody>
      </p:sp>
      <p:sp>
        <p:nvSpPr>
          <p:cNvPr id="3" name="Tree root"/>
          <p:cNvSpPr/>
          <p:nvPr/>
        </p:nvSpPr>
        <p:spPr>
          <a:xfrm>
            <a:off x="2011680" y="16916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4" name="Tree root text"/>
          <p:cNvSpPr txBox="1"/>
          <p:nvPr/>
        </p:nvSpPr>
        <p:spPr>
          <a:xfrm>
            <a:off x="20116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Institution</a:t>
            </a:r>
            <a:endParaRPr lang="en-US" sz="1800" dirty="0"/>
          </a:p>
        </p:txBody>
      </p:sp>
      <p:sp>
        <p:nvSpPr>
          <p:cNvPr id="5" name="Tree stem"/>
          <p:cNvSpPr/>
          <p:nvPr/>
        </p:nvSpPr>
        <p:spPr>
          <a:xfrm>
            <a:off x="3108960" y="242316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Tree bar"/>
          <p:cNvSpPr/>
          <p:nvPr/>
        </p:nvSpPr>
        <p:spPr>
          <a:xfrm>
            <a:off x="1417320" y="2743200"/>
            <a:ext cx="33832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ree drop 0"/>
          <p:cNvSpPr/>
          <p:nvPr/>
        </p:nvSpPr>
        <p:spPr>
          <a:xfrm>
            <a:off x="141732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Tree level 2 0"/>
          <p:cNvSpPr/>
          <p:nvPr/>
        </p:nvSpPr>
        <p:spPr>
          <a:xfrm>
            <a:off x="64008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9" name="Tree level 2 0 text"/>
          <p:cNvSpPr txBox="1"/>
          <p:nvPr/>
        </p:nvSpPr>
        <p:spPr>
          <a:xfrm>
            <a:off x="64008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Directorate</a:t>
            </a:r>
            <a:endParaRPr lang="en-US" sz="1400" dirty="0"/>
          </a:p>
        </p:txBody>
      </p:sp>
      <p:sp>
        <p:nvSpPr>
          <p:cNvPr id="10" name="Tree sub drop 0"/>
          <p:cNvSpPr/>
          <p:nvPr/>
        </p:nvSpPr>
        <p:spPr>
          <a:xfrm>
            <a:off x="141732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Tree level 3 0"/>
          <p:cNvSpPr/>
          <p:nvPr/>
        </p:nvSpPr>
        <p:spPr>
          <a:xfrm>
            <a:off x="64008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ree level 3 0 text"/>
          <p:cNvSpPr txBox="1"/>
          <p:nvPr/>
        </p:nvSpPr>
        <p:spPr>
          <a:xfrm>
            <a:off x="64008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3" name="Tree drop 1"/>
          <p:cNvSpPr/>
          <p:nvPr/>
        </p:nvSpPr>
        <p:spPr>
          <a:xfrm>
            <a:off x="310896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Tree level 2 1"/>
          <p:cNvSpPr/>
          <p:nvPr/>
        </p:nvSpPr>
        <p:spPr>
          <a:xfrm>
            <a:off x="233172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5" name="Tree level 2 1 text"/>
          <p:cNvSpPr txBox="1"/>
          <p:nvPr/>
        </p:nvSpPr>
        <p:spPr>
          <a:xfrm>
            <a:off x="233172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Gabinete</a:t>
            </a:r>
            <a:endParaRPr lang="en-US" sz="1400" dirty="0"/>
          </a:p>
        </p:txBody>
      </p:sp>
      <p:sp>
        <p:nvSpPr>
          <p:cNvPr id="16" name="Tree sub drop 1"/>
          <p:cNvSpPr/>
          <p:nvPr/>
        </p:nvSpPr>
        <p:spPr>
          <a:xfrm>
            <a:off x="310896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Tree level 3 1"/>
          <p:cNvSpPr/>
          <p:nvPr/>
        </p:nvSpPr>
        <p:spPr>
          <a:xfrm>
            <a:off x="233172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Tree level 3 1 text"/>
          <p:cNvSpPr txBox="1"/>
          <p:nvPr/>
        </p:nvSpPr>
        <p:spPr>
          <a:xfrm>
            <a:off x="233172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9" name="Tree drop 2"/>
          <p:cNvSpPr/>
          <p:nvPr/>
        </p:nvSpPr>
        <p:spPr>
          <a:xfrm>
            <a:off x="480060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Tree level 2 2"/>
          <p:cNvSpPr/>
          <p:nvPr/>
        </p:nvSpPr>
        <p:spPr>
          <a:xfrm>
            <a:off x="402336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1" name="Tree level 2 2 text"/>
          <p:cNvSpPr txBox="1"/>
          <p:nvPr/>
        </p:nvSpPr>
        <p:spPr>
          <a:xfrm>
            <a:off x="402336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Autonomous body</a:t>
            </a:r>
            <a:endParaRPr lang="en-US" sz="1400" dirty="0"/>
          </a:p>
        </p:txBody>
      </p:sp>
      <p:sp>
        <p:nvSpPr>
          <p:cNvPr id="22" name="Tree sub drop 2"/>
          <p:cNvSpPr/>
          <p:nvPr/>
        </p:nvSpPr>
        <p:spPr>
          <a:xfrm>
            <a:off x="480060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Tree level 3 2"/>
          <p:cNvSpPr/>
          <p:nvPr/>
        </p:nvSpPr>
        <p:spPr>
          <a:xfrm>
            <a:off x="402336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ree level 3 2 text"/>
          <p:cNvSpPr txBox="1"/>
          <p:nvPr/>
        </p:nvSpPr>
        <p:spPr>
          <a:xfrm>
            <a:off x="402336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25" name="Tree caption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Any depth the law defines</a:t>
            </a:r>
            <a:endParaRPr lang="en-US" sz="1400" dirty="0"/>
          </a:p>
        </p:txBody>
      </p:sp>
      <p:sp>
        <p:nvSpPr>
          <p:cNvPr id="26" name="Point 1"/>
          <p:cNvSpPr txBox="1"/>
          <p:nvPr/>
        </p:nvSpPr>
        <p:spPr>
          <a:xfrm>
            <a:off x="6583680" y="169164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deployment, one institution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structure and programmes are set in the app; nothing is hard-coded to a ministry.</a:t>
            </a:r>
            <a:endParaRPr lang="en-US" sz="1800" dirty="0"/>
          </a:p>
        </p:txBody>
      </p:sp>
      <p:sp>
        <p:nvSpPr>
          <p:cNvPr id="27" name="Point 2"/>
          <p:cNvSpPr txBox="1"/>
          <p:nvPr/>
        </p:nvSpPr>
        <p:spPr>
          <a:xfrm>
            <a:off x="6583680" y="315468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Whole ministry or a single office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one gabinete or directorate and add the rest later.</a:t>
            </a:r>
            <a:endParaRPr lang="en-US" sz="1800" dirty="0"/>
          </a:p>
        </p:txBody>
      </p:sp>
      <p:sp>
        <p:nvSpPr>
          <p:cNvPr id="28" name="Point 3"/>
          <p:cNvSpPr txBox="1"/>
          <p:nvPr/>
        </p:nvSpPr>
        <p:spPr>
          <a:xfrm>
            <a:off x="6583680" y="461772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Autonomous bodies included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bodies with their own legal personality sit in the same tree, flagged as indirect administration.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 an institution can rely on</a:t>
            </a:r>
            <a:endParaRPr lang="en-US" sz="3600" dirty="0"/>
          </a:p>
        </p:txBody>
      </p:sp>
      <p:sp>
        <p:nvSpPr>
          <p:cNvPr id="3" name="Trust card 1"/>
          <p:cNvSpPr/>
          <p:nvPr/>
        </p:nvSpPr>
        <p:spPr>
          <a:xfrm>
            <a:off x="64008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Trust circle 1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ust icon 1" descr="Audit tr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274320" cy="274320"/>
          </a:xfrm>
          <a:prstGeom prst="rect">
            <a:avLst/>
          </a:prstGeom>
        </p:spPr>
      </p:pic>
      <p:sp>
        <p:nvSpPr>
          <p:cNvPr id="6" name="Trust title 1"/>
          <p:cNvSpPr txBox="1"/>
          <p:nvPr/>
        </p:nvSpPr>
        <p:spPr>
          <a:xfrm>
            <a:off x="17373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7" name="Trust text 1"/>
          <p:cNvSpPr txBox="1"/>
          <p:nvPr/>
        </p:nvSpPr>
        <p:spPr>
          <a:xfrm>
            <a:off x="91440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to plans, budgets and settings is recorded with who and when.</a:t>
            </a:r>
            <a:endParaRPr lang="en-US" sz="1400" dirty="0"/>
          </a:p>
        </p:txBody>
      </p:sp>
      <p:sp>
        <p:nvSpPr>
          <p:cNvPr id="8" name="Trust card 2"/>
          <p:cNvSpPr/>
          <p:nvPr/>
        </p:nvSpPr>
        <p:spPr>
          <a:xfrm>
            <a:off x="443484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Trust circle 2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rust icon 2" descr="Role permiss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274320" cy="274320"/>
          </a:xfrm>
          <a:prstGeom prst="rect">
            <a:avLst/>
          </a:prstGeom>
        </p:spPr>
      </p:pic>
      <p:sp>
        <p:nvSpPr>
          <p:cNvPr id="11" name="Trust title 2"/>
          <p:cNvSpPr txBox="1"/>
          <p:nvPr/>
        </p:nvSpPr>
        <p:spPr>
          <a:xfrm>
            <a:off x="55321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permissions</a:t>
            </a:r>
            <a:endParaRPr lang="en-US" sz="1800" dirty="0"/>
          </a:p>
        </p:txBody>
      </p:sp>
      <p:sp>
        <p:nvSpPr>
          <p:cNvPr id="12" name="Trust text 2"/>
          <p:cNvSpPr txBox="1"/>
          <p:nvPr/>
        </p:nvSpPr>
        <p:spPr>
          <a:xfrm>
            <a:off x="470916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on the server for every action, not only hidden in the menu.</a:t>
            </a:r>
            <a:endParaRPr lang="en-US" sz="1400" dirty="0"/>
          </a:p>
        </p:txBody>
      </p:sp>
      <p:sp>
        <p:nvSpPr>
          <p:cNvPr id="13" name="Trust card 3"/>
          <p:cNvSpPr/>
          <p:nvPr/>
        </p:nvSpPr>
        <p:spPr>
          <a:xfrm>
            <a:off x="822960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Trust circle 3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Trust icon 3" descr="Two-factor sign-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057400"/>
            <a:ext cx="274320" cy="274320"/>
          </a:xfrm>
          <a:prstGeom prst="rect">
            <a:avLst/>
          </a:prstGeom>
        </p:spPr>
      </p:pic>
      <p:sp>
        <p:nvSpPr>
          <p:cNvPr id="16" name="Trust title 3"/>
          <p:cNvSpPr txBox="1"/>
          <p:nvPr/>
        </p:nvSpPr>
        <p:spPr>
          <a:xfrm>
            <a:off x="932688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Two-factor sign-in</a:t>
            </a:r>
            <a:endParaRPr lang="en-US" sz="1800" dirty="0"/>
          </a:p>
        </p:txBody>
      </p:sp>
      <p:sp>
        <p:nvSpPr>
          <p:cNvPr id="17" name="Trust text 3"/>
          <p:cNvSpPr txBox="1"/>
          <p:nvPr/>
        </p:nvSpPr>
        <p:spPr>
          <a:xfrm>
            <a:off x="850392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Authenticator codes and recovery codes; required for senior roles.</a:t>
            </a:r>
            <a:endParaRPr lang="en-US" sz="1400" dirty="0"/>
          </a:p>
        </p:txBody>
      </p:sp>
      <p:sp>
        <p:nvSpPr>
          <p:cNvPr id="18" name="Trust card 4"/>
          <p:cNvSpPr/>
          <p:nvPr/>
        </p:nvSpPr>
        <p:spPr>
          <a:xfrm>
            <a:off x="64008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Trust circle 4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Trust icon 4" descr="Closed regist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51960"/>
            <a:ext cx="274320" cy="274320"/>
          </a:xfrm>
          <a:prstGeom prst="rect">
            <a:avLst/>
          </a:prstGeom>
        </p:spPr>
      </p:pic>
      <p:sp>
        <p:nvSpPr>
          <p:cNvPr id="21" name="Trust title 4"/>
          <p:cNvSpPr txBox="1"/>
          <p:nvPr/>
        </p:nvSpPr>
        <p:spPr>
          <a:xfrm>
            <a:off x="17373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registration</a:t>
            </a:r>
            <a:endParaRPr lang="en-US" sz="1800" dirty="0"/>
          </a:p>
        </p:txBody>
      </p:sp>
      <p:sp>
        <p:nvSpPr>
          <p:cNvPr id="22" name="Trust text 4"/>
          <p:cNvSpPr txBox="1"/>
          <p:nvPr/>
        </p:nvSpPr>
        <p:spPr>
          <a:xfrm>
            <a:off x="91440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self-sign-up; sign-in attempts are rate-limited.</a:t>
            </a:r>
            <a:endParaRPr lang="en-US" sz="1400" dirty="0"/>
          </a:p>
        </p:txBody>
      </p:sp>
      <p:sp>
        <p:nvSpPr>
          <p:cNvPr id="23" name="Trust card 5"/>
          <p:cNvSpPr/>
          <p:nvPr/>
        </p:nvSpPr>
        <p:spPr>
          <a:xfrm>
            <a:off x="443484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Trust circle 5"/>
          <p:cNvSpPr/>
          <p:nvPr/>
        </p:nvSpPr>
        <p:spPr>
          <a:xfrm>
            <a:off x="4709160" y="4069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Trust icon 5" descr="Backups and heal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251960"/>
            <a:ext cx="274320" cy="274320"/>
          </a:xfrm>
          <a:prstGeom prst="rect">
            <a:avLst/>
          </a:prstGeom>
        </p:spPr>
      </p:pic>
      <p:sp>
        <p:nvSpPr>
          <p:cNvPr id="26" name="Trust title 5"/>
          <p:cNvSpPr txBox="1"/>
          <p:nvPr/>
        </p:nvSpPr>
        <p:spPr>
          <a:xfrm>
            <a:off x="55321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 and health</a:t>
            </a:r>
            <a:endParaRPr lang="en-US" sz="1800" dirty="0"/>
          </a:p>
        </p:txBody>
      </p:sp>
      <p:sp>
        <p:nvSpPr>
          <p:cNvPr id="27" name="Trust text 5"/>
          <p:cNvSpPr txBox="1"/>
          <p:nvPr/>
        </p:nvSpPr>
        <p:spPr>
          <a:xfrm>
            <a:off x="470916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Nightly backups and a health check for uptime monitoring.</a:t>
            </a:r>
            <a:endParaRPr lang="en-US" sz="1400" dirty="0"/>
          </a:p>
        </p:txBody>
      </p:sp>
      <p:sp>
        <p:nvSpPr>
          <p:cNvPr id="28" name="Trust card 6"/>
          <p:cNvSpPr/>
          <p:nvPr/>
        </p:nvSpPr>
        <p:spPr>
          <a:xfrm>
            <a:off x="822960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9" name="Trust circle 6"/>
          <p:cNvSpPr/>
          <p:nvPr/>
        </p:nvSpPr>
        <p:spPr>
          <a:xfrm>
            <a:off x="850392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rust icon 6" descr="Test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251960"/>
            <a:ext cx="274320" cy="274320"/>
          </a:xfrm>
          <a:prstGeom prst="rect">
            <a:avLst/>
          </a:prstGeom>
        </p:spPr>
      </p:pic>
      <p:sp>
        <p:nvSpPr>
          <p:cNvPr id="31" name="Trust title 6"/>
          <p:cNvSpPr txBox="1"/>
          <p:nvPr/>
        </p:nvSpPr>
        <p:spPr>
          <a:xfrm>
            <a:off x="932688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1800" dirty="0"/>
          </a:p>
        </p:txBody>
      </p:sp>
      <p:sp>
        <p:nvSpPr>
          <p:cNvPr id="32" name="Trust text 6"/>
          <p:cNvSpPr txBox="1"/>
          <p:nvPr/>
        </p:nvSpPr>
        <p:spPr>
          <a:xfrm>
            <a:off x="85039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More than 220 automated tests guard the approval and budget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Fast with a full year of data</a:t>
            </a:r>
            <a:endParaRPr lang="en-US" sz="3600" dirty="0"/>
          </a:p>
        </p:txBody>
      </p:sp>
      <p:graphicFrame>
        <p:nvGraphicFramePr>
          <p:cNvPr id="3" name="Page times chart" descr=""/>
          <p:cNvGraphicFramePr/>
          <p:nvPr/>
        </p:nvGraphicFramePr>
        <p:xfrm>
          <a:off x="64008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1"/>
          <p:cNvSpPr/>
          <p:nvPr/>
        </p:nvSpPr>
        <p:spPr>
          <a:xfrm>
            <a:off x="7772400" y="155448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5" name="Result 1"/>
          <p:cNvSpPr txBox="1"/>
          <p:nvPr/>
        </p:nvSpPr>
        <p:spPr>
          <a:xfrm>
            <a:off x="804672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min+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under 0.3 s</a:t>
            </a:r>
            <a:endParaRPr lang="en-US" sz="3200" dirty="0"/>
          </a:p>
        </p:txBody>
      </p:sp>
      <p:sp>
        <p:nvSpPr>
          <p:cNvPr id="6" name="Result label 1"/>
          <p:cNvSpPr txBox="1"/>
          <p:nvPr/>
        </p:nvSpPr>
        <p:spPr>
          <a:xfrm>
            <a:off x="804672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report, which did not finish before</a:t>
            </a:r>
            <a:endParaRPr lang="en-US" sz="1400" dirty="0"/>
          </a:p>
        </p:txBody>
      </p:sp>
      <p:sp>
        <p:nvSpPr>
          <p:cNvPr id="7" name="Result card 2"/>
          <p:cNvSpPr/>
          <p:nvPr/>
        </p:nvSpPr>
        <p:spPr>
          <a:xfrm>
            <a:off x="7772400" y="374904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Result 2"/>
          <p:cNvSpPr txBox="1"/>
          <p:nvPr/>
        </p:nvSpPr>
        <p:spPr>
          <a:xfrm>
            <a:off x="804672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MB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92 KB</a:t>
            </a:r>
            <a:endParaRPr lang="en-US" sz="3200" dirty="0"/>
          </a:p>
        </p:txBody>
      </p:sp>
      <p:sp>
        <p:nvSpPr>
          <p:cNvPr id="9" name="Result label 2"/>
          <p:cNvSpPr txBox="1"/>
          <p:nvPr/>
        </p:nvSpPr>
        <p:spPr>
          <a:xfrm>
            <a:off x="8046720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 page size</a:t>
            </a:r>
            <a:endParaRPr lang="en-US" sz="1400" dirty="0"/>
          </a:p>
        </p:txBody>
      </p:sp>
      <p:sp>
        <p:nvSpPr>
          <p:cNvPr id="10" name="Performance caption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Measured on a development server with 3,000 activities; the MTC sample holds about 270 across three years. Hosted timings to be confirmed after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Try it with sample data</a:t>
            </a:r>
            <a:endParaRPr lang="en-US" sz="3600" dirty="0"/>
          </a:p>
        </p:txBody>
      </p:sp>
      <p:sp>
        <p:nvSpPr>
          <p:cNvPr id="3" name="Demo card 1"/>
          <p:cNvSpPr/>
          <p:nvPr/>
        </p:nvSpPr>
        <p:spPr>
          <a:xfrm>
            <a:off x="64008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Demo circle 1"/>
          <p:cNvSpPr/>
          <p:nvPr/>
        </p:nvSpPr>
        <p:spPr>
          <a:xfrm>
            <a:off x="105156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mo icon 1" descr="One off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31720"/>
            <a:ext cx="411480" cy="411480"/>
          </a:xfrm>
          <a:prstGeom prst="rect">
            <a:avLst/>
          </a:prstGeom>
        </p:spPr>
      </p:pic>
      <p:sp>
        <p:nvSpPr>
          <p:cNvPr id="6" name="Demo title 1"/>
          <p:cNvSpPr txBox="1"/>
          <p:nvPr/>
        </p:nvSpPr>
        <p:spPr>
          <a:xfrm>
            <a:off x="214884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office</a:t>
            </a:r>
            <a:endParaRPr lang="en-US" sz="2600" dirty="0"/>
          </a:p>
        </p:txBody>
      </p:sp>
      <p:sp>
        <p:nvSpPr>
          <p:cNvPr id="7" name="Demo text 1"/>
          <p:cNvSpPr txBox="1"/>
          <p:nvPr/>
        </p:nvSpPr>
        <p:spPr>
          <a:xfrm>
            <a:off x="105156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Gabinete de Digitalização e Segurança Cibernética, with the Unidade para o Digital and the Unidade de Segurança Cibernética.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Plans for 2026 and 2027 at every step of the approval workflow, and 2026 spending up to the current quarter. The default.</a:t>
            </a:r>
            <a:endParaRPr lang="en-US" sz="1600" dirty="0"/>
          </a:p>
        </p:txBody>
      </p:sp>
      <p:sp>
        <p:nvSpPr>
          <p:cNvPr id="8" name="Demo card 2"/>
          <p:cNvSpPr/>
          <p:nvPr/>
        </p:nvSpPr>
        <p:spPr>
          <a:xfrm>
            <a:off x="630936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9" name="Demo circle 2"/>
          <p:cNvSpPr/>
          <p:nvPr/>
        </p:nvSpPr>
        <p:spPr>
          <a:xfrm>
            <a:off x="6720840" y="21031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Demo icon 2" descr="The whole mini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31720"/>
            <a:ext cx="411480" cy="411480"/>
          </a:xfrm>
          <a:prstGeom prst="rect">
            <a:avLst/>
          </a:prstGeom>
        </p:spPr>
      </p:pic>
      <p:sp>
        <p:nvSpPr>
          <p:cNvPr id="11" name="Demo title 2"/>
          <p:cNvSpPr txBox="1"/>
          <p:nvPr/>
        </p:nvSpPr>
        <p:spPr>
          <a:xfrm>
            <a:off x="781812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ministry</a:t>
            </a:r>
            <a:endParaRPr lang="en-US" sz="2600" dirty="0"/>
          </a:p>
        </p:txBody>
      </p:sp>
      <p:sp>
        <p:nvSpPr>
          <p:cNvPr id="12" name="Demo text 2"/>
          <p:cNvSpPr txBox="1"/>
          <p:nvPr/>
        </p:nvSpPr>
        <p:spPr>
          <a:xfrm>
            <a:off x="672084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Ministry of Transport and Communications and its autonomous bodies.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real State Budget plans for 2025 to 2027, with the 2025 and 2026 envelopes distributed and their execution.</a:t>
            </a:r>
            <a:endParaRPr lang="en-US" sz="1600" dirty="0"/>
          </a:p>
        </p:txBody>
      </p:sp>
      <p:sp>
        <p:nvSpPr>
          <p:cNvPr id="13" name="Demo caption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Loaded and removed by an administrator at Management &gt; Sample Data; real data is never touched.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Proposed next steps</a:t>
            </a:r>
            <a:endParaRPr lang="en-US" sz="3600" dirty="0"/>
          </a:p>
        </p:txBody>
      </p:sp>
      <p:sp>
        <p:nvSpPr>
          <p:cNvPr id="3" name="Next number 1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ext number text 1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Next step 1"/>
          <p:cNvSpPr txBox="1"/>
          <p:nvPr/>
        </p:nvSpPr>
        <p:spPr>
          <a:xfrm>
            <a:off x="1691640" y="1600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Deploy for real use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Production server, Redis for sessions and cache, and a scheduled nightly job.</a:t>
            </a:r>
            <a:endParaRPr lang="en-US" sz="2200" dirty="0"/>
          </a:p>
        </p:txBody>
      </p:sp>
      <p:sp>
        <p:nvSpPr>
          <p:cNvPr id="6" name="Next number 2"/>
          <p:cNvSpPr/>
          <p:nvPr/>
        </p:nvSpPr>
        <p:spPr>
          <a:xfrm>
            <a:off x="64008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ext number text 2"/>
          <p:cNvSpPr txBox="1"/>
          <p:nvPr/>
        </p:nvSpPr>
        <p:spPr>
          <a:xfrm>
            <a:off x="6400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Next step 2"/>
          <p:cNvSpPr txBox="1"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Pilot with one office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Start with the Gabinete and its two units, then widen.</a:t>
            </a:r>
            <a:endParaRPr lang="en-US" sz="2200" dirty="0"/>
          </a:p>
        </p:txBody>
      </p:sp>
      <p:sp>
        <p:nvSpPr>
          <p:cNvPr id="9" name="Next number 3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 number text 3"/>
          <p:cNvSpPr txBox="1"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Next step 3"/>
          <p:cNvSpPr txBox="1"/>
          <p:nvPr/>
        </p:nvSpPr>
        <p:spPr>
          <a:xfrm>
            <a:off x="1691640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Watch real usage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Slow requests are logged with their query counts; fix what real users hit.</a:t>
            </a:r>
            <a:endParaRPr lang="en-US" sz="2200" dirty="0"/>
          </a:p>
        </p:txBody>
      </p:sp>
      <p:sp>
        <p:nvSpPr>
          <p:cNvPr id="12" name="Next number 4"/>
          <p:cNvSpPr/>
          <p:nvPr/>
        </p:nvSpPr>
        <p:spPr>
          <a:xfrm>
            <a:off x="64008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ext number text 4"/>
          <p:cNvSpPr txBox="1"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Next step 4"/>
          <p:cNvSpPr txBox="1"/>
          <p:nvPr/>
        </p:nvSpPr>
        <p:spPr>
          <a:xfrm>
            <a:off x="1691640" y="4892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Keep improving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Finish moving page logic out of the views, and keep every text translated.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A Navy">
  <a:themeElements>
    <a:clrScheme name="PAA Navy">
      <a:dk1>
        <a:srgbClr val="1B2A41"/>
      </a:dk1>
      <a:lt1>
        <a:srgbClr val="FFFFFF"/>
      </a:lt1>
      <a:dk2>
        <a:srgbClr val="0F1B2D"/>
      </a:dk2>
      <a:lt2>
        <a:srgbClr val="EEF2F7"/>
      </a:lt2>
      <a:accent1>
        <a:srgbClr val="C8102E"/>
      </a:accent1>
      <a:accent2>
        <a:srgbClr val="F2B705"/>
      </a:accent2>
      <a:accent3>
        <a:srgbClr val="2E6F95"/>
      </a:accent3>
      <a:accent4>
        <a:srgbClr val="3A7D5C"/>
      </a:accent4>
      <a:accent5>
        <a:srgbClr val="7A8CA3"/>
      </a:accent5>
      <a:accent6>
        <a:srgbClr val="E4572E"/>
      </a:accent6>
      <a:hlink>
        <a:srgbClr val="2E6F95"/>
      </a:hlink>
      <a:folHlink>
        <a:srgbClr val="7A8CA3"/>
      </a:folHlink>
    </a:clrScheme>
    <a:fontScheme name="PA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Planeamento Anual e Orçamento</dc:title>
  <dc:subject>PptxGenJS Presentation</dc:subject>
  <dc:creator>G-Kakaroto</dc:creator>
  <cp:lastModifiedBy>G-Kakaroto</cp:lastModifiedBy>
  <cp:revision>1</cp:revision>
  <dcterms:created xsi:type="dcterms:W3CDTF">2026-10-14T23:56:31Z</dcterms:created>
  <dcterms:modified xsi:type="dcterms:W3CDTF">2026-10-14T23:56:31Z</dcterms:modified>
</cp:coreProperties>
</file>