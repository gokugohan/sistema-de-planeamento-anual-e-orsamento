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plan" id="{faf98092-ca43-791f-abf6-241952802179}">
          <p14:sldIdLst>
            <p14:sldId id="256"/>
            <p14:sldId id="257"/>
            <p14:sldId id="258"/>
          </p14:sldIdLst>
        </p14:section>
        <p14:section name="The year of the plan" id="{af4f441f-6a96-c405-6b57-9b0138376b20}">
          <p14:sldIdLst>
            <p14:sldId id="259"/>
            <p14:sldId id="260"/>
            <p14:sldId id="261"/>
          </p14:sldIdLst>
        </p14:section>
        <p14:section name="Writing the plan" id="{0095d929-b5b7-71c5-5c3e-7dad78ad6f96}">
          <p14:sldIdLst>
            <p14:sldId id="262"/>
            <p14:sldId id="263"/>
          </p14:sldIdLst>
        </p14:section>
        <p14:section name="Approving the plan" id="{355d40a8-e4e2-c42f-6c96-249e6fcab115}">
          <p14:sldIdLst>
            <p14:sldId id="264"/>
            <p14:sldId id="265"/>
            <p14:sldId id="266"/>
            <p14:sldId id="267"/>
            <p14:sldId id="268"/>
          </p14:sldIdLst>
        </p14:section>
        <p14:section name="Changing and carrying out the plan" id="{d20b3f3d-eb04-de59-018a-b3ee9e59493f}">
          <p14:sldIdLst>
            <p14:sldId id="269"/>
            <p14:sldId id="270"/>
            <p14:sldId id="271"/>
          </p14:sldIdLst>
        </p14:section>
        <p14:section name="Reporting and trust" id="{d7bfdea7-19bc-4cab-c45b-6ac60873c898}">
          <p14:sldIdLst>
            <p14:sldId id="272"/>
            <p14:sldId id="273"/>
            <p14:sldId id="274"/>
            <p14:sldId id="275"/>
            <p14:sldId id="276"/>
            <p14:sldId id="277"/>
          </p14:sldIdLst>
        </p14:section>
        <p14:section name="Next" id="{74c45cc8-fd23-fc1f-1094-e76f4224ff1b}">
          <p14:sldIdLst>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application is the Annual Action Plan. Everything else, approval, revisions, execution and reports, exists to write the plan, approve it, keep it true when it has to change, carry it out and report on it. There is no separate budget to register or distribute: the plan carries its own budget lines. It is not tied to one institution; the Ministry of Transport and Communications appears only as a sample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PAA answers five questions for each unit: what will we do, who is responsible, when, with what means, and how will we know. Every activity of the plan carries those five answers, and the whole application keeps them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is at the centre. Units write it, directorates approve and finalize it, a revision changes an approved activity into a new version, units carry it out and report on it, and the reports are the plan and its results in the formal template. Every step and every version is in the audit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life of the Annual Action Plan over the year. Planning ends per directorate; the whole year's planning ends when every directorate that planned has finalized. Finalizing stops new activities only; approved activities can still be revised at any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cycle page and the dashboard show the same steps and which one is current. The dates come from the calendar the administrator sets; a step with no dates is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administrator sets dates for submitting, approving and finalizing the plan, for revisions, and for each month and quarter of reporting. A step with no dates is open. When a step has closed and a unit is still late, the administrator reopens it for that unit only, with a date and a reason; the unit is told and everything is in the audit log. Everyone sees the dates that concern them on the dashboard and where they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programme and its units exist first. A unit creates an activity under a programme, gives it indicators with numbered actions and months, and budget lines with a funding source, each optionally tied to an indicator. The system refuses to submit an incomplete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unit has its own people: a technical officer who prepares and a director who certifies. A unit sees its own activities and those of the units below it. Tabs separate drafts and returned work, activities in review, approved ones, and the ones that need my action. At the start of a year the previous year's plan can be copied as drafts,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Statuses: Draft (being prepared), Prepared (submitted), Verified (certified by the unit's director, where a unit above validates first), Certified (validated), Approved. The head of the top-level unit gives the final approval; the Minister does not approve plans. A return needs a reason; an approved activity is not edited: it is revised, with a reason, through the whole chain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Approvals is one page with everything waiting for the person: activities to decide, execution figures to verify (never their own), the plan ready to be finalized for the directorates they head, budget steps, and their own drafts and returned work. The dashboard's Needs your attention is the same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director keeps the list of people who prepare, certify and approve for their units. The nearest list above a unit applies. An interim stands in for a director for dates; they certify and approve but do not prepare. A reshuffle needs no clean-up because authority is worked out from the tree and the lists at the moment someone 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certify or approve list of two or more people can sign in order: each in turn, and the activity moves on only after the last signature. If the activity is returned or reopened, a new round starts and the earlier signatures stay on record, marked as voided with who voided them and why. The history tab shows every signature of every round, so who signed before a reset can always be told.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 of each top-level unit finalizes the plan of their own directorate once nothing in it waits for a decision. A finalized directorate takes no new activities, imports or roll-forward copies for the year; the others keep planning. The year ends when all directorates that planned have finalized; planning can be reopened by the head or an administrator, with a reason. Revisions are not stopped by finalizing.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envelope and no distribution: what an approved activity may spend is what its approved version says. To change it, someone who prepares for the unit, its director, the final approver or an administrator starts a revision with a reason. The activity becomes a draft the unit can edit and goes through preparation, certification and approval again; meanwhile the approved version stays in force and the executed amount is reported against it. The banner lists exactly what changes against the version in force.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approval makes a version: a copy of the activity, its indicators with their actions and its budget lines, kept as it was. The history lists every version with who approved it, when, the total and the reason for the revision, and opens what was approved. A budget line with an executed amount reported, or an indicator with progress reported, cannot be removed by a revision; an activity approved once is revised, never deleted.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month the unit reports the amount each budget line executed. Each quarter it reports the indicators. Every month and quarter has a narrative. Figures count only once someone other than the reporter verifies them. Directors compile the quarter: the system drafts the text from what the units reported and the director edits and saves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printed forms follow the formal template: the final plan report (complete or summary), the implementation plan of a unit with its actions and the Jan-Dec grid, and the performance report monthly or quarterly. A4 landscape, programme and subprogramme bands, print or PDF. The final plan report is of the plan; it is not addressed to anyone.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roles. The Minister sees every plan and every report but does not approve plans. The head of a directorate approves their own directorate's plans. Finance confirms budget lines and verifies the executed amounts. Permissions are checked on the server for every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Compact tables, status chips with a dot and a word, figures that line up. Automated accessibility checks pass on every screen, and every text exists in English, Portuguese and Tetum.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Ministry of Transport and Communications is only a sample. A deployment serves one institution; you can start with a single directorate or office and add the rest later. Each directorate and unit has its own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audit log records every change with who and when. Permissions are checked on the server. Two-factor sign-in, closed registration, nightly backups, and more than 480 automated tests that guard the approval and revision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administrator loads the optional sample at Management, Sample Data: a ministry with its directorates, municipal directorates and autonomous bodies, each with its technical officer and its director. Purging removes only the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ask: agree the pilot directorate and the deployment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sp>
      <p:sp>
        <p:nvSpPr>
          <p:cNvPr id="3" name="Text 1"/>
          <p:cNvSpPr/>
          <p:nvPr>
            <p:ph idx="101" type="title" hasCustomPrompt="1"/>
          </p:nvPr>
        </p:nvSpPr>
        <p:spPr>
          <a:xfrm>
            <a:off x="640080" y="2011680"/>
            <a:ext cx="8778240" cy="173736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4" name="Text 1"/>
          <p:cNvSpPr/>
          <p:nvPr>
            <p:ph idx="102" type="body" hasCustomPrompt="1"/>
          </p:nvPr>
        </p:nvSpPr>
        <p:spPr>
          <a:xfrm>
            <a:off x="640080" y="3931920"/>
            <a:ext cx="8778240" cy="82296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Plano de Ação Anual (PAA)</a:t>
            </a:r>
            <a:endParaRPr lang="en-US" sz="10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sp>
      <p:sp>
        <p:nvSpPr>
          <p:cNvPr id="3" name="Text 1"/>
          <p:cNvSpPr/>
          <p:nvPr>
            <p:ph idx="101" type="title" hasCustomPrompt="1"/>
          </p:nvPr>
        </p:nvSpPr>
        <p:spPr>
          <a:xfrm>
            <a:off x="640080" y="502920"/>
            <a:ext cx="10911535" cy="8686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3.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3.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3.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3.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3.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640080" y="2011680"/>
            <a:ext cx="8778240" cy="1737360"/>
          </a:xfrm>
          <a:prstGeom prst="rect">
            <a:avLst/>
          </a:prstGeom>
          <a:noFill/>
          <a:ln/>
        </p:spPr>
        <p:txBody>
          <a:bodyPr wrap="square" lIns="0" tIns="0" rIns="0" bIns="0" rtlCol="0" anchor="t"/>
          <a:lstStyle/>
          <a:p>
            <a:pPr algn="l" indent="0" marL="0">
              <a:buNone/>
            </a:pPr>
            <a:r>
              <a:rPr lang="en-US" sz="4800" b="1" dirty="0">
                <a:solidFill>
                  <a:schemeClr val="bg1"/>
                </a:solidFill>
              </a:rPr>
              <a:t>Plano de Ação Anual (PAA)</a:t>
            </a:r>
            <a:endParaRPr lang="en-US" sz="4800" dirty="0"/>
          </a:p>
        </p:txBody>
      </p:sp>
      <p:sp>
        <p:nvSpPr>
          <p:cNvPr id="3" name="Text 1"/>
          <p:cNvSpPr/>
          <p:nvPr>
            <p:ph idx="102" type="body" hasCustomPrompt="1"/>
          </p:nvPr>
        </p:nvSpPr>
        <p:spPr>
          <a:xfrm>
            <a:off x="640080" y="3931920"/>
            <a:ext cx="8778240" cy="822960"/>
          </a:xfrm>
          <a:prstGeom prst="rect">
            <a:avLst/>
          </a:prstGeom>
          <a:noFill/>
          <a:ln/>
        </p:spPr>
        <p:txBody>
          <a:bodyPr wrap="square" lIns="0" tIns="0" rIns="0" bIns="0" rtlCol="0" anchor="t"/>
          <a:lstStyle/>
          <a:p>
            <a:pPr algn="l" indent="0" marL="0">
              <a:buNone/>
            </a:pPr>
            <a:r>
              <a:rPr lang="en-US" sz="2000" dirty="0">
                <a:solidFill>
                  <a:schemeClr val="bg2"/>
                </a:solidFill>
              </a:rPr>
              <a:t>The Annual Action Plan of a public body: written by its units, approved by its directorates, revised through versions, carried out and reported</a:t>
            </a:r>
            <a:endParaRPr lang="en-US" sz="2000" dirty="0"/>
          </a:p>
        </p:txBody>
      </p:sp>
      <p:sp>
        <p:nvSpPr>
          <p:cNvPr id="4" name="Mark"/>
          <p:cNvSpPr/>
          <p:nvPr/>
        </p:nvSpPr>
        <p:spPr>
          <a:xfrm>
            <a:off x="9966960" y="1463040"/>
            <a:ext cx="1554480" cy="1554480"/>
          </a:xfrm>
          <a:prstGeom prst="ellipse">
            <a:avLst/>
          </a:prstGeom>
          <a:solidFill>
            <a:schemeClr val="accent1"/>
          </a:solidFill>
          <a:ln/>
        </p:spPr>
      </p:sp>
      <p:pic>
        <p:nvPicPr>
          <p:cNvPr id="5" name="Mark icon" descr="The annual action plan">    </p:cNvPr>
          <p:cNvPicPr>
            <a:picLocks noChangeAspect="1"/>
          </p:cNvPicPr>
          <p:nvPr/>
        </p:nvPicPr>
        <p:blipFill>
          <a:blip r:embed="rId1"/>
          <a:stretch>
            <a:fillRect/>
          </a:stretch>
        </p:blipFill>
        <p:spPr>
          <a:xfrm>
            <a:off x="10378440" y="1874520"/>
            <a:ext cx="731520" cy="731520"/>
          </a:xfrm>
          <a:prstGeom prst="rect">
            <a:avLst/>
          </a:prstGeom>
        </p:spPr>
      </p:pic>
      <p:sp>
        <p:nvSpPr>
          <p:cNvPr id="6" name="Implementer"/>
          <p:cNvSpPr txBox="1"/>
          <p:nvPr/>
        </p:nvSpPr>
        <p:spPr>
          <a:xfrm>
            <a:off x="640080" y="6035040"/>
            <a:ext cx="5486400" cy="365760"/>
          </a:xfrm>
          <a:prstGeom prst="rect">
            <a:avLst/>
          </a:prstGeom>
          <a:noFill/>
          <a:ln/>
        </p:spPr>
        <p:txBody>
          <a:bodyPr wrap="square" lIns="0" tIns="0" rIns="0" bIns="0" rtlCol="0" anchor="ctr"/>
          <a:lstStyle/>
          <a:p>
            <a:pPr indent="0" marL="0">
              <a:buNone/>
            </a:pPr>
            <a:r>
              <a:rPr lang="en-US" sz="1400" dirty="0">
                <a:solidFill>
                  <a:schemeClr val="accent5"/>
                </a:solidFill>
              </a:rPr>
              <a:t>Implemented by G-Kakaroto</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What the Annual Action Plan is</a:t>
            </a:r>
            <a:endParaRPr lang="en-US" sz="3400" dirty="0"/>
          </a:p>
        </p:txBody>
      </p:sp>
      <p:sp>
        <p:nvSpPr>
          <p:cNvPr id="4" name="Question What"/>
          <p:cNvSpPr/>
          <p:nvPr/>
        </p:nvSpPr>
        <p:spPr>
          <a:xfrm>
            <a:off x="640080" y="1691640"/>
            <a:ext cx="2075688" cy="4023360"/>
          </a:xfrm>
          <a:prstGeom prst="roundRect">
            <a:avLst>
              <a:gd name="adj" fmla="val 4405"/>
            </a:avLst>
          </a:prstGeom>
          <a:solidFill>
            <a:schemeClr val="bg2"/>
          </a:solidFill>
          <a:ln/>
        </p:spPr>
      </p:sp>
      <p:sp>
        <p:nvSpPr>
          <p:cNvPr id="5" name="Question circle What"/>
          <p:cNvSpPr/>
          <p:nvPr/>
        </p:nvSpPr>
        <p:spPr>
          <a:xfrm>
            <a:off x="914400" y="2057400"/>
            <a:ext cx="777240" cy="777240"/>
          </a:xfrm>
          <a:prstGeom prst="ellipse">
            <a:avLst/>
          </a:prstGeom>
          <a:solidFill>
            <a:schemeClr val="accent1"/>
          </a:solidFill>
          <a:ln/>
        </p:spPr>
      </p:sp>
      <p:pic>
        <p:nvPicPr>
          <p:cNvPr id="6" name="Question icon What" descr="What">    </p:cNvPr>
          <p:cNvPicPr>
            <a:picLocks noChangeAspect="1"/>
          </p:cNvPicPr>
          <p:nvPr/>
        </p:nvPicPr>
        <p:blipFill>
          <a:blip r:embed="rId1"/>
          <a:stretch>
            <a:fillRect/>
          </a:stretch>
        </p:blipFill>
        <p:spPr>
          <a:xfrm>
            <a:off x="1115568" y="2258568"/>
            <a:ext cx="365760" cy="365760"/>
          </a:xfrm>
          <a:prstGeom prst="rect">
            <a:avLst/>
          </a:prstGeom>
        </p:spPr>
      </p:pic>
      <p:sp>
        <p:nvSpPr>
          <p:cNvPr id="7" name="Text 3"/>
          <p:cNvSpPr txBox="1"/>
          <p:nvPr/>
        </p:nvSpPr>
        <p:spPr>
          <a:xfrm>
            <a:off x="914400" y="3063240"/>
            <a:ext cx="1618488" cy="6858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What</a:t>
            </a:r>
            <a:endParaRPr lang="en-US" sz="1800" dirty="0"/>
          </a:p>
        </p:txBody>
      </p:sp>
      <p:sp>
        <p:nvSpPr>
          <p:cNvPr id="8" name="Text 4"/>
          <p:cNvSpPr txBox="1"/>
          <p:nvPr/>
        </p:nvSpPr>
        <p:spPr>
          <a:xfrm>
            <a:off x="914400" y="3840480"/>
            <a:ext cx="1572768" cy="1737360"/>
          </a:xfrm>
          <a:prstGeom prst="rect">
            <a:avLst/>
          </a:prstGeom>
          <a:noFill/>
          <a:ln/>
        </p:spPr>
        <p:txBody>
          <a:bodyPr wrap="square" lIns="0" tIns="0" rIns="0" bIns="0" rtlCol="0" anchor="t"/>
          <a:lstStyle/>
          <a:p>
            <a:pPr indent="0" marL="0">
              <a:buNone/>
            </a:pPr>
            <a:r>
              <a:rPr lang="en-US" sz="1400" dirty="0">
                <a:solidFill>
                  <a:schemeClr val="tx1"/>
                </a:solidFill>
              </a:rPr>
              <a:t>The activities of the year, under the programme and subprogramme they serve.</a:t>
            </a:r>
            <a:endParaRPr lang="en-US" sz="1400" dirty="0"/>
          </a:p>
        </p:txBody>
      </p:sp>
      <p:sp>
        <p:nvSpPr>
          <p:cNvPr id="9" name="Question Who"/>
          <p:cNvSpPr/>
          <p:nvPr/>
        </p:nvSpPr>
        <p:spPr>
          <a:xfrm>
            <a:off x="2848356" y="1691640"/>
            <a:ext cx="2075688" cy="4023360"/>
          </a:xfrm>
          <a:prstGeom prst="roundRect">
            <a:avLst>
              <a:gd name="adj" fmla="val 4405"/>
            </a:avLst>
          </a:prstGeom>
          <a:solidFill>
            <a:schemeClr val="bg2"/>
          </a:solidFill>
          <a:ln/>
        </p:spPr>
      </p:sp>
      <p:sp>
        <p:nvSpPr>
          <p:cNvPr id="10" name="Question circle Who"/>
          <p:cNvSpPr/>
          <p:nvPr/>
        </p:nvSpPr>
        <p:spPr>
          <a:xfrm>
            <a:off x="3122676" y="2057400"/>
            <a:ext cx="777240" cy="777240"/>
          </a:xfrm>
          <a:prstGeom prst="ellipse">
            <a:avLst/>
          </a:prstGeom>
          <a:solidFill>
            <a:schemeClr val="accent3"/>
          </a:solidFill>
          <a:ln/>
        </p:spPr>
      </p:sp>
      <p:pic>
        <p:nvPicPr>
          <p:cNvPr id="11" name="Question icon Who" descr="Who">    </p:cNvPr>
          <p:cNvPicPr>
            <a:picLocks noChangeAspect="1"/>
          </p:cNvPicPr>
          <p:nvPr/>
        </p:nvPicPr>
        <p:blipFill>
          <a:blip r:embed="rId2"/>
          <a:stretch>
            <a:fillRect/>
          </a:stretch>
        </p:blipFill>
        <p:spPr>
          <a:xfrm>
            <a:off x="3323844" y="2258568"/>
            <a:ext cx="365760" cy="365760"/>
          </a:xfrm>
          <a:prstGeom prst="rect">
            <a:avLst/>
          </a:prstGeom>
        </p:spPr>
      </p:pic>
      <p:sp>
        <p:nvSpPr>
          <p:cNvPr id="12" name="Text 7"/>
          <p:cNvSpPr txBox="1"/>
          <p:nvPr/>
        </p:nvSpPr>
        <p:spPr>
          <a:xfrm>
            <a:off x="3122676" y="3063240"/>
            <a:ext cx="1618488" cy="6858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Who</a:t>
            </a:r>
            <a:endParaRPr lang="en-US" sz="1800" dirty="0"/>
          </a:p>
        </p:txBody>
      </p:sp>
      <p:sp>
        <p:nvSpPr>
          <p:cNvPr id="13" name="Text 8"/>
          <p:cNvSpPr txBox="1"/>
          <p:nvPr/>
        </p:nvSpPr>
        <p:spPr>
          <a:xfrm>
            <a:off x="3122676" y="3840480"/>
            <a:ext cx="1572768" cy="1737360"/>
          </a:xfrm>
          <a:prstGeom prst="rect">
            <a:avLst/>
          </a:prstGeom>
          <a:noFill/>
          <a:ln/>
        </p:spPr>
        <p:txBody>
          <a:bodyPr wrap="square" lIns="0" tIns="0" rIns="0" bIns="0" rtlCol="0" anchor="t"/>
          <a:lstStyle/>
          <a:p>
            <a:pPr indent="0" marL="0">
              <a:buNone/>
            </a:pPr>
            <a:r>
              <a:rPr lang="en-US" sz="1400" dirty="0">
                <a:solidFill>
                  <a:schemeClr val="tx1"/>
                </a:solidFill>
              </a:rPr>
              <a:t>The unit that owns each activity, and the person responsible.</a:t>
            </a:r>
            <a:endParaRPr lang="en-US" sz="1400" dirty="0"/>
          </a:p>
        </p:txBody>
      </p:sp>
      <p:sp>
        <p:nvSpPr>
          <p:cNvPr id="14" name="Question When"/>
          <p:cNvSpPr/>
          <p:nvPr/>
        </p:nvSpPr>
        <p:spPr>
          <a:xfrm>
            <a:off x="5056632" y="1691640"/>
            <a:ext cx="2075688" cy="4023360"/>
          </a:xfrm>
          <a:prstGeom prst="roundRect">
            <a:avLst>
              <a:gd name="adj" fmla="val 4405"/>
            </a:avLst>
          </a:prstGeom>
          <a:solidFill>
            <a:schemeClr val="bg2"/>
          </a:solidFill>
          <a:ln/>
        </p:spPr>
      </p:sp>
      <p:sp>
        <p:nvSpPr>
          <p:cNvPr id="15" name="Question circle When"/>
          <p:cNvSpPr/>
          <p:nvPr/>
        </p:nvSpPr>
        <p:spPr>
          <a:xfrm>
            <a:off x="5330952" y="2057400"/>
            <a:ext cx="777240" cy="777240"/>
          </a:xfrm>
          <a:prstGeom prst="ellipse">
            <a:avLst/>
          </a:prstGeom>
          <a:solidFill>
            <a:schemeClr val="accent4"/>
          </a:solidFill>
          <a:ln/>
        </p:spPr>
      </p:sp>
      <p:pic>
        <p:nvPicPr>
          <p:cNvPr id="16" name="Question icon When" descr="When">    </p:cNvPr>
          <p:cNvPicPr>
            <a:picLocks noChangeAspect="1"/>
          </p:cNvPicPr>
          <p:nvPr/>
        </p:nvPicPr>
        <p:blipFill>
          <a:blip r:embed="rId3"/>
          <a:stretch>
            <a:fillRect/>
          </a:stretch>
        </p:blipFill>
        <p:spPr>
          <a:xfrm>
            <a:off x="5532120" y="2258568"/>
            <a:ext cx="365760" cy="365760"/>
          </a:xfrm>
          <a:prstGeom prst="rect">
            <a:avLst/>
          </a:prstGeom>
        </p:spPr>
      </p:pic>
      <p:sp>
        <p:nvSpPr>
          <p:cNvPr id="17" name="Text 11"/>
          <p:cNvSpPr txBox="1"/>
          <p:nvPr/>
        </p:nvSpPr>
        <p:spPr>
          <a:xfrm>
            <a:off x="5330952" y="3063240"/>
            <a:ext cx="1618488" cy="6858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When</a:t>
            </a:r>
            <a:endParaRPr lang="en-US" sz="1800" dirty="0"/>
          </a:p>
        </p:txBody>
      </p:sp>
      <p:sp>
        <p:nvSpPr>
          <p:cNvPr id="18" name="Text 12"/>
          <p:cNvSpPr txBox="1"/>
          <p:nvPr/>
        </p:nvSpPr>
        <p:spPr>
          <a:xfrm>
            <a:off x="5330952" y="3840480"/>
            <a:ext cx="1572768" cy="1737360"/>
          </a:xfrm>
          <a:prstGeom prst="rect">
            <a:avLst/>
          </a:prstGeom>
          <a:noFill/>
          <a:ln/>
        </p:spPr>
        <p:txBody>
          <a:bodyPr wrap="square" lIns="0" tIns="0" rIns="0" bIns="0" rtlCol="0" anchor="t"/>
          <a:lstStyle/>
          <a:p>
            <a:pPr indent="0" marL="0">
              <a:buNone/>
            </a:pPr>
            <a:r>
              <a:rPr lang="en-US" sz="1400" dirty="0">
                <a:solidFill>
                  <a:schemeClr val="tx1"/>
                </a:solidFill>
              </a:rPr>
              <a:t>The quarters it runs in and the months of each of its actions.</a:t>
            </a:r>
            <a:endParaRPr lang="en-US" sz="1400" dirty="0"/>
          </a:p>
        </p:txBody>
      </p:sp>
      <p:sp>
        <p:nvSpPr>
          <p:cNvPr id="19" name="Question With what"/>
          <p:cNvSpPr/>
          <p:nvPr/>
        </p:nvSpPr>
        <p:spPr>
          <a:xfrm>
            <a:off x="7264908" y="1691640"/>
            <a:ext cx="2075688" cy="4023360"/>
          </a:xfrm>
          <a:prstGeom prst="roundRect">
            <a:avLst>
              <a:gd name="adj" fmla="val 4405"/>
            </a:avLst>
          </a:prstGeom>
          <a:solidFill>
            <a:schemeClr val="bg2"/>
          </a:solidFill>
          <a:ln/>
        </p:spPr>
      </p:sp>
      <p:sp>
        <p:nvSpPr>
          <p:cNvPr id="20" name="Question circle With what"/>
          <p:cNvSpPr/>
          <p:nvPr/>
        </p:nvSpPr>
        <p:spPr>
          <a:xfrm>
            <a:off x="7539228" y="2057400"/>
            <a:ext cx="777240" cy="777240"/>
          </a:xfrm>
          <a:prstGeom prst="ellipse">
            <a:avLst/>
          </a:prstGeom>
          <a:solidFill>
            <a:schemeClr val="accent6"/>
          </a:solidFill>
          <a:ln/>
        </p:spPr>
      </p:sp>
      <p:pic>
        <p:nvPicPr>
          <p:cNvPr id="21" name="Question icon With what" descr="With what">    </p:cNvPr>
          <p:cNvPicPr>
            <a:picLocks noChangeAspect="1"/>
          </p:cNvPicPr>
          <p:nvPr/>
        </p:nvPicPr>
        <p:blipFill>
          <a:blip r:embed="rId4"/>
          <a:stretch>
            <a:fillRect/>
          </a:stretch>
        </p:blipFill>
        <p:spPr>
          <a:xfrm>
            <a:off x="7740396" y="2258568"/>
            <a:ext cx="365760" cy="365760"/>
          </a:xfrm>
          <a:prstGeom prst="rect">
            <a:avLst/>
          </a:prstGeom>
        </p:spPr>
      </p:pic>
      <p:sp>
        <p:nvSpPr>
          <p:cNvPr id="22" name="Text 15"/>
          <p:cNvSpPr txBox="1"/>
          <p:nvPr/>
        </p:nvSpPr>
        <p:spPr>
          <a:xfrm>
            <a:off x="7539228" y="3063240"/>
            <a:ext cx="1618488" cy="6858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With what</a:t>
            </a:r>
            <a:endParaRPr lang="en-US" sz="1800" dirty="0"/>
          </a:p>
        </p:txBody>
      </p:sp>
      <p:sp>
        <p:nvSpPr>
          <p:cNvPr id="23" name="Text 16"/>
          <p:cNvSpPr txBox="1"/>
          <p:nvPr/>
        </p:nvSpPr>
        <p:spPr>
          <a:xfrm>
            <a:off x="7539228" y="3840480"/>
            <a:ext cx="1572768" cy="1737360"/>
          </a:xfrm>
          <a:prstGeom prst="rect">
            <a:avLst/>
          </a:prstGeom>
          <a:noFill/>
          <a:ln/>
        </p:spPr>
        <p:txBody>
          <a:bodyPr wrap="square" lIns="0" tIns="0" rIns="0" bIns="0" rtlCol="0" anchor="t"/>
          <a:lstStyle/>
          <a:p>
            <a:pPr indent="0" marL="0">
              <a:buNone/>
            </a:pPr>
            <a:r>
              <a:rPr lang="en-US" sz="1400" dirty="0">
                <a:solidFill>
                  <a:schemeClr val="tx1"/>
                </a:solidFill>
              </a:rPr>
              <a:t>The budget lines by economic category, each with its funding source.</a:t>
            </a:r>
            <a:endParaRPr lang="en-US" sz="1400" dirty="0"/>
          </a:p>
        </p:txBody>
      </p:sp>
      <p:sp>
        <p:nvSpPr>
          <p:cNvPr id="24" name="Question How we will know"/>
          <p:cNvSpPr/>
          <p:nvPr/>
        </p:nvSpPr>
        <p:spPr>
          <a:xfrm>
            <a:off x="9473184" y="1691640"/>
            <a:ext cx="2075688" cy="4023360"/>
          </a:xfrm>
          <a:prstGeom prst="roundRect">
            <a:avLst>
              <a:gd name="adj" fmla="val 4405"/>
            </a:avLst>
          </a:prstGeom>
          <a:solidFill>
            <a:schemeClr val="bg2"/>
          </a:solidFill>
          <a:ln/>
        </p:spPr>
      </p:sp>
      <p:sp>
        <p:nvSpPr>
          <p:cNvPr id="25" name="Question circle How we will know"/>
          <p:cNvSpPr/>
          <p:nvPr/>
        </p:nvSpPr>
        <p:spPr>
          <a:xfrm>
            <a:off x="9747504" y="2057400"/>
            <a:ext cx="777240" cy="777240"/>
          </a:xfrm>
          <a:prstGeom prst="ellipse">
            <a:avLst/>
          </a:prstGeom>
          <a:solidFill>
            <a:schemeClr val="accent1"/>
          </a:solidFill>
          <a:ln/>
        </p:spPr>
      </p:sp>
      <p:pic>
        <p:nvPicPr>
          <p:cNvPr id="26" name="Question icon How we will know" descr="How we will know">    </p:cNvPr>
          <p:cNvPicPr>
            <a:picLocks noChangeAspect="1"/>
          </p:cNvPicPr>
          <p:nvPr/>
        </p:nvPicPr>
        <p:blipFill>
          <a:blip r:embed="rId5"/>
          <a:stretch>
            <a:fillRect/>
          </a:stretch>
        </p:blipFill>
        <p:spPr>
          <a:xfrm>
            <a:off x="9948672" y="2258568"/>
            <a:ext cx="365760" cy="365760"/>
          </a:xfrm>
          <a:prstGeom prst="rect">
            <a:avLst/>
          </a:prstGeom>
        </p:spPr>
      </p:pic>
      <p:sp>
        <p:nvSpPr>
          <p:cNvPr id="27" name="Text 19"/>
          <p:cNvSpPr txBox="1"/>
          <p:nvPr/>
        </p:nvSpPr>
        <p:spPr>
          <a:xfrm>
            <a:off x="9747504" y="3063240"/>
            <a:ext cx="1618488" cy="6858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How we will know</a:t>
            </a:r>
            <a:endParaRPr lang="en-US" sz="1800" dirty="0"/>
          </a:p>
        </p:txBody>
      </p:sp>
      <p:sp>
        <p:nvSpPr>
          <p:cNvPr id="28" name="Text 20"/>
          <p:cNvSpPr txBox="1"/>
          <p:nvPr/>
        </p:nvSpPr>
        <p:spPr>
          <a:xfrm>
            <a:off x="9747504" y="3840480"/>
            <a:ext cx="1572768" cy="1737360"/>
          </a:xfrm>
          <a:prstGeom prst="rect">
            <a:avLst/>
          </a:prstGeom>
          <a:noFill/>
          <a:ln/>
        </p:spPr>
        <p:txBody>
          <a:bodyPr wrap="square" lIns="0" tIns="0" rIns="0" bIns="0" rtlCol="0" anchor="t"/>
          <a:lstStyle/>
          <a:p>
            <a:pPr indent="0" marL="0">
              <a:buNone/>
            </a:pPr>
            <a:r>
              <a:rPr lang="en-US" sz="1400" dirty="0">
                <a:solidFill>
                  <a:schemeClr val="tx1"/>
                </a:solidFill>
              </a:rPr>
              <a:t>Indicators with a baseline and a target, reported month by month and quarter by quarter.</a:t>
            </a:r>
            <a:endParaRPr lang="en-US" sz="14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Everything in the application serves the plan</a:t>
            </a:r>
            <a:endParaRPr lang="en-US" sz="3400" dirty="0"/>
          </a:p>
        </p:txBody>
      </p:sp>
      <p:sp>
        <p:nvSpPr>
          <p:cNvPr id="4" name="Hub"/>
          <p:cNvSpPr/>
          <p:nvPr/>
        </p:nvSpPr>
        <p:spPr>
          <a:xfrm>
            <a:off x="5047488" y="2743200"/>
            <a:ext cx="2103120" cy="2103120"/>
          </a:xfrm>
          <a:prstGeom prst="ellipse">
            <a:avLst/>
          </a:prstGeom>
          <a:solidFill>
            <a:schemeClr val="accent1"/>
          </a:solidFill>
          <a:ln/>
        </p:spPr>
      </p:sp>
      <p:sp>
        <p:nvSpPr>
          <p:cNvPr id="5" name="Hub text"/>
          <p:cNvSpPr txBox="1"/>
          <p:nvPr/>
        </p:nvSpPr>
        <p:spPr>
          <a:xfrm>
            <a:off x="5047488" y="2743200"/>
            <a:ext cx="2103120" cy="210312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The Annual</a:t>
            </a:r>
            <a:endParaRPr lang="en-US" sz="1800" dirty="0"/>
          </a:p>
          <a:p>
            <a:pPr algn="ctr" indent="0" marL="0">
              <a:buNone/>
            </a:pPr>
            <a:r>
              <a:rPr lang="en-US" sz="1800" b="1" dirty="0">
                <a:solidFill>
                  <a:schemeClr val="bg1"/>
                </a:solidFill>
                <a:latin typeface="Cambria" pitchFamily="34" charset="0"/>
                <a:ea typeface="Cambria" pitchFamily="34" charset="-122"/>
                <a:cs typeface="Cambria" pitchFamily="34" charset="-120"/>
              </a:rPr>
              <a:t>Action Plan</a:t>
            </a:r>
            <a:endParaRPr lang="en-US" sz="1800" dirty="0"/>
          </a:p>
          <a:p>
            <a:pPr algn="ctr" indent="0" marL="0">
              <a:buNone/>
            </a:pPr>
            <a:r>
              <a:rPr lang="en-US" sz="1400" b="1" dirty="0">
                <a:solidFill>
                  <a:schemeClr val="bg1"/>
                </a:solidFill>
                <a:latin typeface="Cambria" pitchFamily="34" charset="0"/>
                <a:ea typeface="Cambria" pitchFamily="34" charset="-122"/>
                <a:cs typeface="Cambria" pitchFamily="34" charset="-120"/>
              </a:rPr>
              <a:t>(PAA)</a:t>
            </a:r>
            <a:endParaRPr lang="en-US" sz="1800" dirty="0"/>
          </a:p>
        </p:txBody>
      </p:sp>
      <p:sp>
        <p:nvSpPr>
          <p:cNvPr id="6" name="Satellite 1"/>
          <p:cNvSpPr/>
          <p:nvPr/>
        </p:nvSpPr>
        <p:spPr>
          <a:xfrm>
            <a:off x="640080" y="1554480"/>
            <a:ext cx="3200400" cy="1234440"/>
          </a:xfrm>
          <a:prstGeom prst="roundRect">
            <a:avLst>
              <a:gd name="adj" fmla="val 7407"/>
            </a:avLst>
          </a:prstGeom>
          <a:solidFill>
            <a:schemeClr val="bg2"/>
          </a:solidFill>
          <a:ln/>
        </p:spPr>
      </p:sp>
      <p:sp>
        <p:nvSpPr>
          <p:cNvPr id="7" name="Text 4"/>
          <p:cNvSpPr txBox="1"/>
          <p:nvPr/>
        </p:nvSpPr>
        <p:spPr>
          <a:xfrm>
            <a:off x="822960" y="1645920"/>
            <a:ext cx="2834640" cy="1097280"/>
          </a:xfrm>
          <a:prstGeom prst="rect">
            <a:avLst/>
          </a:prstGeom>
          <a:noFill/>
          <a:ln/>
        </p:spPr>
        <p:txBody>
          <a:bodyPr wrap="square" lIns="0" tIns="0" rIns="0" bIns="0" rtlCol="0" anchor="ctr"/>
          <a:lstStyle/>
          <a:p>
            <a:pPr indent="0" marL="0">
              <a:buNone/>
            </a:pPr>
            <a:r>
              <a:rPr lang="en-US" sz="1600" b="1" dirty="0">
                <a:solidFill>
                  <a:schemeClr val="tx1"/>
                </a:solidFill>
              </a:rPr>
              <a:t>Units write it</a:t>
            </a:r>
            <a:endParaRPr lang="en-US" sz="1600" dirty="0"/>
          </a:p>
          <a:p>
            <a:pPr indent="0" marL="0">
              <a:buNone/>
            </a:pPr>
            <a:r>
              <a:rPr lang="en-US" sz="1200" dirty="0">
                <a:solidFill>
                  <a:schemeClr val="tx1"/>
                </a:solidFill>
              </a:rPr>
              <a:t>Activities, indicators, actions, budget lines</a:t>
            </a:r>
            <a:endParaRPr lang="en-US" sz="1600" dirty="0"/>
          </a:p>
        </p:txBody>
      </p:sp>
      <p:sp>
        <p:nvSpPr>
          <p:cNvPr id="8" name="Link 1"/>
          <p:cNvSpPr/>
          <p:nvPr/>
        </p:nvSpPr>
        <p:spPr>
          <a:xfrm>
            <a:off x="3840480" y="2171700"/>
            <a:ext cx="1234440" cy="1623060"/>
          </a:xfrm>
          <a:prstGeom prst="line">
            <a:avLst/>
          </a:prstGeom>
          <a:noFill/>
          <a:ln w="25400">
            <a:solidFill>
              <a:schemeClr val="accent5"/>
            </a:solidFill>
            <a:prstDash val="solid"/>
          </a:ln>
        </p:spPr>
      </p:sp>
      <p:sp>
        <p:nvSpPr>
          <p:cNvPr id="9" name="Satellite 2"/>
          <p:cNvSpPr/>
          <p:nvPr/>
        </p:nvSpPr>
        <p:spPr>
          <a:xfrm>
            <a:off x="640080" y="3177540"/>
            <a:ext cx="3200400" cy="1234440"/>
          </a:xfrm>
          <a:prstGeom prst="roundRect">
            <a:avLst>
              <a:gd name="adj" fmla="val 7407"/>
            </a:avLst>
          </a:prstGeom>
          <a:solidFill>
            <a:schemeClr val="bg2"/>
          </a:solidFill>
          <a:ln/>
        </p:spPr>
      </p:sp>
      <p:sp>
        <p:nvSpPr>
          <p:cNvPr id="10" name="Text 7"/>
          <p:cNvSpPr txBox="1"/>
          <p:nvPr/>
        </p:nvSpPr>
        <p:spPr>
          <a:xfrm>
            <a:off x="822960" y="3268980"/>
            <a:ext cx="2834640" cy="1097280"/>
          </a:xfrm>
          <a:prstGeom prst="rect">
            <a:avLst/>
          </a:prstGeom>
          <a:noFill/>
          <a:ln/>
        </p:spPr>
        <p:txBody>
          <a:bodyPr wrap="square" lIns="0" tIns="0" rIns="0" bIns="0" rtlCol="0" anchor="ctr"/>
          <a:lstStyle/>
          <a:p>
            <a:pPr indent="0" marL="0">
              <a:buNone/>
            </a:pPr>
            <a:r>
              <a:rPr lang="en-US" sz="1600" b="1" dirty="0">
                <a:solidFill>
                  <a:schemeClr val="tx1"/>
                </a:solidFill>
              </a:rPr>
              <a:t>Directorates approve it</a:t>
            </a:r>
            <a:endParaRPr lang="en-US" sz="1600" dirty="0"/>
          </a:p>
          <a:p>
            <a:pPr indent="0" marL="0">
              <a:buNone/>
            </a:pPr>
            <a:r>
              <a:rPr lang="en-US" sz="1200" dirty="0">
                <a:solidFill>
                  <a:schemeClr val="tx1"/>
                </a:solidFill>
              </a:rPr>
              <a:t>Prepare, certify, approve; named approvers</a:t>
            </a:r>
            <a:endParaRPr lang="en-US" sz="1600" dirty="0"/>
          </a:p>
        </p:txBody>
      </p:sp>
      <p:sp>
        <p:nvSpPr>
          <p:cNvPr id="11" name="Link 2"/>
          <p:cNvSpPr/>
          <p:nvPr/>
        </p:nvSpPr>
        <p:spPr>
          <a:xfrm>
            <a:off x="3840480" y="3794760"/>
            <a:ext cx="1234440" cy="0"/>
          </a:xfrm>
          <a:prstGeom prst="line">
            <a:avLst/>
          </a:prstGeom>
          <a:noFill/>
          <a:ln w="25400">
            <a:solidFill>
              <a:schemeClr val="accent5"/>
            </a:solidFill>
            <a:prstDash val="solid"/>
          </a:ln>
        </p:spPr>
      </p:sp>
      <p:sp>
        <p:nvSpPr>
          <p:cNvPr id="12" name="Satellite 3"/>
          <p:cNvSpPr/>
          <p:nvPr/>
        </p:nvSpPr>
        <p:spPr>
          <a:xfrm>
            <a:off x="640080" y="4800600"/>
            <a:ext cx="3200400" cy="1234440"/>
          </a:xfrm>
          <a:prstGeom prst="roundRect">
            <a:avLst>
              <a:gd name="adj" fmla="val 7407"/>
            </a:avLst>
          </a:prstGeom>
          <a:solidFill>
            <a:schemeClr val="bg2"/>
          </a:solidFill>
          <a:ln/>
        </p:spPr>
      </p:sp>
      <p:sp>
        <p:nvSpPr>
          <p:cNvPr id="13" name="Text 10"/>
          <p:cNvSpPr txBox="1"/>
          <p:nvPr/>
        </p:nvSpPr>
        <p:spPr>
          <a:xfrm>
            <a:off x="822960" y="4892040"/>
            <a:ext cx="2834640" cy="1097280"/>
          </a:xfrm>
          <a:prstGeom prst="rect">
            <a:avLst/>
          </a:prstGeom>
          <a:noFill/>
          <a:ln/>
        </p:spPr>
        <p:txBody>
          <a:bodyPr wrap="square" lIns="0" tIns="0" rIns="0" bIns="0" rtlCol="0" anchor="ctr"/>
          <a:lstStyle/>
          <a:p>
            <a:pPr indent="0" marL="0">
              <a:buNone/>
            </a:pPr>
            <a:r>
              <a:rPr lang="en-US" sz="1600" b="1" dirty="0">
                <a:solidFill>
                  <a:schemeClr val="tx1"/>
                </a:solidFill>
              </a:rPr>
              <a:t>Directorates finalize it</a:t>
            </a:r>
            <a:endParaRPr lang="en-US" sz="1600" dirty="0"/>
          </a:p>
          <a:p>
            <a:pPr indent="0" marL="0">
              <a:buNone/>
            </a:pPr>
            <a:r>
              <a:rPr lang="en-US" sz="1200" dirty="0">
                <a:solidFill>
                  <a:schemeClr val="tx1"/>
                </a:solidFill>
              </a:rPr>
              <a:t>Each head ends planning for their own plan</a:t>
            </a:r>
            <a:endParaRPr lang="en-US" sz="1600" dirty="0"/>
          </a:p>
        </p:txBody>
      </p:sp>
      <p:sp>
        <p:nvSpPr>
          <p:cNvPr id="14" name="Link 3"/>
          <p:cNvSpPr/>
          <p:nvPr/>
        </p:nvSpPr>
        <p:spPr>
          <a:xfrm flipV="1">
            <a:off x="3840480" y="3794760"/>
            <a:ext cx="1234440" cy="1623060"/>
          </a:xfrm>
          <a:prstGeom prst="line">
            <a:avLst/>
          </a:prstGeom>
          <a:noFill/>
          <a:ln w="25400">
            <a:solidFill>
              <a:schemeClr val="accent5"/>
            </a:solidFill>
            <a:prstDash val="solid"/>
          </a:ln>
        </p:spPr>
      </p:sp>
      <p:sp>
        <p:nvSpPr>
          <p:cNvPr id="15" name="Satellite 4"/>
          <p:cNvSpPr/>
          <p:nvPr/>
        </p:nvSpPr>
        <p:spPr>
          <a:xfrm>
            <a:off x="8348472" y="1554480"/>
            <a:ext cx="3200400" cy="1234440"/>
          </a:xfrm>
          <a:prstGeom prst="roundRect">
            <a:avLst>
              <a:gd name="adj" fmla="val 7407"/>
            </a:avLst>
          </a:prstGeom>
          <a:solidFill>
            <a:schemeClr val="bg2"/>
          </a:solidFill>
          <a:ln/>
        </p:spPr>
      </p:sp>
      <p:sp>
        <p:nvSpPr>
          <p:cNvPr id="16" name="Text 13"/>
          <p:cNvSpPr txBox="1"/>
          <p:nvPr/>
        </p:nvSpPr>
        <p:spPr>
          <a:xfrm>
            <a:off x="8531352" y="1645920"/>
            <a:ext cx="2834640" cy="1097280"/>
          </a:xfrm>
          <a:prstGeom prst="rect">
            <a:avLst/>
          </a:prstGeom>
          <a:noFill/>
          <a:ln/>
        </p:spPr>
        <p:txBody>
          <a:bodyPr wrap="square" lIns="0" tIns="0" rIns="0" bIns="0" rtlCol="0" anchor="ctr"/>
          <a:lstStyle/>
          <a:p>
            <a:pPr indent="0" marL="0">
              <a:buNone/>
            </a:pPr>
            <a:r>
              <a:rPr lang="en-US" sz="1600" b="1" dirty="0">
                <a:solidFill>
                  <a:schemeClr val="tx1"/>
                </a:solidFill>
              </a:rPr>
              <a:t>Revisions keep it true</a:t>
            </a:r>
            <a:endParaRPr lang="en-US" sz="1600" dirty="0"/>
          </a:p>
          <a:p>
            <a:pPr indent="0" marL="0">
              <a:buNone/>
            </a:pPr>
            <a:r>
              <a:rPr lang="en-US" sz="1200" dirty="0">
                <a:solidFill>
                  <a:schemeClr val="tx1"/>
                </a:solidFill>
              </a:rPr>
              <a:t>A change is a new version, approved again</a:t>
            </a:r>
            <a:endParaRPr lang="en-US" sz="1600" dirty="0"/>
          </a:p>
        </p:txBody>
      </p:sp>
      <p:sp>
        <p:nvSpPr>
          <p:cNvPr id="17" name="Link 4"/>
          <p:cNvSpPr/>
          <p:nvPr/>
        </p:nvSpPr>
        <p:spPr>
          <a:xfrm flipV="1">
            <a:off x="7150608" y="2171700"/>
            <a:ext cx="1197864" cy="1623060"/>
          </a:xfrm>
          <a:prstGeom prst="line">
            <a:avLst/>
          </a:prstGeom>
          <a:noFill/>
          <a:ln w="25400">
            <a:solidFill>
              <a:schemeClr val="accent5"/>
            </a:solidFill>
            <a:prstDash val="solid"/>
          </a:ln>
        </p:spPr>
      </p:sp>
      <p:sp>
        <p:nvSpPr>
          <p:cNvPr id="18" name="Satellite 5"/>
          <p:cNvSpPr/>
          <p:nvPr/>
        </p:nvSpPr>
        <p:spPr>
          <a:xfrm>
            <a:off x="8348472" y="3177540"/>
            <a:ext cx="3200400" cy="1234440"/>
          </a:xfrm>
          <a:prstGeom prst="roundRect">
            <a:avLst>
              <a:gd name="adj" fmla="val 7407"/>
            </a:avLst>
          </a:prstGeom>
          <a:solidFill>
            <a:schemeClr val="bg2"/>
          </a:solidFill>
          <a:ln/>
        </p:spPr>
      </p:sp>
      <p:sp>
        <p:nvSpPr>
          <p:cNvPr id="19" name="Text 16"/>
          <p:cNvSpPr txBox="1"/>
          <p:nvPr/>
        </p:nvSpPr>
        <p:spPr>
          <a:xfrm>
            <a:off x="8531352" y="3268980"/>
            <a:ext cx="2834640" cy="1097280"/>
          </a:xfrm>
          <a:prstGeom prst="rect">
            <a:avLst/>
          </a:prstGeom>
          <a:noFill/>
          <a:ln/>
        </p:spPr>
        <p:txBody>
          <a:bodyPr wrap="square" lIns="0" tIns="0" rIns="0" bIns="0" rtlCol="0" anchor="ctr"/>
          <a:lstStyle/>
          <a:p>
            <a:pPr indent="0" marL="0">
              <a:buNone/>
            </a:pPr>
            <a:r>
              <a:rPr lang="en-US" sz="1600" b="1" dirty="0">
                <a:solidFill>
                  <a:schemeClr val="tx1"/>
                </a:solidFill>
              </a:rPr>
              <a:t>Units carry it out</a:t>
            </a:r>
            <a:endParaRPr lang="en-US" sz="1600" dirty="0"/>
          </a:p>
          <a:p>
            <a:pPr indent="0" marL="0">
              <a:buNone/>
            </a:pPr>
            <a:r>
              <a:rPr lang="en-US" sz="1200" dirty="0">
                <a:solidFill>
                  <a:schemeClr val="tx1"/>
                </a:solidFill>
              </a:rPr>
              <a:t>Monthly executed amount and quarterly indicators, verified</a:t>
            </a:r>
            <a:endParaRPr lang="en-US" sz="1600" dirty="0"/>
          </a:p>
        </p:txBody>
      </p:sp>
      <p:sp>
        <p:nvSpPr>
          <p:cNvPr id="20" name="Link 5"/>
          <p:cNvSpPr/>
          <p:nvPr/>
        </p:nvSpPr>
        <p:spPr>
          <a:xfrm>
            <a:off x="7150608" y="3794760"/>
            <a:ext cx="1197864" cy="0"/>
          </a:xfrm>
          <a:prstGeom prst="line">
            <a:avLst/>
          </a:prstGeom>
          <a:noFill/>
          <a:ln w="25400">
            <a:solidFill>
              <a:schemeClr val="accent5"/>
            </a:solidFill>
            <a:prstDash val="solid"/>
          </a:ln>
        </p:spPr>
      </p:sp>
      <p:sp>
        <p:nvSpPr>
          <p:cNvPr id="21" name="Satellite 6"/>
          <p:cNvSpPr/>
          <p:nvPr/>
        </p:nvSpPr>
        <p:spPr>
          <a:xfrm>
            <a:off x="8348472" y="4800600"/>
            <a:ext cx="3200400" cy="1234440"/>
          </a:xfrm>
          <a:prstGeom prst="roundRect">
            <a:avLst>
              <a:gd name="adj" fmla="val 7407"/>
            </a:avLst>
          </a:prstGeom>
          <a:solidFill>
            <a:schemeClr val="bg2"/>
          </a:solidFill>
          <a:ln/>
        </p:spPr>
      </p:sp>
      <p:sp>
        <p:nvSpPr>
          <p:cNvPr id="22" name="Text 19"/>
          <p:cNvSpPr txBox="1"/>
          <p:nvPr/>
        </p:nvSpPr>
        <p:spPr>
          <a:xfrm>
            <a:off x="8531352" y="4892040"/>
            <a:ext cx="2834640" cy="1097280"/>
          </a:xfrm>
          <a:prstGeom prst="rect">
            <a:avLst/>
          </a:prstGeom>
          <a:noFill/>
          <a:ln/>
        </p:spPr>
        <p:txBody>
          <a:bodyPr wrap="square" lIns="0" tIns="0" rIns="0" bIns="0" rtlCol="0" anchor="ctr"/>
          <a:lstStyle/>
          <a:p>
            <a:pPr indent="0" marL="0">
              <a:buNone/>
            </a:pPr>
            <a:r>
              <a:rPr lang="en-US" sz="1600" b="1" dirty="0">
                <a:solidFill>
                  <a:schemeClr val="tx1"/>
                </a:solidFill>
              </a:rPr>
              <a:t>Reports show it</a:t>
            </a:r>
            <a:endParaRPr lang="en-US" sz="1600" dirty="0"/>
          </a:p>
          <a:p>
            <a:pPr indent="0" marL="0">
              <a:buNone/>
            </a:pPr>
            <a:r>
              <a:rPr lang="en-US" sz="1200" dirty="0">
                <a:solidFill>
                  <a:schemeClr val="tx1"/>
                </a:solidFill>
              </a:rPr>
              <a:t>The plan and its results in the Ministry of Finance form</a:t>
            </a:r>
            <a:endParaRPr lang="en-US" sz="1600" dirty="0"/>
          </a:p>
        </p:txBody>
      </p:sp>
      <p:sp>
        <p:nvSpPr>
          <p:cNvPr id="23" name="Link 6"/>
          <p:cNvSpPr/>
          <p:nvPr/>
        </p:nvSpPr>
        <p:spPr>
          <a:xfrm>
            <a:off x="7150608" y="3794760"/>
            <a:ext cx="1197864" cy="1623060"/>
          </a:xfrm>
          <a:prstGeom prst="line">
            <a:avLst/>
          </a:prstGeom>
          <a:noFill/>
          <a:ln w="25400">
            <a:solidFill>
              <a:schemeClr val="accent5"/>
            </a:solidFill>
            <a:prstDash val="solid"/>
          </a:ln>
        </p:spPr>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The year of the plan</a:t>
            </a:r>
            <a:endParaRPr lang="en-US" sz="3400" dirty="0"/>
          </a:p>
        </p:txBody>
      </p:sp>
      <p:sp>
        <p:nvSpPr>
          <p:cNvPr id="4" name="Step 1"/>
          <p:cNvSpPr/>
          <p:nvPr/>
        </p:nvSpPr>
        <p:spPr>
          <a:xfrm>
            <a:off x="640080" y="1600200"/>
            <a:ext cx="3474720" cy="2057400"/>
          </a:xfrm>
          <a:prstGeom prst="roundRect">
            <a:avLst>
              <a:gd name="adj" fmla="val 4444"/>
            </a:avLst>
          </a:prstGeom>
          <a:solidFill>
            <a:schemeClr val="bg2"/>
          </a:solidFill>
          <a:ln/>
        </p:spPr>
      </p:sp>
      <p:sp>
        <p:nvSpPr>
          <p:cNvPr id="5" name="Step 1 circle"/>
          <p:cNvSpPr/>
          <p:nvPr/>
        </p:nvSpPr>
        <p:spPr>
          <a:xfrm>
            <a:off x="914400" y="1874520"/>
            <a:ext cx="566928" cy="566928"/>
          </a:xfrm>
          <a:prstGeom prst="ellipse">
            <a:avLst/>
          </a:prstGeom>
          <a:solidFill>
            <a:schemeClr val="accent1"/>
          </a:solidFill>
          <a:ln/>
        </p:spPr>
      </p:sp>
      <p:sp>
        <p:nvSpPr>
          <p:cNvPr id="6" name="Step 1 number"/>
          <p:cNvSpPr txBox="1"/>
          <p:nvPr/>
        </p:nvSpPr>
        <p:spPr>
          <a:xfrm>
            <a:off x="914400" y="187452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7" name="Text 4"/>
          <p:cNvSpPr txBox="1"/>
          <p:nvPr/>
        </p:nvSpPr>
        <p:spPr>
          <a:xfrm>
            <a:off x="1664208" y="1874520"/>
            <a:ext cx="2194560" cy="566928"/>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Write</a:t>
            </a:r>
            <a:endParaRPr lang="en-US" sz="2200" dirty="0"/>
          </a:p>
        </p:txBody>
      </p:sp>
      <p:sp>
        <p:nvSpPr>
          <p:cNvPr id="8" name="Text 5"/>
          <p:cNvSpPr txBox="1"/>
          <p:nvPr/>
        </p:nvSpPr>
        <p:spPr>
          <a:xfrm>
            <a:off x="914400" y="2606040"/>
            <a:ext cx="2971800" cy="960120"/>
          </a:xfrm>
          <a:prstGeom prst="rect">
            <a:avLst/>
          </a:prstGeom>
          <a:noFill/>
          <a:ln/>
        </p:spPr>
        <p:txBody>
          <a:bodyPr wrap="square" lIns="0" tIns="0" rIns="0" bIns="0" rtlCol="0" anchor="t"/>
          <a:lstStyle/>
          <a:p>
            <a:pPr indent="0" marL="0">
              <a:buNone/>
            </a:pPr>
            <a:r>
              <a:rPr lang="en-US" sz="1500" dirty="0">
                <a:solidFill>
                  <a:schemeClr val="tx1"/>
                </a:solidFill>
              </a:rPr>
              <a:t>Units draft activities and submit them between the dates of the calendar.</a:t>
            </a:r>
            <a:endParaRPr lang="en-US" sz="1500" dirty="0"/>
          </a:p>
        </p:txBody>
      </p:sp>
      <p:sp>
        <p:nvSpPr>
          <p:cNvPr id="9" name="Step 2"/>
          <p:cNvSpPr/>
          <p:nvPr/>
        </p:nvSpPr>
        <p:spPr>
          <a:xfrm>
            <a:off x="4434840" y="1600200"/>
            <a:ext cx="3474720" cy="2057400"/>
          </a:xfrm>
          <a:prstGeom prst="roundRect">
            <a:avLst>
              <a:gd name="adj" fmla="val 4444"/>
            </a:avLst>
          </a:prstGeom>
          <a:solidFill>
            <a:schemeClr val="bg2"/>
          </a:solidFill>
          <a:ln/>
        </p:spPr>
      </p:sp>
      <p:sp>
        <p:nvSpPr>
          <p:cNvPr id="10" name="Step 2 circle"/>
          <p:cNvSpPr/>
          <p:nvPr/>
        </p:nvSpPr>
        <p:spPr>
          <a:xfrm>
            <a:off x="4709160" y="1874520"/>
            <a:ext cx="566928" cy="566928"/>
          </a:xfrm>
          <a:prstGeom prst="ellipse">
            <a:avLst/>
          </a:prstGeom>
          <a:solidFill>
            <a:schemeClr val="tx1"/>
          </a:solidFill>
          <a:ln/>
        </p:spPr>
      </p:sp>
      <p:sp>
        <p:nvSpPr>
          <p:cNvPr id="11" name="Step 2 number"/>
          <p:cNvSpPr txBox="1"/>
          <p:nvPr/>
        </p:nvSpPr>
        <p:spPr>
          <a:xfrm>
            <a:off x="4709160" y="187452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2" name="Text 9"/>
          <p:cNvSpPr txBox="1"/>
          <p:nvPr/>
        </p:nvSpPr>
        <p:spPr>
          <a:xfrm>
            <a:off x="5458968" y="1874520"/>
            <a:ext cx="2194560" cy="566928"/>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Approve</a:t>
            </a:r>
            <a:endParaRPr lang="en-US" sz="2200" dirty="0"/>
          </a:p>
        </p:txBody>
      </p:sp>
      <p:sp>
        <p:nvSpPr>
          <p:cNvPr id="13" name="Text 10"/>
          <p:cNvSpPr txBox="1"/>
          <p:nvPr/>
        </p:nvSpPr>
        <p:spPr>
          <a:xfrm>
            <a:off x="4709160" y="2606040"/>
            <a:ext cx="2971800" cy="960120"/>
          </a:xfrm>
          <a:prstGeom prst="rect">
            <a:avLst/>
          </a:prstGeom>
          <a:noFill/>
          <a:ln/>
        </p:spPr>
        <p:txBody>
          <a:bodyPr wrap="square" lIns="0" tIns="0" rIns="0" bIns="0" rtlCol="0" anchor="t"/>
          <a:lstStyle/>
          <a:p>
            <a:pPr indent="0" marL="0">
              <a:buNone/>
            </a:pPr>
            <a:r>
              <a:rPr lang="en-US" sz="1500" dirty="0">
                <a:solidFill>
                  <a:schemeClr val="tx1"/>
                </a:solidFill>
              </a:rPr>
              <a:t>Each activity is prepared, certified and approved by the heads of its directorate.</a:t>
            </a:r>
            <a:endParaRPr lang="en-US" sz="1500" dirty="0"/>
          </a:p>
        </p:txBody>
      </p:sp>
      <p:sp>
        <p:nvSpPr>
          <p:cNvPr id="14" name="Step 3"/>
          <p:cNvSpPr/>
          <p:nvPr/>
        </p:nvSpPr>
        <p:spPr>
          <a:xfrm>
            <a:off x="8229600" y="1600200"/>
            <a:ext cx="3474720" cy="2057400"/>
          </a:xfrm>
          <a:prstGeom prst="roundRect">
            <a:avLst>
              <a:gd name="adj" fmla="val 4444"/>
            </a:avLst>
          </a:prstGeom>
          <a:solidFill>
            <a:schemeClr val="bg2"/>
          </a:solidFill>
          <a:ln/>
        </p:spPr>
      </p:sp>
      <p:sp>
        <p:nvSpPr>
          <p:cNvPr id="15" name="Step 3 circle"/>
          <p:cNvSpPr/>
          <p:nvPr/>
        </p:nvSpPr>
        <p:spPr>
          <a:xfrm>
            <a:off x="8503920" y="1874520"/>
            <a:ext cx="566928" cy="566928"/>
          </a:xfrm>
          <a:prstGeom prst="ellipse">
            <a:avLst/>
          </a:prstGeom>
          <a:solidFill>
            <a:schemeClr val="tx1"/>
          </a:solidFill>
          <a:ln/>
        </p:spPr>
      </p:sp>
      <p:sp>
        <p:nvSpPr>
          <p:cNvPr id="16" name="Step 3 number"/>
          <p:cNvSpPr txBox="1"/>
          <p:nvPr/>
        </p:nvSpPr>
        <p:spPr>
          <a:xfrm>
            <a:off x="8503920" y="187452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7" name="Text 14"/>
          <p:cNvSpPr txBox="1"/>
          <p:nvPr/>
        </p:nvSpPr>
        <p:spPr>
          <a:xfrm>
            <a:off x="9253728" y="1874520"/>
            <a:ext cx="2194560" cy="566928"/>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Finalize</a:t>
            </a:r>
            <a:endParaRPr lang="en-US" sz="2200" dirty="0"/>
          </a:p>
        </p:txBody>
      </p:sp>
      <p:sp>
        <p:nvSpPr>
          <p:cNvPr id="18" name="Text 15"/>
          <p:cNvSpPr txBox="1"/>
          <p:nvPr/>
        </p:nvSpPr>
        <p:spPr>
          <a:xfrm>
            <a:off x="8503920" y="2606040"/>
            <a:ext cx="2971800" cy="960120"/>
          </a:xfrm>
          <a:prstGeom prst="rect">
            <a:avLst/>
          </a:prstGeom>
          <a:noFill/>
          <a:ln/>
        </p:spPr>
        <p:txBody>
          <a:bodyPr wrap="square" lIns="0" tIns="0" rIns="0" bIns="0" rtlCol="0" anchor="t"/>
          <a:lstStyle/>
          <a:p>
            <a:pPr indent="0" marL="0">
              <a:buNone/>
            </a:pPr>
            <a:r>
              <a:rPr lang="en-US" sz="1500" dirty="0">
                <a:solidFill>
                  <a:schemeClr val="tx1"/>
                </a:solidFill>
              </a:rPr>
              <a:t>Each directorate's head finalizes the plan of their own directorate.</a:t>
            </a:r>
            <a:endParaRPr lang="en-US" sz="1500" dirty="0"/>
          </a:p>
        </p:txBody>
      </p:sp>
      <p:sp>
        <p:nvSpPr>
          <p:cNvPr id="19" name="Step 4"/>
          <p:cNvSpPr/>
          <p:nvPr/>
        </p:nvSpPr>
        <p:spPr>
          <a:xfrm>
            <a:off x="640080" y="3931920"/>
            <a:ext cx="3474720" cy="2057400"/>
          </a:xfrm>
          <a:prstGeom prst="roundRect">
            <a:avLst>
              <a:gd name="adj" fmla="val 4444"/>
            </a:avLst>
          </a:prstGeom>
          <a:solidFill>
            <a:schemeClr val="bg2"/>
          </a:solidFill>
          <a:ln/>
        </p:spPr>
      </p:sp>
      <p:sp>
        <p:nvSpPr>
          <p:cNvPr id="20" name="Step 4 circle"/>
          <p:cNvSpPr/>
          <p:nvPr/>
        </p:nvSpPr>
        <p:spPr>
          <a:xfrm>
            <a:off x="914400" y="4206240"/>
            <a:ext cx="566928" cy="566928"/>
          </a:xfrm>
          <a:prstGeom prst="ellipse">
            <a:avLst/>
          </a:prstGeom>
          <a:solidFill>
            <a:schemeClr val="tx1"/>
          </a:solidFill>
          <a:ln/>
        </p:spPr>
      </p:sp>
      <p:sp>
        <p:nvSpPr>
          <p:cNvPr id="21" name="Step 4 number"/>
          <p:cNvSpPr txBox="1"/>
          <p:nvPr/>
        </p:nvSpPr>
        <p:spPr>
          <a:xfrm>
            <a:off x="914400" y="420624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2" name="Text 19"/>
          <p:cNvSpPr txBox="1"/>
          <p:nvPr/>
        </p:nvSpPr>
        <p:spPr>
          <a:xfrm>
            <a:off x="1664208" y="4206240"/>
            <a:ext cx="2194560" cy="566928"/>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Carry out</a:t>
            </a:r>
            <a:endParaRPr lang="en-US" sz="2200" dirty="0"/>
          </a:p>
        </p:txBody>
      </p:sp>
      <p:sp>
        <p:nvSpPr>
          <p:cNvPr id="23" name="Text 20"/>
          <p:cNvSpPr txBox="1"/>
          <p:nvPr/>
        </p:nvSpPr>
        <p:spPr>
          <a:xfrm>
            <a:off x="914400" y="4937760"/>
            <a:ext cx="2971800" cy="960120"/>
          </a:xfrm>
          <a:prstGeom prst="rect">
            <a:avLst/>
          </a:prstGeom>
          <a:noFill/>
          <a:ln/>
        </p:spPr>
        <p:txBody>
          <a:bodyPr wrap="square" lIns="0" tIns="0" rIns="0" bIns="0" rtlCol="0" anchor="t"/>
          <a:lstStyle/>
          <a:p>
            <a:pPr indent="0" marL="0">
              <a:buNone/>
            </a:pPr>
            <a:r>
              <a:rPr lang="en-US" sz="1500" dirty="0">
                <a:solidFill>
                  <a:schemeClr val="tx1"/>
                </a:solidFill>
              </a:rPr>
              <a:t>Units report the executed amount and indicators inside the monthly and quarterly dates.</a:t>
            </a:r>
            <a:endParaRPr lang="en-US" sz="1500" dirty="0"/>
          </a:p>
        </p:txBody>
      </p:sp>
      <p:sp>
        <p:nvSpPr>
          <p:cNvPr id="24" name="Step 5"/>
          <p:cNvSpPr/>
          <p:nvPr/>
        </p:nvSpPr>
        <p:spPr>
          <a:xfrm>
            <a:off x="4434840" y="3931920"/>
            <a:ext cx="3474720" cy="2057400"/>
          </a:xfrm>
          <a:prstGeom prst="roundRect">
            <a:avLst>
              <a:gd name="adj" fmla="val 4444"/>
            </a:avLst>
          </a:prstGeom>
          <a:solidFill>
            <a:schemeClr val="bg2"/>
          </a:solidFill>
          <a:ln/>
        </p:spPr>
      </p:sp>
      <p:sp>
        <p:nvSpPr>
          <p:cNvPr id="25" name="Step 5 circle"/>
          <p:cNvSpPr/>
          <p:nvPr/>
        </p:nvSpPr>
        <p:spPr>
          <a:xfrm>
            <a:off x="4709160" y="4206240"/>
            <a:ext cx="566928" cy="566928"/>
          </a:xfrm>
          <a:prstGeom prst="ellipse">
            <a:avLst/>
          </a:prstGeom>
          <a:solidFill>
            <a:schemeClr val="tx1"/>
          </a:solidFill>
          <a:ln/>
        </p:spPr>
      </p:sp>
      <p:sp>
        <p:nvSpPr>
          <p:cNvPr id="26" name="Step 5 number"/>
          <p:cNvSpPr txBox="1"/>
          <p:nvPr/>
        </p:nvSpPr>
        <p:spPr>
          <a:xfrm>
            <a:off x="4709160" y="420624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7" name="Text 24"/>
          <p:cNvSpPr txBox="1"/>
          <p:nvPr/>
        </p:nvSpPr>
        <p:spPr>
          <a:xfrm>
            <a:off x="5458968" y="4206240"/>
            <a:ext cx="2194560" cy="566928"/>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Report</a:t>
            </a:r>
            <a:endParaRPr lang="en-US" sz="2200" dirty="0"/>
          </a:p>
        </p:txBody>
      </p:sp>
      <p:sp>
        <p:nvSpPr>
          <p:cNvPr id="28" name="Text 25"/>
          <p:cNvSpPr txBox="1"/>
          <p:nvPr/>
        </p:nvSpPr>
        <p:spPr>
          <a:xfrm>
            <a:off x="4709160" y="4937760"/>
            <a:ext cx="2971800" cy="960120"/>
          </a:xfrm>
          <a:prstGeom prst="rect">
            <a:avLst/>
          </a:prstGeom>
          <a:noFill/>
          <a:ln/>
        </p:spPr>
        <p:txBody>
          <a:bodyPr wrap="square" lIns="0" tIns="0" rIns="0" bIns="0" rtlCol="0" anchor="t"/>
          <a:lstStyle/>
          <a:p>
            <a:pPr indent="0" marL="0">
              <a:buNone/>
            </a:pPr>
            <a:r>
              <a:rPr lang="en-US" sz="1500" dirty="0">
                <a:solidFill>
                  <a:schemeClr val="tx1"/>
                </a:solidFill>
              </a:rPr>
              <a:t>Others verify, directors compile the quarter, and the reports are printed.</a:t>
            </a:r>
            <a:endParaRPr lang="en-US" sz="1500" dirty="0"/>
          </a:p>
        </p:txBody>
      </p:sp>
      <p:sp>
        <p:nvSpPr>
          <p:cNvPr id="29" name="Step 6"/>
          <p:cNvSpPr/>
          <p:nvPr/>
        </p:nvSpPr>
        <p:spPr>
          <a:xfrm>
            <a:off x="8229600" y="3931920"/>
            <a:ext cx="3474720" cy="2057400"/>
          </a:xfrm>
          <a:prstGeom prst="roundRect">
            <a:avLst>
              <a:gd name="adj" fmla="val 4444"/>
            </a:avLst>
          </a:prstGeom>
          <a:solidFill>
            <a:schemeClr val="bg2"/>
          </a:solidFill>
          <a:ln/>
        </p:spPr>
      </p:sp>
      <p:sp>
        <p:nvSpPr>
          <p:cNvPr id="30" name="Step 6 circle"/>
          <p:cNvSpPr/>
          <p:nvPr/>
        </p:nvSpPr>
        <p:spPr>
          <a:xfrm>
            <a:off x="8503920" y="4206240"/>
            <a:ext cx="566928" cy="566928"/>
          </a:xfrm>
          <a:prstGeom prst="ellipse">
            <a:avLst/>
          </a:prstGeom>
          <a:solidFill>
            <a:schemeClr val="tx1"/>
          </a:solidFill>
          <a:ln/>
        </p:spPr>
      </p:sp>
      <p:sp>
        <p:nvSpPr>
          <p:cNvPr id="31" name="Step 6 number"/>
          <p:cNvSpPr txBox="1"/>
          <p:nvPr/>
        </p:nvSpPr>
        <p:spPr>
          <a:xfrm>
            <a:off x="8503920" y="420624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6</a:t>
            </a:r>
            <a:endParaRPr lang="en-US" sz="2000" dirty="0"/>
          </a:p>
        </p:txBody>
      </p:sp>
      <p:sp>
        <p:nvSpPr>
          <p:cNvPr id="32" name="Text 29"/>
          <p:cNvSpPr txBox="1"/>
          <p:nvPr/>
        </p:nvSpPr>
        <p:spPr>
          <a:xfrm>
            <a:off x="9253728" y="4206240"/>
            <a:ext cx="2194560" cy="566928"/>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Revise</a:t>
            </a:r>
            <a:endParaRPr lang="en-US" sz="2200" dirty="0"/>
          </a:p>
        </p:txBody>
      </p:sp>
      <p:sp>
        <p:nvSpPr>
          <p:cNvPr id="33" name="Text 30"/>
          <p:cNvSpPr txBox="1"/>
          <p:nvPr/>
        </p:nvSpPr>
        <p:spPr>
          <a:xfrm>
            <a:off x="8503920" y="4937760"/>
            <a:ext cx="2971800" cy="960120"/>
          </a:xfrm>
          <a:prstGeom prst="rect">
            <a:avLst/>
          </a:prstGeom>
          <a:noFill/>
          <a:ln/>
        </p:spPr>
        <p:txBody>
          <a:bodyPr wrap="square" lIns="0" tIns="0" rIns="0" bIns="0" rtlCol="0" anchor="t"/>
          <a:lstStyle/>
          <a:p>
            <a:pPr indent="0" marL="0">
              <a:buNone/>
            </a:pPr>
            <a:r>
              <a:rPr lang="en-US" sz="1500" dirty="0">
                <a:solidFill>
                  <a:schemeClr val="tx1"/>
                </a:solidFill>
              </a:rPr>
              <a:t>When an approved activity must change, a revision makes a new version and goes through the approval again.</a:t>
            </a:r>
            <a:endParaRPr lang="en-US" sz="15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One page shows where the plan stands</a:t>
            </a:r>
            <a:endParaRPr lang="en-US" sz="3400" dirty="0"/>
          </a:p>
        </p:txBody>
      </p:sp>
      <p:sp>
        <p:nvSpPr>
          <p:cNvPr id="4" name="Frame plan-cycle"/>
          <p:cNvSpPr/>
          <p:nvPr/>
        </p:nvSpPr>
        <p:spPr>
          <a:xfrm>
            <a:off x="640080" y="1508760"/>
            <a:ext cx="6858000" cy="4320540"/>
          </a:xfrm>
          <a:prstGeom prst="rect">
            <a:avLst/>
          </a:prstGeom>
          <a:solidFill>
            <a:schemeClr val="bg2"/>
          </a:solidFill>
          <a:ln/>
        </p:spPr>
      </p:sp>
      <p:pic>
        <p:nvPicPr>
          <p:cNvPr id="5" name="Screenshot plan-cycle" descr="The plan cycle page: the steps of the plan, approval progress and the budget">    </p:cNvPr>
          <p:cNvPicPr>
            <a:picLocks noChangeAspect="1"/>
          </p:cNvPicPr>
          <p:nvPr/>
        </p:nvPicPr>
        <p:blipFill>
          <a:blip r:embed="rId1"/>
          <a:stretch>
            <a:fillRect/>
          </a:stretch>
        </p:blipFill>
        <p:spPr>
          <a:xfrm>
            <a:off x="685800" y="1554480"/>
            <a:ext cx="6766560" cy="4229100"/>
          </a:xfrm>
          <a:prstGeom prst="rect">
            <a:avLst/>
          </a:prstGeom>
        </p:spPr>
      </p:pic>
      <p:sp>
        <p:nvSpPr>
          <p:cNvPr id="6" name="Text 2"/>
          <p:cNvSpPr txBox="1"/>
          <p:nvPr/>
        </p:nvSpPr>
        <p:spPr>
          <a:xfrm>
            <a:off x="640080" y="5902452"/>
            <a:ext cx="6858000" cy="411480"/>
          </a:xfrm>
          <a:prstGeom prst="rect">
            <a:avLst/>
          </a:prstGeom>
          <a:noFill/>
          <a:ln/>
        </p:spPr>
        <p:txBody>
          <a:bodyPr wrap="square" lIns="0" tIns="0" rIns="0" bIns="0" rtlCol="0" anchor="t"/>
          <a:lstStyle/>
          <a:p>
            <a:pPr indent="0" marL="0">
              <a:buNone/>
            </a:pPr>
            <a:r>
              <a:rPr lang="en-US" sz="1200" i="1" dirty="0">
                <a:solidFill>
                  <a:schemeClr val="accent5"/>
                </a:solidFill>
              </a:rPr>
              <a:t>The Plan cycle page, fiscal year 2027, with the sample dataset</a:t>
            </a:r>
            <a:endParaRPr lang="en-US" sz="1200" dirty="0"/>
          </a:p>
        </p:txBody>
      </p:sp>
      <p:sp>
        <p:nvSpPr>
          <p:cNvPr id="7" name="Text 3"/>
          <p:cNvSpPr txBox="1"/>
          <p:nvPr/>
        </p:nvSpPr>
        <p:spPr>
          <a:xfrm>
            <a:off x="7818120" y="15087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The calendar</a:t>
            </a:r>
            <a:endParaRPr lang="en-US" sz="1800" dirty="0"/>
          </a:p>
          <a:p>
            <a:pPr indent="0" marL="0">
              <a:buNone/>
            </a:pPr>
            <a:r>
              <a:rPr lang="en-US" sz="1400" dirty="0">
                <a:solidFill>
                  <a:schemeClr val="tx1"/>
                </a:solidFill>
              </a:rPr>
              <a:t>The administrator sets the dates for submitting, approving and finalizing the plan, and for each month and quarter. No dates means open; an administrator can always act.</a:t>
            </a:r>
            <a:endParaRPr lang="en-US" sz="1800" dirty="0"/>
          </a:p>
        </p:txBody>
      </p:sp>
      <p:sp>
        <p:nvSpPr>
          <p:cNvPr id="8" name="Text 4"/>
          <p:cNvSpPr txBox="1"/>
          <p:nvPr/>
        </p:nvSpPr>
        <p:spPr>
          <a:xfrm>
            <a:off x="7818120" y="31089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Always current</a:t>
            </a:r>
            <a:endParaRPr lang="en-US" sz="1800" dirty="0"/>
          </a:p>
          <a:p>
            <a:pPr indent="0" marL="0">
              <a:buNone/>
            </a:pPr>
            <a:r>
              <a:rPr lang="en-US" sz="1400" dirty="0">
                <a:solidFill>
                  <a:schemeClr val="tx1"/>
                </a:solidFill>
              </a:rPr>
              <a:t>Approval progress, the budget and the reporting status are read live; nothing is typed in by hand.</a:t>
            </a:r>
            <a:endParaRPr lang="en-US" sz="1800" dirty="0"/>
          </a:p>
        </p:txBody>
      </p:sp>
      <p:sp>
        <p:nvSpPr>
          <p:cNvPr id="9" name="Text 5"/>
          <p:cNvSpPr txBox="1"/>
          <p:nvPr/>
        </p:nvSpPr>
        <p:spPr>
          <a:xfrm>
            <a:off x="7818120" y="47091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Where things are done</a:t>
            </a:r>
            <a:endParaRPr lang="en-US" sz="1800" dirty="0"/>
          </a:p>
          <a:p>
            <a:pPr indent="0" marL="0">
              <a:buNone/>
            </a:pPr>
            <a:r>
              <a:rPr lang="en-US" sz="1400" dirty="0">
                <a:solidFill>
                  <a:schemeClr val="tx1"/>
                </a:solidFill>
              </a:rPr>
              <a:t>Buttons to report execution, compile the quarter and open the printed reports.</a:t>
            </a:r>
            <a:endParaRPr lang="en-US" sz="18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A calendar for every step, and more time for a late unit</a:t>
            </a:r>
            <a:endParaRPr lang="en-US" sz="3400" dirty="0"/>
          </a:p>
        </p:txBody>
      </p:sp>
      <p:sp>
        <p:nvSpPr>
          <p:cNvPr id="4" name="Frame windows"/>
          <p:cNvSpPr/>
          <p:nvPr/>
        </p:nvSpPr>
        <p:spPr>
          <a:xfrm>
            <a:off x="640080" y="1508760"/>
            <a:ext cx="6858000" cy="4320540"/>
          </a:xfrm>
          <a:prstGeom prst="rect">
            <a:avLst/>
          </a:prstGeom>
          <a:solidFill>
            <a:schemeClr val="bg2"/>
          </a:solidFill>
          <a:ln/>
        </p:spPr>
      </p:sp>
      <p:pic>
        <p:nvPicPr>
          <p:cNvPr id="5" name="Screenshot windows" descr="The calendar page: the year in dates, late units and the units given more time">    </p:cNvPr>
          <p:cNvPicPr>
            <a:picLocks noChangeAspect="1"/>
          </p:cNvPicPr>
          <p:nvPr/>
        </p:nvPicPr>
        <p:blipFill>
          <a:blip r:embed="rId1"/>
          <a:stretch>
            <a:fillRect/>
          </a:stretch>
        </p:blipFill>
        <p:spPr>
          <a:xfrm>
            <a:off x="685800" y="1554480"/>
            <a:ext cx="6766560" cy="4229100"/>
          </a:xfrm>
          <a:prstGeom prst="rect">
            <a:avLst/>
          </a:prstGeom>
        </p:spPr>
      </p:pic>
      <p:sp>
        <p:nvSpPr>
          <p:cNvPr id="6" name="Text 2"/>
          <p:cNvSpPr txBox="1"/>
          <p:nvPr/>
        </p:nvSpPr>
        <p:spPr>
          <a:xfrm>
            <a:off x="640080" y="5902452"/>
            <a:ext cx="6858000" cy="411480"/>
          </a:xfrm>
          <a:prstGeom prst="rect">
            <a:avLst/>
          </a:prstGeom>
          <a:noFill/>
          <a:ln/>
        </p:spPr>
        <p:txBody>
          <a:bodyPr wrap="square" lIns="0" tIns="0" rIns="0" bIns="0" rtlCol="0" anchor="t"/>
          <a:lstStyle/>
          <a:p>
            <a:pPr indent="0" marL="0">
              <a:buNone/>
            </a:pPr>
            <a:r>
              <a:rPr lang="en-US" sz="1200" i="1" dirty="0">
                <a:solidFill>
                  <a:schemeClr val="accent5"/>
                </a:solidFill>
              </a:rPr>
              <a:t>The calendar for 2026: dates, a late unit and extra time</a:t>
            </a:r>
            <a:endParaRPr lang="en-US" sz="1200" dirty="0"/>
          </a:p>
        </p:txBody>
      </p:sp>
      <p:sp>
        <p:nvSpPr>
          <p:cNvPr id="7" name="Text 3"/>
          <p:cNvSpPr txBox="1"/>
          <p:nvPr/>
        </p:nvSpPr>
        <p:spPr>
          <a:xfrm>
            <a:off x="7818120" y="15087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Dates for every step</a:t>
            </a:r>
            <a:endParaRPr lang="en-US" sz="1800" dirty="0"/>
          </a:p>
          <a:p>
            <a:pPr indent="0" marL="0">
              <a:buNone/>
            </a:pPr>
            <a:r>
              <a:rPr lang="en-US" sz="1400" dirty="0">
                <a:solidFill>
                  <a:schemeClr val="tx1"/>
                </a:solidFill>
              </a:rPr>
              <a:t>Plan submission, approval, finalizing, revisions, each month and each quarter. No dates means open.</a:t>
            </a:r>
            <a:endParaRPr lang="en-US" sz="1800" dirty="0"/>
          </a:p>
        </p:txBody>
      </p:sp>
      <p:sp>
        <p:nvSpPr>
          <p:cNvPr id="8" name="Text 4"/>
          <p:cNvSpPr txBox="1"/>
          <p:nvPr/>
        </p:nvSpPr>
        <p:spPr>
          <a:xfrm>
            <a:off x="7818120" y="31089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More time for one unit</a:t>
            </a:r>
            <a:endParaRPr lang="en-US" sz="1800" dirty="0"/>
          </a:p>
          <a:p>
            <a:pPr indent="0" marL="0">
              <a:buNone/>
            </a:pPr>
            <a:r>
              <a:rPr lang="en-US" sz="1400" dirty="0">
                <a:solidFill>
                  <a:schemeClr val="tx1"/>
                </a:solidFill>
              </a:rPr>
              <a:t>A late unit is listed with what is left; the administrator reopens the step for it only, until a date, with a reason.</a:t>
            </a:r>
            <a:endParaRPr lang="en-US" sz="1800" dirty="0"/>
          </a:p>
        </p:txBody>
      </p:sp>
      <p:sp>
        <p:nvSpPr>
          <p:cNvPr id="9" name="Text 5"/>
          <p:cNvSpPr txBox="1"/>
          <p:nvPr/>
        </p:nvSpPr>
        <p:spPr>
          <a:xfrm>
            <a:off x="7818120" y="47091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Nobody is surprised</a:t>
            </a:r>
            <a:endParaRPr lang="en-US" sz="1800" dirty="0"/>
          </a:p>
          <a:p>
            <a:pPr indent="0" marL="0">
              <a:buNone/>
            </a:pPr>
            <a:r>
              <a:rPr lang="en-US" sz="1400" dirty="0">
                <a:solidFill>
                  <a:schemeClr val="tx1"/>
                </a:solidFill>
              </a:rPr>
              <a:t>The dashboard and the working pages show what closes soon, and a late unit can ask the administrator.</a:t>
            </a:r>
            <a:endParaRPr lang="en-US" sz="18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What an entry of the plan contains</a:t>
            </a:r>
            <a:endParaRPr lang="en-US" sz="3400" dirty="0"/>
          </a:p>
        </p:txBody>
      </p:sp>
      <p:sp>
        <p:nvSpPr>
          <p:cNvPr id="4" name="Programme box"/>
          <p:cNvSpPr/>
          <p:nvPr/>
        </p:nvSpPr>
        <p:spPr>
          <a:xfrm>
            <a:off x="640080" y="1600200"/>
            <a:ext cx="2651760" cy="1371600"/>
          </a:xfrm>
          <a:prstGeom prst="roundRect">
            <a:avLst>
              <a:gd name="adj" fmla="val 6667"/>
            </a:avLst>
          </a:prstGeom>
          <a:solidFill>
            <a:schemeClr val="tx1"/>
          </a:solidFill>
          <a:ln/>
        </p:spPr>
      </p:sp>
      <p:sp>
        <p:nvSpPr>
          <p:cNvPr id="5" name="Text 2"/>
          <p:cNvSpPr txBox="1"/>
          <p:nvPr/>
        </p:nvSpPr>
        <p:spPr>
          <a:xfrm>
            <a:off x="868680" y="1709928"/>
            <a:ext cx="2194560" cy="457200"/>
          </a:xfrm>
          <a:prstGeom prst="rect">
            <a:avLst/>
          </a:prstGeom>
          <a:noFill/>
          <a:ln/>
        </p:spPr>
        <p:txBody>
          <a:bodyPr wrap="square" lIns="0" tIns="0" rIns="0" bIns="0" rtlCol="0" anchor="ctr"/>
          <a:lstStyle/>
          <a:p>
            <a:pPr indent="0" marL="0">
              <a:buNone/>
            </a:pPr>
            <a:r>
              <a:rPr lang="en-US" sz="1900" b="1" dirty="0">
                <a:solidFill>
                  <a:schemeClr val="bg1"/>
                </a:solidFill>
                <a:latin typeface="Cambria" pitchFamily="34" charset="0"/>
                <a:ea typeface="Cambria" pitchFamily="34" charset="-122"/>
                <a:cs typeface="Cambria" pitchFamily="34" charset="-120"/>
              </a:rPr>
              <a:t>Programme</a:t>
            </a:r>
            <a:endParaRPr lang="en-US" sz="1900" dirty="0"/>
          </a:p>
        </p:txBody>
      </p:sp>
      <p:sp>
        <p:nvSpPr>
          <p:cNvPr id="6" name="Text 3"/>
          <p:cNvSpPr txBox="1"/>
          <p:nvPr/>
        </p:nvSpPr>
        <p:spPr>
          <a:xfrm>
            <a:off x="868680" y="2221992"/>
            <a:ext cx="2194560" cy="658368"/>
          </a:xfrm>
          <a:prstGeom prst="rect">
            <a:avLst/>
          </a:prstGeom>
          <a:noFill/>
          <a:ln/>
        </p:spPr>
        <p:txBody>
          <a:bodyPr wrap="square" lIns="0" tIns="0" rIns="0" bIns="0" rtlCol="0" anchor="t"/>
          <a:lstStyle/>
          <a:p>
            <a:pPr indent="0" marL="0">
              <a:buNone/>
            </a:pPr>
            <a:r>
              <a:rPr lang="en-US" sz="1300" dirty="0">
                <a:solidFill>
                  <a:schemeClr val="bg1"/>
                </a:solidFill>
              </a:rPr>
              <a:t>OGE code, name, objective. Set up once for the year by the administrator.</a:t>
            </a:r>
            <a:endParaRPr lang="en-US" sz="1300" dirty="0"/>
          </a:p>
        </p:txBody>
      </p:sp>
      <p:sp>
        <p:nvSpPr>
          <p:cNvPr id="7" name="Unit box"/>
          <p:cNvSpPr/>
          <p:nvPr/>
        </p:nvSpPr>
        <p:spPr>
          <a:xfrm>
            <a:off x="640080" y="3108960"/>
            <a:ext cx="2651760" cy="1371600"/>
          </a:xfrm>
          <a:prstGeom prst="roundRect">
            <a:avLst>
              <a:gd name="adj" fmla="val 6667"/>
            </a:avLst>
          </a:prstGeom>
          <a:solidFill>
            <a:schemeClr val="accent3"/>
          </a:solidFill>
          <a:ln/>
        </p:spPr>
      </p:sp>
      <p:sp>
        <p:nvSpPr>
          <p:cNvPr id="8" name="Text 5"/>
          <p:cNvSpPr txBox="1"/>
          <p:nvPr/>
        </p:nvSpPr>
        <p:spPr>
          <a:xfrm>
            <a:off x="868680" y="3218688"/>
            <a:ext cx="2194560" cy="457200"/>
          </a:xfrm>
          <a:prstGeom prst="rect">
            <a:avLst/>
          </a:prstGeom>
          <a:noFill/>
          <a:ln/>
        </p:spPr>
        <p:txBody>
          <a:bodyPr wrap="square" lIns="0" tIns="0" rIns="0" bIns="0" rtlCol="0" anchor="ctr"/>
          <a:lstStyle/>
          <a:p>
            <a:pPr indent="0" marL="0">
              <a:buNone/>
            </a:pPr>
            <a:r>
              <a:rPr lang="en-US" sz="1900" b="1" dirty="0">
                <a:solidFill>
                  <a:schemeClr val="bg1"/>
                </a:solidFill>
                <a:latin typeface="Cambria" pitchFamily="34" charset="0"/>
                <a:ea typeface="Cambria" pitchFamily="34" charset="-122"/>
                <a:cs typeface="Cambria" pitchFamily="34" charset="-120"/>
              </a:rPr>
              <a:t>Unit</a:t>
            </a:r>
            <a:endParaRPr lang="en-US" sz="1900" dirty="0"/>
          </a:p>
        </p:txBody>
      </p:sp>
      <p:sp>
        <p:nvSpPr>
          <p:cNvPr id="9" name="Text 6"/>
          <p:cNvSpPr txBox="1"/>
          <p:nvPr/>
        </p:nvSpPr>
        <p:spPr>
          <a:xfrm>
            <a:off x="868680" y="3730752"/>
            <a:ext cx="2194560" cy="658368"/>
          </a:xfrm>
          <a:prstGeom prst="rect">
            <a:avLst/>
          </a:prstGeom>
          <a:noFill/>
          <a:ln/>
        </p:spPr>
        <p:txBody>
          <a:bodyPr wrap="square" lIns="0" tIns="0" rIns="0" bIns="0" rtlCol="0" anchor="t"/>
          <a:lstStyle/>
          <a:p>
            <a:pPr indent="0" marL="0">
              <a:buNone/>
            </a:pPr>
            <a:r>
              <a:rPr lang="en-US" sz="1300" dirty="0">
                <a:solidFill>
                  <a:schemeClr val="bg1"/>
                </a:solidFill>
              </a:rPr>
              <a:t>The directorate or unit that owns the work and has its own people.</a:t>
            </a:r>
            <a:endParaRPr lang="en-US" sz="1300" dirty="0"/>
          </a:p>
        </p:txBody>
      </p:sp>
      <p:sp>
        <p:nvSpPr>
          <p:cNvPr id="10" name="Programme arrow"/>
          <p:cNvSpPr/>
          <p:nvPr/>
        </p:nvSpPr>
        <p:spPr>
          <a:xfrm>
            <a:off x="3337560" y="2286000"/>
            <a:ext cx="548640" cy="0"/>
          </a:xfrm>
          <a:prstGeom prst="line">
            <a:avLst/>
          </a:prstGeom>
          <a:noFill/>
          <a:ln w="28575">
            <a:solidFill>
              <a:schemeClr val="accent5"/>
            </a:solidFill>
            <a:prstDash val="solid"/>
            <a:tailEnd type="triangle"/>
          </a:ln>
        </p:spPr>
      </p:sp>
      <p:sp>
        <p:nvSpPr>
          <p:cNvPr id="11" name="Unit arrow"/>
          <p:cNvSpPr/>
          <p:nvPr/>
        </p:nvSpPr>
        <p:spPr>
          <a:xfrm>
            <a:off x="3337560" y="3794760"/>
            <a:ext cx="548640" cy="0"/>
          </a:xfrm>
          <a:prstGeom prst="line">
            <a:avLst/>
          </a:prstGeom>
          <a:noFill/>
          <a:ln w="28575">
            <a:solidFill>
              <a:schemeClr val="accent5"/>
            </a:solidFill>
            <a:prstDash val="solid"/>
            <a:tailEnd type="triangle"/>
          </a:ln>
        </p:spPr>
      </p:sp>
      <p:sp>
        <p:nvSpPr>
          <p:cNvPr id="12" name="Activity box"/>
          <p:cNvSpPr/>
          <p:nvPr/>
        </p:nvSpPr>
        <p:spPr>
          <a:xfrm>
            <a:off x="3931920" y="1600200"/>
            <a:ext cx="2926080" cy="2880360"/>
          </a:xfrm>
          <a:prstGeom prst="roundRect">
            <a:avLst>
              <a:gd name="adj" fmla="val 3175"/>
            </a:avLst>
          </a:prstGeom>
          <a:solidFill>
            <a:schemeClr val="accent1"/>
          </a:solidFill>
          <a:ln/>
        </p:spPr>
      </p:sp>
      <p:sp>
        <p:nvSpPr>
          <p:cNvPr id="13" name="Text 10"/>
          <p:cNvSpPr txBox="1"/>
          <p:nvPr/>
        </p:nvSpPr>
        <p:spPr>
          <a:xfrm>
            <a:off x="4160520" y="1709928"/>
            <a:ext cx="2468880" cy="457200"/>
          </a:xfrm>
          <a:prstGeom prst="rect">
            <a:avLst/>
          </a:prstGeom>
          <a:noFill/>
          <a:ln/>
        </p:spPr>
        <p:txBody>
          <a:bodyPr wrap="square" lIns="0" tIns="0" rIns="0" bIns="0" rtlCol="0" anchor="ctr"/>
          <a:lstStyle/>
          <a:p>
            <a:pPr indent="0" marL="0">
              <a:buNone/>
            </a:pPr>
            <a:r>
              <a:rPr lang="en-US" sz="1900" b="1" dirty="0">
                <a:solidFill>
                  <a:schemeClr val="bg1"/>
                </a:solidFill>
                <a:latin typeface="Cambria" pitchFamily="34" charset="0"/>
                <a:ea typeface="Cambria" pitchFamily="34" charset="-122"/>
                <a:cs typeface="Cambria" pitchFamily="34" charset="-120"/>
              </a:rPr>
              <a:t>Activity</a:t>
            </a:r>
            <a:endParaRPr lang="en-US" sz="1900" dirty="0"/>
          </a:p>
        </p:txBody>
      </p:sp>
      <p:sp>
        <p:nvSpPr>
          <p:cNvPr id="14" name="Text 11"/>
          <p:cNvSpPr txBox="1"/>
          <p:nvPr/>
        </p:nvSpPr>
        <p:spPr>
          <a:xfrm>
            <a:off x="4160520" y="2221992"/>
            <a:ext cx="2468880" cy="2167128"/>
          </a:xfrm>
          <a:prstGeom prst="rect">
            <a:avLst/>
          </a:prstGeom>
          <a:noFill/>
          <a:ln/>
        </p:spPr>
        <p:txBody>
          <a:bodyPr wrap="square" lIns="0" tIns="0" rIns="0" bIns="0" rtlCol="0" anchor="t"/>
          <a:lstStyle/>
          <a:p>
            <a:pPr indent="0" marL="0">
              <a:buNone/>
            </a:pPr>
            <a:r>
              <a:rPr lang="en-US" sz="1300" dirty="0">
                <a:solidFill>
                  <a:schemeClr val="bg1"/>
                </a:solidFill>
              </a:rPr>
              <a:t>What will be done in the year: description, priority, the quarters it runs in, dates, the person responsible. Starts as a Draft.</a:t>
            </a:r>
            <a:endParaRPr lang="en-US" sz="1300" dirty="0"/>
          </a:p>
        </p:txBody>
      </p:sp>
      <p:sp>
        <p:nvSpPr>
          <p:cNvPr id="15" name="Indicator arrow"/>
          <p:cNvSpPr/>
          <p:nvPr/>
        </p:nvSpPr>
        <p:spPr>
          <a:xfrm>
            <a:off x="6903720" y="2286000"/>
            <a:ext cx="548640" cy="0"/>
          </a:xfrm>
          <a:prstGeom prst="line">
            <a:avLst/>
          </a:prstGeom>
          <a:noFill/>
          <a:ln w="28575">
            <a:solidFill>
              <a:schemeClr val="accent5"/>
            </a:solidFill>
            <a:prstDash val="solid"/>
            <a:tailEnd type="triangle"/>
          </a:ln>
        </p:spPr>
      </p:sp>
      <p:sp>
        <p:nvSpPr>
          <p:cNvPr id="16" name="Budget arrow"/>
          <p:cNvSpPr/>
          <p:nvPr/>
        </p:nvSpPr>
        <p:spPr>
          <a:xfrm>
            <a:off x="6903720" y="3794760"/>
            <a:ext cx="548640" cy="0"/>
          </a:xfrm>
          <a:prstGeom prst="line">
            <a:avLst/>
          </a:prstGeom>
          <a:noFill/>
          <a:ln w="28575">
            <a:solidFill>
              <a:schemeClr val="accent5"/>
            </a:solidFill>
            <a:prstDash val="solid"/>
            <a:tailEnd type="triangle"/>
          </a:ln>
        </p:spPr>
      </p:sp>
      <p:sp>
        <p:nvSpPr>
          <p:cNvPr id="17" name="Indicators box"/>
          <p:cNvSpPr/>
          <p:nvPr/>
        </p:nvSpPr>
        <p:spPr>
          <a:xfrm>
            <a:off x="7498080" y="1600200"/>
            <a:ext cx="4050792" cy="1371600"/>
          </a:xfrm>
          <a:prstGeom prst="roundRect">
            <a:avLst>
              <a:gd name="adj" fmla="val 6667"/>
            </a:avLst>
          </a:prstGeom>
          <a:solidFill>
            <a:schemeClr val="accent4"/>
          </a:solidFill>
          <a:ln/>
        </p:spPr>
      </p:sp>
      <p:sp>
        <p:nvSpPr>
          <p:cNvPr id="18" name="Text 15"/>
          <p:cNvSpPr txBox="1"/>
          <p:nvPr/>
        </p:nvSpPr>
        <p:spPr>
          <a:xfrm>
            <a:off x="7726680" y="1709928"/>
            <a:ext cx="3593592" cy="457200"/>
          </a:xfrm>
          <a:prstGeom prst="rect">
            <a:avLst/>
          </a:prstGeom>
          <a:noFill/>
          <a:ln/>
        </p:spPr>
        <p:txBody>
          <a:bodyPr wrap="square" lIns="0" tIns="0" rIns="0" bIns="0" rtlCol="0" anchor="ctr"/>
          <a:lstStyle/>
          <a:p>
            <a:pPr indent="0" marL="0">
              <a:buNone/>
            </a:pPr>
            <a:r>
              <a:rPr lang="en-US" sz="1900" b="1" dirty="0">
                <a:solidFill>
                  <a:schemeClr val="bg1"/>
                </a:solidFill>
                <a:latin typeface="Cambria" pitchFamily="34" charset="0"/>
                <a:ea typeface="Cambria" pitchFamily="34" charset="-122"/>
                <a:cs typeface="Cambria" pitchFamily="34" charset="-120"/>
              </a:rPr>
              <a:t>Indicators and actions</a:t>
            </a:r>
            <a:endParaRPr lang="en-US" sz="1900" dirty="0"/>
          </a:p>
        </p:txBody>
      </p:sp>
      <p:sp>
        <p:nvSpPr>
          <p:cNvPr id="19" name="Text 16"/>
          <p:cNvSpPr txBox="1"/>
          <p:nvPr/>
        </p:nvSpPr>
        <p:spPr>
          <a:xfrm>
            <a:off x="7726680" y="2221992"/>
            <a:ext cx="3593592" cy="658368"/>
          </a:xfrm>
          <a:prstGeom prst="rect">
            <a:avLst/>
          </a:prstGeom>
          <a:noFill/>
          <a:ln/>
        </p:spPr>
        <p:txBody>
          <a:bodyPr wrap="square" lIns="0" tIns="0" rIns="0" bIns="0" rtlCol="0" anchor="t"/>
          <a:lstStyle/>
          <a:p>
            <a:pPr indent="0" marL="0">
              <a:buNone/>
            </a:pPr>
            <a:r>
              <a:rPr lang="en-US" sz="1300" dirty="0">
                <a:solidFill>
                  <a:schemeClr val="bg1"/>
                </a:solidFill>
              </a:rPr>
              <a:t>A target and a baseline, with the numbered actions that carry it out and the months each takes place in.</a:t>
            </a:r>
            <a:endParaRPr lang="en-US" sz="1300" dirty="0"/>
          </a:p>
        </p:txBody>
      </p:sp>
      <p:sp>
        <p:nvSpPr>
          <p:cNvPr id="20" name="Budget lines box"/>
          <p:cNvSpPr/>
          <p:nvPr/>
        </p:nvSpPr>
        <p:spPr>
          <a:xfrm>
            <a:off x="7498080" y="3108960"/>
            <a:ext cx="4050792" cy="1371600"/>
          </a:xfrm>
          <a:prstGeom prst="roundRect">
            <a:avLst>
              <a:gd name="adj" fmla="val 6667"/>
            </a:avLst>
          </a:prstGeom>
          <a:solidFill>
            <a:schemeClr val="tx1"/>
          </a:solidFill>
          <a:ln/>
        </p:spPr>
      </p:sp>
      <p:sp>
        <p:nvSpPr>
          <p:cNvPr id="21" name="Text 18"/>
          <p:cNvSpPr txBox="1"/>
          <p:nvPr/>
        </p:nvSpPr>
        <p:spPr>
          <a:xfrm>
            <a:off x="7726680" y="3218688"/>
            <a:ext cx="3593592" cy="457200"/>
          </a:xfrm>
          <a:prstGeom prst="rect">
            <a:avLst/>
          </a:prstGeom>
          <a:noFill/>
          <a:ln/>
        </p:spPr>
        <p:txBody>
          <a:bodyPr wrap="square" lIns="0" tIns="0" rIns="0" bIns="0" rtlCol="0" anchor="ctr"/>
          <a:lstStyle/>
          <a:p>
            <a:pPr indent="0" marL="0">
              <a:buNone/>
            </a:pPr>
            <a:r>
              <a:rPr lang="en-US" sz="1900" b="1" dirty="0">
                <a:solidFill>
                  <a:schemeClr val="bg1"/>
                </a:solidFill>
                <a:latin typeface="Cambria" pitchFamily="34" charset="0"/>
                <a:ea typeface="Cambria" pitchFamily="34" charset="-122"/>
                <a:cs typeface="Cambria" pitchFamily="34" charset="-120"/>
              </a:rPr>
              <a:t>Budget lines</a:t>
            </a:r>
            <a:endParaRPr lang="en-US" sz="1900" dirty="0"/>
          </a:p>
        </p:txBody>
      </p:sp>
      <p:sp>
        <p:nvSpPr>
          <p:cNvPr id="22" name="Text 19"/>
          <p:cNvSpPr txBox="1"/>
          <p:nvPr/>
        </p:nvSpPr>
        <p:spPr>
          <a:xfrm>
            <a:off x="7726680" y="3730752"/>
            <a:ext cx="3593592" cy="658368"/>
          </a:xfrm>
          <a:prstGeom prst="rect">
            <a:avLst/>
          </a:prstGeom>
          <a:noFill/>
          <a:ln/>
        </p:spPr>
        <p:txBody>
          <a:bodyPr wrap="square" lIns="0" tIns="0" rIns="0" bIns="0" rtlCol="0" anchor="t"/>
          <a:lstStyle/>
          <a:p>
            <a:pPr indent="0" marL="0">
              <a:buNone/>
            </a:pPr>
            <a:r>
              <a:rPr lang="en-US" sz="1300" dirty="0">
                <a:solidFill>
                  <a:schemeClr val="bg1"/>
                </a:solidFill>
              </a:rPr>
              <a:t>An amount by economic category with a funding source, optionally tied to the indicator it pays for.</a:t>
            </a:r>
            <a:endParaRPr lang="en-US" sz="1300" dirty="0"/>
          </a:p>
        </p:txBody>
      </p:sp>
      <p:sp>
        <p:nvSpPr>
          <p:cNvPr id="23" name="Ready panel"/>
          <p:cNvSpPr/>
          <p:nvPr/>
        </p:nvSpPr>
        <p:spPr>
          <a:xfrm>
            <a:off x="640080" y="4754880"/>
            <a:ext cx="10908792" cy="1325880"/>
          </a:xfrm>
          <a:prstGeom prst="roundRect">
            <a:avLst>
              <a:gd name="adj" fmla="val 6897"/>
            </a:avLst>
          </a:prstGeom>
          <a:solidFill>
            <a:schemeClr val="bg2"/>
          </a:solidFill>
          <a:ln/>
        </p:spPr>
      </p:sp>
      <p:sp>
        <p:nvSpPr>
          <p:cNvPr id="24" name="Text 21"/>
          <p:cNvSpPr txBox="1"/>
          <p:nvPr/>
        </p:nvSpPr>
        <p:spPr>
          <a:xfrm>
            <a:off x="914400" y="4846320"/>
            <a:ext cx="4572000" cy="411480"/>
          </a:xfrm>
          <a:prstGeom prst="rect">
            <a:avLst/>
          </a:prstGeom>
          <a:noFill/>
          <a:ln/>
        </p:spPr>
        <p:txBody>
          <a:bodyPr wrap="square" lIns="0" tIns="0" rIns="0" bIns="0" rtlCol="0" anchor="ctr"/>
          <a:lstStyle/>
          <a:p>
            <a:pPr indent="0" marL="0">
              <a:buNone/>
            </a:pPr>
            <a:r>
              <a:rPr lang="en-US" sz="1600" b="1" dirty="0">
                <a:solidFill>
                  <a:schemeClr val="tx1"/>
                </a:solidFill>
              </a:rPr>
              <a:t>An activity can be submitted when</a:t>
            </a:r>
            <a:endParaRPr lang="en-US" sz="1600" dirty="0"/>
          </a:p>
        </p:txBody>
      </p:sp>
      <p:sp>
        <p:nvSpPr>
          <p:cNvPr id="25" name="Ready dot 1"/>
          <p:cNvSpPr/>
          <p:nvPr/>
        </p:nvSpPr>
        <p:spPr>
          <a:xfrm>
            <a:off x="914400" y="5468112"/>
            <a:ext cx="256032" cy="256032"/>
          </a:xfrm>
          <a:prstGeom prst="ellipse">
            <a:avLst/>
          </a:prstGeom>
          <a:solidFill>
            <a:schemeClr val="accent4"/>
          </a:solidFill>
          <a:ln/>
        </p:spPr>
      </p:sp>
      <p:sp>
        <p:nvSpPr>
          <p:cNvPr id="26" name="Text 23"/>
          <p:cNvSpPr txBox="1"/>
          <p:nvPr/>
        </p:nvSpPr>
        <p:spPr>
          <a:xfrm>
            <a:off x="1280160" y="5321808"/>
            <a:ext cx="3108960" cy="548640"/>
          </a:xfrm>
          <a:prstGeom prst="rect">
            <a:avLst/>
          </a:prstGeom>
          <a:noFill/>
          <a:ln/>
        </p:spPr>
        <p:txBody>
          <a:bodyPr wrap="square" lIns="0" tIns="0" rIns="0" bIns="0" rtlCol="0" anchor="ctr"/>
          <a:lstStyle/>
          <a:p>
            <a:pPr indent="0" marL="0">
              <a:buNone/>
            </a:pPr>
            <a:r>
              <a:rPr lang="en-US" sz="1400" dirty="0">
                <a:solidFill>
                  <a:schemeClr val="tx1"/>
                </a:solidFill>
              </a:rPr>
              <a:t>It has a budget line with an amount</a:t>
            </a:r>
            <a:endParaRPr lang="en-US" sz="1400" dirty="0"/>
          </a:p>
        </p:txBody>
      </p:sp>
      <p:sp>
        <p:nvSpPr>
          <p:cNvPr id="27" name="Ready dot 2"/>
          <p:cNvSpPr/>
          <p:nvPr/>
        </p:nvSpPr>
        <p:spPr>
          <a:xfrm>
            <a:off x="4526280" y="5468112"/>
            <a:ext cx="256032" cy="256032"/>
          </a:xfrm>
          <a:prstGeom prst="ellipse">
            <a:avLst/>
          </a:prstGeom>
          <a:solidFill>
            <a:schemeClr val="accent4"/>
          </a:solidFill>
          <a:ln/>
        </p:spPr>
      </p:sp>
      <p:sp>
        <p:nvSpPr>
          <p:cNvPr id="28" name="Text 25"/>
          <p:cNvSpPr txBox="1"/>
          <p:nvPr/>
        </p:nvSpPr>
        <p:spPr>
          <a:xfrm>
            <a:off x="4892040" y="5321808"/>
            <a:ext cx="3108960" cy="548640"/>
          </a:xfrm>
          <a:prstGeom prst="rect">
            <a:avLst/>
          </a:prstGeom>
          <a:noFill/>
          <a:ln/>
        </p:spPr>
        <p:txBody>
          <a:bodyPr wrap="square" lIns="0" tIns="0" rIns="0" bIns="0" rtlCol="0" anchor="ctr"/>
          <a:lstStyle/>
          <a:p>
            <a:pPr indent="0" marL="0">
              <a:buNone/>
            </a:pPr>
            <a:r>
              <a:rPr lang="en-US" sz="1400" dirty="0">
                <a:solidFill>
                  <a:schemeClr val="tx1"/>
                </a:solidFill>
              </a:rPr>
              <a:t>It has an indicator with a target</a:t>
            </a:r>
            <a:endParaRPr lang="en-US" sz="1400" dirty="0"/>
          </a:p>
        </p:txBody>
      </p:sp>
      <p:sp>
        <p:nvSpPr>
          <p:cNvPr id="29" name="Ready dot 3"/>
          <p:cNvSpPr/>
          <p:nvPr/>
        </p:nvSpPr>
        <p:spPr>
          <a:xfrm>
            <a:off x="8138160" y="5468112"/>
            <a:ext cx="256032" cy="256032"/>
          </a:xfrm>
          <a:prstGeom prst="ellipse">
            <a:avLst/>
          </a:prstGeom>
          <a:solidFill>
            <a:schemeClr val="accent4"/>
          </a:solidFill>
          <a:ln/>
        </p:spPr>
      </p:sp>
      <p:sp>
        <p:nvSpPr>
          <p:cNvPr id="30" name="Text 27"/>
          <p:cNvSpPr txBox="1"/>
          <p:nvPr/>
        </p:nvSpPr>
        <p:spPr>
          <a:xfrm>
            <a:off x="8503920" y="5321808"/>
            <a:ext cx="3108960" cy="548640"/>
          </a:xfrm>
          <a:prstGeom prst="rect">
            <a:avLst/>
          </a:prstGeom>
          <a:noFill/>
          <a:ln/>
        </p:spPr>
        <p:txBody>
          <a:bodyPr wrap="square" lIns="0" tIns="0" rIns="0" bIns="0" rtlCol="0" anchor="ctr"/>
          <a:lstStyle/>
          <a:p>
            <a:pPr indent="0" marL="0">
              <a:buNone/>
            </a:pPr>
            <a:r>
              <a:rPr lang="en-US" sz="1400" dirty="0">
                <a:solidFill>
                  <a:schemeClr val="tx1"/>
                </a:solidFill>
              </a:rPr>
              <a:t>The dates are in order and the window is open</a:t>
            </a:r>
            <a:endParaRPr lang="en-US" sz="14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Each unit writes its own part of the plan</a:t>
            </a:r>
            <a:endParaRPr lang="en-US" sz="3400" dirty="0"/>
          </a:p>
        </p:txBody>
      </p:sp>
      <p:sp>
        <p:nvSpPr>
          <p:cNvPr id="4" name="Frame activities"/>
          <p:cNvSpPr/>
          <p:nvPr/>
        </p:nvSpPr>
        <p:spPr>
          <a:xfrm>
            <a:off x="640080" y="1508760"/>
            <a:ext cx="6858000" cy="4320540"/>
          </a:xfrm>
          <a:prstGeom prst="rect">
            <a:avLst/>
          </a:prstGeom>
          <a:solidFill>
            <a:schemeClr val="bg2"/>
          </a:solidFill>
          <a:ln/>
        </p:spPr>
      </p:sp>
      <p:pic>
        <p:nvPicPr>
          <p:cNvPr id="5" name="Screenshot activities" descr="The list of activities of the plan with filters, tabs and status chips">    </p:cNvPr>
          <p:cNvPicPr>
            <a:picLocks noChangeAspect="1"/>
          </p:cNvPicPr>
          <p:nvPr/>
        </p:nvPicPr>
        <p:blipFill>
          <a:blip r:embed="rId1"/>
          <a:stretch>
            <a:fillRect/>
          </a:stretch>
        </p:blipFill>
        <p:spPr>
          <a:xfrm>
            <a:off x="685800" y="1554480"/>
            <a:ext cx="6766560" cy="4229100"/>
          </a:xfrm>
          <a:prstGeom prst="rect">
            <a:avLst/>
          </a:prstGeom>
        </p:spPr>
      </p:pic>
      <p:sp>
        <p:nvSpPr>
          <p:cNvPr id="6" name="Text 2"/>
          <p:cNvSpPr txBox="1"/>
          <p:nvPr/>
        </p:nvSpPr>
        <p:spPr>
          <a:xfrm>
            <a:off x="640080" y="5902452"/>
            <a:ext cx="6858000" cy="411480"/>
          </a:xfrm>
          <a:prstGeom prst="rect">
            <a:avLst/>
          </a:prstGeom>
          <a:noFill/>
          <a:ln/>
        </p:spPr>
        <p:txBody>
          <a:bodyPr wrap="square" lIns="0" tIns="0" rIns="0" bIns="0" rtlCol="0" anchor="t"/>
          <a:lstStyle/>
          <a:p>
            <a:pPr indent="0" marL="0">
              <a:buNone/>
            </a:pPr>
            <a:r>
              <a:rPr lang="en-US" sz="1200" i="1" dirty="0">
                <a:solidFill>
                  <a:schemeClr val="accent5"/>
                </a:solidFill>
              </a:rPr>
              <a:t>The activities of the plan: filters, tabs and status chips</a:t>
            </a:r>
            <a:endParaRPr lang="en-US" sz="1200" dirty="0"/>
          </a:p>
        </p:txBody>
      </p:sp>
      <p:sp>
        <p:nvSpPr>
          <p:cNvPr id="7" name="Text 3"/>
          <p:cNvSpPr txBox="1"/>
          <p:nvPr/>
        </p:nvSpPr>
        <p:spPr>
          <a:xfrm>
            <a:off x="7818120" y="15087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Its own people</a:t>
            </a:r>
            <a:endParaRPr lang="en-US" sz="1800" dirty="0"/>
          </a:p>
          <a:p>
            <a:pPr indent="0" marL="0">
              <a:buNone/>
            </a:pPr>
            <a:r>
              <a:rPr lang="en-US" sz="1400" dirty="0">
                <a:solidFill>
                  <a:schemeClr val="tx1"/>
                </a:solidFill>
              </a:rPr>
              <a:t>Each unit has a technical officer and a director; what a person sees and writes follows their unit.</a:t>
            </a:r>
            <a:endParaRPr lang="en-US" sz="1800" dirty="0"/>
          </a:p>
        </p:txBody>
      </p:sp>
      <p:sp>
        <p:nvSpPr>
          <p:cNvPr id="8" name="Text 4"/>
          <p:cNvSpPr txBox="1"/>
          <p:nvPr/>
        </p:nvSpPr>
        <p:spPr>
          <a:xfrm>
            <a:off x="7818120" y="31089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Copy last year</a:t>
            </a:r>
            <a:endParaRPr lang="en-US" sz="1800" dirty="0"/>
          </a:p>
          <a:p>
            <a:pPr indent="0" marL="0">
              <a:buNone/>
            </a:pPr>
            <a:r>
              <a:rPr lang="en-US" sz="1400" dirty="0">
                <a:solidFill>
                  <a:schemeClr val="tx1"/>
                </a:solidFill>
              </a:rPr>
              <a:t>Start from the previous plan as drafts, once; review, adjust and submit.</a:t>
            </a:r>
            <a:endParaRPr lang="en-US" sz="1800" dirty="0"/>
          </a:p>
        </p:txBody>
      </p:sp>
      <p:sp>
        <p:nvSpPr>
          <p:cNvPr id="9" name="Text 5"/>
          <p:cNvSpPr txBox="1"/>
          <p:nvPr/>
        </p:nvSpPr>
        <p:spPr>
          <a:xfrm>
            <a:off x="7818120" y="47091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Import and export</a:t>
            </a:r>
            <a:endParaRPr lang="en-US" sz="1800" dirty="0"/>
          </a:p>
          <a:p>
            <a:pPr indent="0" marL="0">
              <a:buNone/>
            </a:pPr>
            <a:r>
              <a:rPr lang="en-US" sz="1400" dirty="0">
                <a:solidFill>
                  <a:schemeClr val="tx1"/>
                </a:solidFill>
              </a:rPr>
              <a:t>Load activities from a CSV file (checked line by line) and export the plan.</a:t>
            </a:r>
            <a:endParaRPr lang="en-US" sz="18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Prepare, certify, approve</a:t>
            </a:r>
            <a:endParaRPr lang="en-US" sz="3400" dirty="0"/>
          </a:p>
        </p:txBody>
      </p:sp>
      <p:sp>
        <p:nvSpPr>
          <p:cNvPr id="4" name="Flow 1"/>
          <p:cNvSpPr/>
          <p:nvPr/>
        </p:nvSpPr>
        <p:spPr>
          <a:xfrm>
            <a:off x="640080" y="1600200"/>
            <a:ext cx="1920240" cy="3108960"/>
          </a:xfrm>
          <a:prstGeom prst="roundRect">
            <a:avLst>
              <a:gd name="adj" fmla="val 4762"/>
            </a:avLst>
          </a:prstGeom>
          <a:solidFill>
            <a:schemeClr val="bg2"/>
          </a:solidFill>
          <a:ln/>
        </p:spPr>
      </p:sp>
      <p:sp>
        <p:nvSpPr>
          <p:cNvPr id="5" name="Flow 1 circle"/>
          <p:cNvSpPr/>
          <p:nvPr/>
        </p:nvSpPr>
        <p:spPr>
          <a:xfrm>
            <a:off x="868680" y="1828800"/>
            <a:ext cx="502920" cy="502920"/>
          </a:xfrm>
          <a:prstGeom prst="ellipse">
            <a:avLst/>
          </a:prstGeom>
          <a:solidFill>
            <a:schemeClr val="tx1"/>
          </a:solidFill>
          <a:ln/>
        </p:spPr>
      </p:sp>
      <p:sp>
        <p:nvSpPr>
          <p:cNvPr id="6" name="Flow 1 number"/>
          <p:cNvSpPr txBox="1"/>
          <p:nvPr/>
        </p:nvSpPr>
        <p:spPr>
          <a:xfrm>
            <a:off x="868680" y="18288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1417320" y="1828800"/>
            <a:ext cx="1097280" cy="50292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Draft</a:t>
            </a:r>
            <a:endParaRPr lang="en-US" sz="1600" dirty="0"/>
          </a:p>
        </p:txBody>
      </p:sp>
      <p:sp>
        <p:nvSpPr>
          <p:cNvPr id="8" name="Text 5"/>
          <p:cNvSpPr txBox="1"/>
          <p:nvPr/>
        </p:nvSpPr>
        <p:spPr>
          <a:xfrm>
            <a:off x="868680" y="2514600"/>
            <a:ext cx="1463040" cy="548640"/>
          </a:xfrm>
          <a:prstGeom prst="rect">
            <a:avLst/>
          </a:prstGeom>
          <a:noFill/>
          <a:ln/>
        </p:spPr>
        <p:txBody>
          <a:bodyPr wrap="square" lIns="0" tIns="0" rIns="0" bIns="0" rtlCol="0" anchor="t"/>
          <a:lstStyle/>
          <a:p>
            <a:pPr indent="0" marL="0">
              <a:buNone/>
            </a:pPr>
            <a:r>
              <a:rPr lang="en-US" sz="1300" b="1" dirty="0">
                <a:solidFill>
                  <a:schemeClr val="accent3"/>
                </a:solidFill>
              </a:rPr>
              <a:t>The unit</a:t>
            </a:r>
            <a:endParaRPr lang="en-US" sz="1300" dirty="0"/>
          </a:p>
        </p:txBody>
      </p:sp>
      <p:sp>
        <p:nvSpPr>
          <p:cNvPr id="9" name="Text 6"/>
          <p:cNvSpPr txBox="1"/>
          <p:nvPr/>
        </p:nvSpPr>
        <p:spPr>
          <a:xfrm>
            <a:off x="868680" y="3108960"/>
            <a:ext cx="1463040" cy="1463040"/>
          </a:xfrm>
          <a:prstGeom prst="rect">
            <a:avLst/>
          </a:prstGeom>
          <a:noFill/>
          <a:ln/>
        </p:spPr>
        <p:txBody>
          <a:bodyPr wrap="square" lIns="0" tIns="0" rIns="0" bIns="0" rtlCol="0" anchor="t"/>
          <a:lstStyle/>
          <a:p>
            <a:pPr indent="0" marL="0">
              <a:buNone/>
            </a:pPr>
            <a:r>
              <a:rPr lang="en-US" sz="1300" dirty="0">
                <a:solidFill>
                  <a:schemeClr val="tx1"/>
                </a:solidFill>
              </a:rPr>
              <a:t>Completes the activity, its indicators and budget lines.</a:t>
            </a:r>
            <a:endParaRPr lang="en-US" sz="1300" dirty="0"/>
          </a:p>
        </p:txBody>
      </p:sp>
      <p:sp>
        <p:nvSpPr>
          <p:cNvPr id="10" name="Flow arrow 1"/>
          <p:cNvSpPr/>
          <p:nvPr/>
        </p:nvSpPr>
        <p:spPr>
          <a:xfrm>
            <a:off x="2587752" y="2971800"/>
            <a:ext cx="265176" cy="0"/>
          </a:xfrm>
          <a:prstGeom prst="line">
            <a:avLst/>
          </a:prstGeom>
          <a:noFill/>
          <a:ln w="28575">
            <a:solidFill>
              <a:schemeClr val="accent5"/>
            </a:solidFill>
            <a:prstDash val="solid"/>
            <a:tailEnd type="triangle"/>
          </a:ln>
        </p:spPr>
      </p:sp>
      <p:sp>
        <p:nvSpPr>
          <p:cNvPr id="11" name="Flow 2"/>
          <p:cNvSpPr/>
          <p:nvPr/>
        </p:nvSpPr>
        <p:spPr>
          <a:xfrm>
            <a:off x="2880360" y="1600200"/>
            <a:ext cx="1920240" cy="3108960"/>
          </a:xfrm>
          <a:prstGeom prst="roundRect">
            <a:avLst>
              <a:gd name="adj" fmla="val 4762"/>
            </a:avLst>
          </a:prstGeom>
          <a:solidFill>
            <a:schemeClr val="bg2"/>
          </a:solidFill>
          <a:ln/>
        </p:spPr>
      </p:sp>
      <p:sp>
        <p:nvSpPr>
          <p:cNvPr id="12" name="Flow 2 circle"/>
          <p:cNvSpPr/>
          <p:nvPr/>
        </p:nvSpPr>
        <p:spPr>
          <a:xfrm>
            <a:off x="3108960" y="1828800"/>
            <a:ext cx="502920" cy="502920"/>
          </a:xfrm>
          <a:prstGeom prst="ellipse">
            <a:avLst/>
          </a:prstGeom>
          <a:solidFill>
            <a:schemeClr val="tx1"/>
          </a:solidFill>
          <a:ln/>
        </p:spPr>
      </p:sp>
      <p:sp>
        <p:nvSpPr>
          <p:cNvPr id="13" name="Flow 2 number"/>
          <p:cNvSpPr txBox="1"/>
          <p:nvPr/>
        </p:nvSpPr>
        <p:spPr>
          <a:xfrm>
            <a:off x="3108960" y="18288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4" name="Text 11"/>
          <p:cNvSpPr txBox="1"/>
          <p:nvPr/>
        </p:nvSpPr>
        <p:spPr>
          <a:xfrm>
            <a:off x="3657600" y="1828800"/>
            <a:ext cx="1097280" cy="50292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Prepared</a:t>
            </a:r>
            <a:endParaRPr lang="en-US" sz="1600" dirty="0"/>
          </a:p>
        </p:txBody>
      </p:sp>
      <p:sp>
        <p:nvSpPr>
          <p:cNvPr id="15" name="Text 12"/>
          <p:cNvSpPr txBox="1"/>
          <p:nvPr/>
        </p:nvSpPr>
        <p:spPr>
          <a:xfrm>
            <a:off x="3108960" y="2514600"/>
            <a:ext cx="1463040" cy="548640"/>
          </a:xfrm>
          <a:prstGeom prst="rect">
            <a:avLst/>
          </a:prstGeom>
          <a:noFill/>
          <a:ln/>
        </p:spPr>
        <p:txBody>
          <a:bodyPr wrap="square" lIns="0" tIns="0" rIns="0" bIns="0" rtlCol="0" anchor="t"/>
          <a:lstStyle/>
          <a:p>
            <a:pPr indent="0" marL="0">
              <a:buNone/>
            </a:pPr>
            <a:r>
              <a:rPr lang="en-US" sz="1300" b="1" dirty="0">
                <a:solidFill>
                  <a:schemeClr val="accent3"/>
                </a:solidFill>
              </a:rPr>
              <a:t>Technical officer or director</a:t>
            </a:r>
            <a:endParaRPr lang="en-US" sz="1300" dirty="0"/>
          </a:p>
        </p:txBody>
      </p:sp>
      <p:sp>
        <p:nvSpPr>
          <p:cNvPr id="16" name="Text 13"/>
          <p:cNvSpPr txBox="1"/>
          <p:nvPr/>
        </p:nvSpPr>
        <p:spPr>
          <a:xfrm>
            <a:off x="3108960" y="3108960"/>
            <a:ext cx="1463040" cy="1463040"/>
          </a:xfrm>
          <a:prstGeom prst="rect">
            <a:avLst/>
          </a:prstGeom>
          <a:noFill/>
          <a:ln/>
        </p:spPr>
        <p:txBody>
          <a:bodyPr wrap="square" lIns="0" tIns="0" rIns="0" bIns="0" rtlCol="0" anchor="t"/>
          <a:lstStyle/>
          <a:p>
            <a:pPr indent="0" marL="0">
              <a:buNone/>
            </a:pPr>
            <a:r>
              <a:rPr lang="en-US" sz="1300" dirty="0">
                <a:solidFill>
                  <a:schemeClr val="tx1"/>
                </a:solidFill>
              </a:rPr>
              <a:t>Submits it once it passes the checks.</a:t>
            </a:r>
            <a:endParaRPr lang="en-US" sz="1300" dirty="0"/>
          </a:p>
        </p:txBody>
      </p:sp>
      <p:sp>
        <p:nvSpPr>
          <p:cNvPr id="17" name="Flow arrow 2"/>
          <p:cNvSpPr/>
          <p:nvPr/>
        </p:nvSpPr>
        <p:spPr>
          <a:xfrm>
            <a:off x="4828032" y="2971800"/>
            <a:ext cx="265176" cy="0"/>
          </a:xfrm>
          <a:prstGeom prst="line">
            <a:avLst/>
          </a:prstGeom>
          <a:noFill/>
          <a:ln w="28575">
            <a:solidFill>
              <a:schemeClr val="accent5"/>
            </a:solidFill>
            <a:prstDash val="solid"/>
            <a:tailEnd type="triangle"/>
          </a:ln>
        </p:spPr>
      </p:sp>
      <p:sp>
        <p:nvSpPr>
          <p:cNvPr id="18" name="Flow 3"/>
          <p:cNvSpPr/>
          <p:nvPr/>
        </p:nvSpPr>
        <p:spPr>
          <a:xfrm>
            <a:off x="5120640" y="1600200"/>
            <a:ext cx="1920240" cy="3108960"/>
          </a:xfrm>
          <a:prstGeom prst="roundRect">
            <a:avLst>
              <a:gd name="adj" fmla="val 4762"/>
            </a:avLst>
          </a:prstGeom>
          <a:solidFill>
            <a:schemeClr val="bg2"/>
          </a:solidFill>
          <a:ln/>
        </p:spPr>
      </p:sp>
      <p:sp>
        <p:nvSpPr>
          <p:cNvPr id="19" name="Flow 3 circle"/>
          <p:cNvSpPr/>
          <p:nvPr/>
        </p:nvSpPr>
        <p:spPr>
          <a:xfrm>
            <a:off x="5349240" y="1828800"/>
            <a:ext cx="502920" cy="502920"/>
          </a:xfrm>
          <a:prstGeom prst="ellipse">
            <a:avLst/>
          </a:prstGeom>
          <a:solidFill>
            <a:schemeClr val="tx1"/>
          </a:solidFill>
          <a:ln/>
        </p:spPr>
      </p:sp>
      <p:sp>
        <p:nvSpPr>
          <p:cNvPr id="20" name="Flow 3 number"/>
          <p:cNvSpPr txBox="1"/>
          <p:nvPr/>
        </p:nvSpPr>
        <p:spPr>
          <a:xfrm>
            <a:off x="5349240" y="18288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1" name="Text 18"/>
          <p:cNvSpPr txBox="1"/>
          <p:nvPr/>
        </p:nvSpPr>
        <p:spPr>
          <a:xfrm>
            <a:off x="5897880" y="1828800"/>
            <a:ext cx="1097280" cy="50292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Verified</a:t>
            </a:r>
            <a:endParaRPr lang="en-US" sz="1600" dirty="0"/>
          </a:p>
        </p:txBody>
      </p:sp>
      <p:sp>
        <p:nvSpPr>
          <p:cNvPr id="22" name="Text 19"/>
          <p:cNvSpPr txBox="1"/>
          <p:nvPr/>
        </p:nvSpPr>
        <p:spPr>
          <a:xfrm>
            <a:off x="5349240" y="2514600"/>
            <a:ext cx="1463040" cy="548640"/>
          </a:xfrm>
          <a:prstGeom prst="rect">
            <a:avLst/>
          </a:prstGeom>
          <a:noFill/>
          <a:ln/>
        </p:spPr>
        <p:txBody>
          <a:bodyPr wrap="square" lIns="0" tIns="0" rIns="0" bIns="0" rtlCol="0" anchor="t"/>
          <a:lstStyle/>
          <a:p>
            <a:pPr indent="0" marL="0">
              <a:buNone/>
            </a:pPr>
            <a:r>
              <a:rPr lang="en-US" sz="1300" b="1" dirty="0">
                <a:solidFill>
                  <a:schemeClr val="accent3"/>
                </a:solidFill>
              </a:rPr>
              <a:t>Director of the unit</a:t>
            </a:r>
            <a:endParaRPr lang="en-US" sz="1300" dirty="0"/>
          </a:p>
        </p:txBody>
      </p:sp>
      <p:sp>
        <p:nvSpPr>
          <p:cNvPr id="23" name="Text 20"/>
          <p:cNvSpPr txBox="1"/>
          <p:nvPr/>
        </p:nvSpPr>
        <p:spPr>
          <a:xfrm>
            <a:off x="5349240" y="3108960"/>
            <a:ext cx="1463040" cy="1463040"/>
          </a:xfrm>
          <a:prstGeom prst="rect">
            <a:avLst/>
          </a:prstGeom>
          <a:noFill/>
          <a:ln/>
        </p:spPr>
        <p:txBody>
          <a:bodyPr wrap="square" lIns="0" tIns="0" rIns="0" bIns="0" rtlCol="0" anchor="t"/>
          <a:lstStyle/>
          <a:p>
            <a:pPr indent="0" marL="0">
              <a:buNone/>
            </a:pPr>
            <a:r>
              <a:rPr lang="en-US" sz="1300" dirty="0">
                <a:solidFill>
                  <a:schemeClr val="tx1"/>
                </a:solidFill>
              </a:rPr>
              <a:t>Certifies it; where a unit above validates, it goes up.</a:t>
            </a:r>
            <a:endParaRPr lang="en-US" sz="1300" dirty="0"/>
          </a:p>
        </p:txBody>
      </p:sp>
      <p:sp>
        <p:nvSpPr>
          <p:cNvPr id="24" name="Flow arrow 3"/>
          <p:cNvSpPr/>
          <p:nvPr/>
        </p:nvSpPr>
        <p:spPr>
          <a:xfrm>
            <a:off x="7068312" y="2971800"/>
            <a:ext cx="265176" cy="0"/>
          </a:xfrm>
          <a:prstGeom prst="line">
            <a:avLst/>
          </a:prstGeom>
          <a:noFill/>
          <a:ln w="28575">
            <a:solidFill>
              <a:schemeClr val="accent5"/>
            </a:solidFill>
            <a:prstDash val="solid"/>
            <a:tailEnd type="triangle"/>
          </a:ln>
        </p:spPr>
      </p:sp>
      <p:sp>
        <p:nvSpPr>
          <p:cNvPr id="25" name="Flow 4"/>
          <p:cNvSpPr/>
          <p:nvPr/>
        </p:nvSpPr>
        <p:spPr>
          <a:xfrm>
            <a:off x="7360920" y="1600200"/>
            <a:ext cx="1920240" cy="3108960"/>
          </a:xfrm>
          <a:prstGeom prst="roundRect">
            <a:avLst>
              <a:gd name="adj" fmla="val 4762"/>
            </a:avLst>
          </a:prstGeom>
          <a:solidFill>
            <a:schemeClr val="bg2"/>
          </a:solidFill>
          <a:ln/>
        </p:spPr>
      </p:sp>
      <p:sp>
        <p:nvSpPr>
          <p:cNvPr id="26" name="Flow 4 circle"/>
          <p:cNvSpPr/>
          <p:nvPr/>
        </p:nvSpPr>
        <p:spPr>
          <a:xfrm>
            <a:off x="7589520" y="1828800"/>
            <a:ext cx="502920" cy="502920"/>
          </a:xfrm>
          <a:prstGeom prst="ellipse">
            <a:avLst/>
          </a:prstGeom>
          <a:solidFill>
            <a:schemeClr val="tx1"/>
          </a:solidFill>
          <a:ln/>
        </p:spPr>
      </p:sp>
      <p:sp>
        <p:nvSpPr>
          <p:cNvPr id="27" name="Flow 4 number"/>
          <p:cNvSpPr txBox="1"/>
          <p:nvPr/>
        </p:nvSpPr>
        <p:spPr>
          <a:xfrm>
            <a:off x="7589520" y="18288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8" name="Text 25"/>
          <p:cNvSpPr txBox="1"/>
          <p:nvPr/>
        </p:nvSpPr>
        <p:spPr>
          <a:xfrm>
            <a:off x="8138160" y="1828800"/>
            <a:ext cx="1097280" cy="50292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Certified</a:t>
            </a:r>
            <a:endParaRPr lang="en-US" sz="1600" dirty="0"/>
          </a:p>
        </p:txBody>
      </p:sp>
      <p:sp>
        <p:nvSpPr>
          <p:cNvPr id="29" name="Text 26"/>
          <p:cNvSpPr txBox="1"/>
          <p:nvPr/>
        </p:nvSpPr>
        <p:spPr>
          <a:xfrm>
            <a:off x="7589520" y="2514600"/>
            <a:ext cx="1463040" cy="548640"/>
          </a:xfrm>
          <a:prstGeom prst="rect">
            <a:avLst/>
          </a:prstGeom>
          <a:noFill/>
          <a:ln/>
        </p:spPr>
        <p:txBody>
          <a:bodyPr wrap="square" lIns="0" tIns="0" rIns="0" bIns="0" rtlCol="0" anchor="t"/>
          <a:lstStyle/>
          <a:p>
            <a:pPr indent="0" marL="0">
              <a:buNone/>
            </a:pPr>
            <a:r>
              <a:rPr lang="en-US" sz="1300" b="1" dirty="0">
                <a:solidFill>
                  <a:schemeClr val="accent3"/>
                </a:solidFill>
              </a:rPr>
              <a:t>Director of the unit above</a:t>
            </a:r>
            <a:endParaRPr lang="en-US" sz="1300" dirty="0"/>
          </a:p>
        </p:txBody>
      </p:sp>
      <p:sp>
        <p:nvSpPr>
          <p:cNvPr id="30" name="Text 27"/>
          <p:cNvSpPr txBox="1"/>
          <p:nvPr/>
        </p:nvSpPr>
        <p:spPr>
          <a:xfrm>
            <a:off x="7589520" y="3108960"/>
            <a:ext cx="1463040" cy="1463040"/>
          </a:xfrm>
          <a:prstGeom prst="rect">
            <a:avLst/>
          </a:prstGeom>
          <a:noFill/>
          <a:ln/>
        </p:spPr>
        <p:txBody>
          <a:bodyPr wrap="square" lIns="0" tIns="0" rIns="0" bIns="0" rtlCol="0" anchor="t"/>
          <a:lstStyle/>
          <a:p>
            <a:pPr indent="0" marL="0">
              <a:buNone/>
            </a:pPr>
            <a:r>
              <a:rPr lang="en-US" sz="1300" dirty="0">
                <a:solidFill>
                  <a:schemeClr val="tx1"/>
                </a:solidFill>
              </a:rPr>
              <a:t>Validates the plans of the units beneath.</a:t>
            </a:r>
            <a:endParaRPr lang="en-US" sz="1300" dirty="0"/>
          </a:p>
        </p:txBody>
      </p:sp>
      <p:sp>
        <p:nvSpPr>
          <p:cNvPr id="31" name="Flow arrow 4"/>
          <p:cNvSpPr/>
          <p:nvPr/>
        </p:nvSpPr>
        <p:spPr>
          <a:xfrm>
            <a:off x="9308592" y="2971800"/>
            <a:ext cx="265176" cy="0"/>
          </a:xfrm>
          <a:prstGeom prst="line">
            <a:avLst/>
          </a:prstGeom>
          <a:noFill/>
          <a:ln w="28575">
            <a:solidFill>
              <a:schemeClr val="accent5"/>
            </a:solidFill>
            <a:prstDash val="solid"/>
            <a:tailEnd type="triangle"/>
          </a:ln>
        </p:spPr>
      </p:sp>
      <p:sp>
        <p:nvSpPr>
          <p:cNvPr id="32" name="Flow 5"/>
          <p:cNvSpPr/>
          <p:nvPr/>
        </p:nvSpPr>
        <p:spPr>
          <a:xfrm>
            <a:off x="9601200" y="1600200"/>
            <a:ext cx="1920240" cy="3108960"/>
          </a:xfrm>
          <a:prstGeom prst="roundRect">
            <a:avLst>
              <a:gd name="adj" fmla="val 4762"/>
            </a:avLst>
          </a:prstGeom>
          <a:solidFill>
            <a:schemeClr val="bg2"/>
          </a:solidFill>
          <a:ln/>
        </p:spPr>
      </p:sp>
      <p:sp>
        <p:nvSpPr>
          <p:cNvPr id="33" name="Flow 5 circle"/>
          <p:cNvSpPr/>
          <p:nvPr/>
        </p:nvSpPr>
        <p:spPr>
          <a:xfrm>
            <a:off x="9829800" y="1828800"/>
            <a:ext cx="502920" cy="502920"/>
          </a:xfrm>
          <a:prstGeom prst="ellipse">
            <a:avLst/>
          </a:prstGeom>
          <a:solidFill>
            <a:schemeClr val="accent4"/>
          </a:solidFill>
          <a:ln/>
        </p:spPr>
      </p:sp>
      <p:sp>
        <p:nvSpPr>
          <p:cNvPr id="34" name="Flow 5 number"/>
          <p:cNvSpPr txBox="1"/>
          <p:nvPr/>
        </p:nvSpPr>
        <p:spPr>
          <a:xfrm>
            <a:off x="9829800" y="18288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5" name="Text 32"/>
          <p:cNvSpPr txBox="1"/>
          <p:nvPr/>
        </p:nvSpPr>
        <p:spPr>
          <a:xfrm>
            <a:off x="10378440" y="1828800"/>
            <a:ext cx="1097280" cy="50292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Approved</a:t>
            </a:r>
            <a:endParaRPr lang="en-US" sz="1600" dirty="0"/>
          </a:p>
        </p:txBody>
      </p:sp>
      <p:sp>
        <p:nvSpPr>
          <p:cNvPr id="36" name="Text 33"/>
          <p:cNvSpPr txBox="1"/>
          <p:nvPr/>
        </p:nvSpPr>
        <p:spPr>
          <a:xfrm>
            <a:off x="9829800" y="2514600"/>
            <a:ext cx="1463040" cy="548640"/>
          </a:xfrm>
          <a:prstGeom prst="rect">
            <a:avLst/>
          </a:prstGeom>
          <a:noFill/>
          <a:ln/>
        </p:spPr>
        <p:txBody>
          <a:bodyPr wrap="square" lIns="0" tIns="0" rIns="0" bIns="0" rtlCol="0" anchor="t"/>
          <a:lstStyle/>
          <a:p>
            <a:pPr indent="0" marL="0">
              <a:buNone/>
            </a:pPr>
            <a:r>
              <a:rPr lang="en-US" sz="1300" b="1" dirty="0">
                <a:solidFill>
                  <a:schemeClr val="accent3"/>
                </a:solidFill>
              </a:rPr>
              <a:t>Head of the directorate</a:t>
            </a:r>
            <a:endParaRPr lang="en-US" sz="1300" dirty="0"/>
          </a:p>
        </p:txBody>
      </p:sp>
      <p:sp>
        <p:nvSpPr>
          <p:cNvPr id="37" name="Text 34"/>
          <p:cNvSpPr txBox="1"/>
          <p:nvPr/>
        </p:nvSpPr>
        <p:spPr>
          <a:xfrm>
            <a:off x="9829800" y="3108960"/>
            <a:ext cx="1463040" cy="1463040"/>
          </a:xfrm>
          <a:prstGeom prst="rect">
            <a:avLst/>
          </a:prstGeom>
          <a:noFill/>
          <a:ln/>
        </p:spPr>
        <p:txBody>
          <a:bodyPr wrap="square" lIns="0" tIns="0" rIns="0" bIns="0" rtlCol="0" anchor="t"/>
          <a:lstStyle/>
          <a:p>
            <a:pPr indent="0" marL="0">
              <a:buNone/>
            </a:pPr>
            <a:r>
              <a:rPr lang="en-US" sz="1300" dirty="0">
                <a:solidFill>
                  <a:schemeClr val="tx1"/>
                </a:solidFill>
              </a:rPr>
              <a:t>Gives the final approval of the plan of their own directorate.</a:t>
            </a:r>
            <a:endParaRPr lang="en-US" sz="1300" dirty="0"/>
          </a:p>
        </p:txBody>
      </p:sp>
      <p:sp>
        <p:nvSpPr>
          <p:cNvPr id="38" name="Note card 1"/>
          <p:cNvSpPr/>
          <p:nvPr/>
        </p:nvSpPr>
        <p:spPr>
          <a:xfrm>
            <a:off x="640080" y="4937760"/>
            <a:ext cx="3502152" cy="1188720"/>
          </a:xfrm>
          <a:prstGeom prst="roundRect">
            <a:avLst>
              <a:gd name="adj" fmla="val 7692"/>
            </a:avLst>
          </a:prstGeom>
          <a:solidFill>
            <a:schemeClr val="bg2"/>
          </a:solidFill>
          <a:ln/>
        </p:spPr>
      </p:sp>
      <p:sp>
        <p:nvSpPr>
          <p:cNvPr id="39" name="Text 36"/>
          <p:cNvSpPr txBox="1"/>
          <p:nvPr/>
        </p:nvSpPr>
        <p:spPr>
          <a:xfrm>
            <a:off x="868680" y="5029200"/>
            <a:ext cx="3044952" cy="1024128"/>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Returned with a reason</a:t>
            </a:r>
            <a:endParaRPr lang="en-US" sz="1500" dirty="0"/>
          </a:p>
          <a:p>
            <a:pPr indent="0" marL="0">
              <a:buNone/>
            </a:pPr>
            <a:r>
              <a:rPr lang="en-US" sz="1200" dirty="0">
                <a:solidFill>
                  <a:schemeClr val="tx1"/>
                </a:solidFill>
              </a:rPr>
              <a:t>At any step a reviewer sends it back; the unit sees why, corrects it and submits again.</a:t>
            </a:r>
            <a:endParaRPr lang="en-US" sz="1500" dirty="0"/>
          </a:p>
        </p:txBody>
      </p:sp>
      <p:sp>
        <p:nvSpPr>
          <p:cNvPr id="40" name="Note card 2"/>
          <p:cNvSpPr/>
          <p:nvPr/>
        </p:nvSpPr>
        <p:spPr>
          <a:xfrm>
            <a:off x="4343400" y="4937760"/>
            <a:ext cx="3502152" cy="1188720"/>
          </a:xfrm>
          <a:prstGeom prst="roundRect">
            <a:avLst>
              <a:gd name="adj" fmla="val 7692"/>
            </a:avLst>
          </a:prstGeom>
          <a:solidFill>
            <a:schemeClr val="bg2"/>
          </a:solidFill>
          <a:ln/>
        </p:spPr>
      </p:sp>
      <p:sp>
        <p:nvSpPr>
          <p:cNvPr id="41" name="Text 38"/>
          <p:cNvSpPr txBox="1"/>
          <p:nvPr/>
        </p:nvSpPr>
        <p:spPr>
          <a:xfrm>
            <a:off x="4572000" y="5029200"/>
            <a:ext cx="3044952" cy="1024128"/>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Changed by revision</a:t>
            </a:r>
            <a:endParaRPr lang="en-US" sz="1500" dirty="0"/>
          </a:p>
          <a:p>
            <a:pPr indent="0" marL="0">
              <a:buNone/>
            </a:pPr>
            <a:r>
              <a:rPr lang="en-US" sz="1200" dirty="0">
                <a:solidFill>
                  <a:schemeClr val="tx1"/>
                </a:solidFill>
              </a:rPr>
              <a:t>An approved activity is not edited. A revision, with a reason, makes a new version.</a:t>
            </a:r>
            <a:endParaRPr lang="en-US" sz="1500" dirty="0"/>
          </a:p>
        </p:txBody>
      </p:sp>
      <p:sp>
        <p:nvSpPr>
          <p:cNvPr id="42" name="Note card 3"/>
          <p:cNvSpPr/>
          <p:nvPr/>
        </p:nvSpPr>
        <p:spPr>
          <a:xfrm>
            <a:off x="8046720" y="4937760"/>
            <a:ext cx="3502152" cy="1188720"/>
          </a:xfrm>
          <a:prstGeom prst="roundRect">
            <a:avLst>
              <a:gd name="adj" fmla="val 7692"/>
            </a:avLst>
          </a:prstGeom>
          <a:solidFill>
            <a:schemeClr val="bg2"/>
          </a:solidFill>
          <a:ln/>
        </p:spPr>
      </p:sp>
      <p:sp>
        <p:nvSpPr>
          <p:cNvPr id="43" name="Text 40"/>
          <p:cNvSpPr txBox="1"/>
          <p:nvPr/>
        </p:nvSpPr>
        <p:spPr>
          <a:xfrm>
            <a:off x="8275320" y="5029200"/>
            <a:ext cx="3044952" cy="1024128"/>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Every step is on record</a:t>
            </a:r>
            <a:endParaRPr lang="en-US" sz="1500" dirty="0"/>
          </a:p>
          <a:p>
            <a:pPr indent="0" marL="0">
              <a:buNone/>
            </a:pPr>
            <a:r>
              <a:rPr lang="en-US" sz="1200" dirty="0">
                <a:solidFill>
                  <a:schemeClr val="tx1"/>
                </a:solidFill>
              </a:rPr>
              <a:t>Who, when and any note are kept in the history; many can be approved at once.</a:t>
            </a:r>
            <a:endParaRPr lang="en-US" sz="15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One inbox for everything waiting on the plan</a:t>
            </a:r>
            <a:endParaRPr lang="en-US" sz="3400" dirty="0"/>
          </a:p>
        </p:txBody>
      </p:sp>
      <p:sp>
        <p:nvSpPr>
          <p:cNvPr id="4" name="Frame approvals"/>
          <p:cNvSpPr/>
          <p:nvPr/>
        </p:nvSpPr>
        <p:spPr>
          <a:xfrm>
            <a:off x="640080" y="1508760"/>
            <a:ext cx="6858000" cy="4320540"/>
          </a:xfrm>
          <a:prstGeom prst="rect">
            <a:avLst/>
          </a:prstGeom>
          <a:solidFill>
            <a:schemeClr val="bg2"/>
          </a:solidFill>
          <a:ln/>
        </p:spPr>
      </p:sp>
      <p:pic>
        <p:nvPicPr>
          <p:cNvPr id="5" name="Screenshot approvals" descr="The Approvals inbox: the plan ready to be finalized for each directorate">    </p:cNvPr>
          <p:cNvPicPr>
            <a:picLocks noChangeAspect="1"/>
          </p:cNvPicPr>
          <p:nvPr/>
        </p:nvPicPr>
        <p:blipFill>
          <a:blip r:embed="rId1"/>
          <a:stretch>
            <a:fillRect/>
          </a:stretch>
        </p:blipFill>
        <p:spPr>
          <a:xfrm>
            <a:off x="685800" y="1554480"/>
            <a:ext cx="6766560" cy="4229100"/>
          </a:xfrm>
          <a:prstGeom prst="rect">
            <a:avLst/>
          </a:prstGeom>
        </p:spPr>
      </p:pic>
      <p:sp>
        <p:nvSpPr>
          <p:cNvPr id="6" name="Text 2"/>
          <p:cNvSpPr txBox="1"/>
          <p:nvPr/>
        </p:nvSpPr>
        <p:spPr>
          <a:xfrm>
            <a:off x="640080" y="5902452"/>
            <a:ext cx="6858000" cy="411480"/>
          </a:xfrm>
          <a:prstGeom prst="rect">
            <a:avLst/>
          </a:prstGeom>
          <a:noFill/>
          <a:ln/>
        </p:spPr>
        <p:txBody>
          <a:bodyPr wrap="square" lIns="0" tIns="0" rIns="0" bIns="0" rtlCol="0" anchor="t"/>
          <a:lstStyle/>
          <a:p>
            <a:pPr indent="0" marL="0">
              <a:buNone/>
            </a:pPr>
            <a:r>
              <a:rPr lang="en-US" sz="1200" i="1" dirty="0">
                <a:solidFill>
                  <a:schemeClr val="accent5"/>
                </a:solidFill>
              </a:rPr>
              <a:t>Approvals: what is waiting for you, each with a link</a:t>
            </a:r>
            <a:endParaRPr lang="en-US" sz="1200" dirty="0"/>
          </a:p>
        </p:txBody>
      </p:sp>
      <p:sp>
        <p:nvSpPr>
          <p:cNvPr id="7" name="Text 3"/>
          <p:cNvSpPr txBox="1"/>
          <p:nvPr/>
        </p:nvSpPr>
        <p:spPr>
          <a:xfrm>
            <a:off x="7818120" y="15087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Decide</a:t>
            </a:r>
            <a:endParaRPr lang="en-US" sz="1800" dirty="0"/>
          </a:p>
          <a:p>
            <a:pPr indent="0" marL="0">
              <a:buNone/>
            </a:pPr>
            <a:r>
              <a:rPr lang="en-US" sz="1400" dirty="0">
                <a:solidFill>
                  <a:schemeClr val="tx1"/>
                </a:solidFill>
              </a:rPr>
              <a:t>Certify, approve or return with a reason, one by one or many at once; each is checked again as it is written.</a:t>
            </a:r>
            <a:endParaRPr lang="en-US" sz="1800" dirty="0"/>
          </a:p>
        </p:txBody>
      </p:sp>
      <p:sp>
        <p:nvSpPr>
          <p:cNvPr id="8" name="Text 4"/>
          <p:cNvSpPr txBox="1"/>
          <p:nvPr/>
        </p:nvSpPr>
        <p:spPr>
          <a:xfrm>
            <a:off x="7818120" y="31089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Verify</a:t>
            </a:r>
            <a:endParaRPr lang="en-US" sz="1800" dirty="0"/>
          </a:p>
          <a:p>
            <a:pPr indent="0" marL="0">
              <a:buNone/>
            </a:pPr>
            <a:r>
              <a:rPr lang="en-US" sz="1400" dirty="0">
                <a:solidFill>
                  <a:schemeClr val="tx1"/>
                </a:solidFill>
              </a:rPr>
              <a:t>Execution figures wait for someone other than the person who reported them.</a:t>
            </a:r>
            <a:endParaRPr lang="en-US" sz="1800" dirty="0"/>
          </a:p>
        </p:txBody>
      </p:sp>
      <p:sp>
        <p:nvSpPr>
          <p:cNvPr id="9" name="Text 5"/>
          <p:cNvSpPr txBox="1"/>
          <p:nvPr/>
        </p:nvSpPr>
        <p:spPr>
          <a:xfrm>
            <a:off x="7818120" y="47091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Finalize</a:t>
            </a:r>
            <a:endParaRPr lang="en-US" sz="1800" dirty="0"/>
          </a:p>
          <a:p>
            <a:pPr indent="0" marL="0">
              <a:buNone/>
            </a:pPr>
            <a:r>
              <a:rPr lang="en-US" sz="1400" dirty="0">
                <a:solidFill>
                  <a:schemeClr val="tx1"/>
                </a:solidFill>
              </a:rPr>
              <a:t>Each head is told when their directorate's plan is ready to be finalized.</a:t>
            </a:r>
            <a:endParaRPr lang="en-US" sz="18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Named approvers, interim cover and reshuffles</a:t>
            </a:r>
            <a:endParaRPr lang="en-US" sz="3400" dirty="0"/>
          </a:p>
        </p:txBody>
      </p:sp>
      <p:sp>
        <p:nvSpPr>
          <p:cNvPr id="4" name="Panel Approval lists"/>
          <p:cNvSpPr/>
          <p:nvPr/>
        </p:nvSpPr>
        <p:spPr>
          <a:xfrm>
            <a:off x="640080" y="1645920"/>
            <a:ext cx="3502152" cy="4434840"/>
          </a:xfrm>
          <a:prstGeom prst="roundRect">
            <a:avLst>
              <a:gd name="adj" fmla="val 2611"/>
            </a:avLst>
          </a:prstGeom>
          <a:solidFill>
            <a:schemeClr val="bg2"/>
          </a:solidFill>
          <a:ln/>
        </p:spPr>
      </p:sp>
      <p:sp>
        <p:nvSpPr>
          <p:cNvPr id="5" name="Panel circle 1"/>
          <p:cNvSpPr/>
          <p:nvPr/>
        </p:nvSpPr>
        <p:spPr>
          <a:xfrm>
            <a:off x="960120" y="1965960"/>
            <a:ext cx="731520" cy="731520"/>
          </a:xfrm>
          <a:prstGeom prst="ellipse">
            <a:avLst/>
          </a:prstGeom>
          <a:solidFill>
            <a:schemeClr val="accent1"/>
          </a:solidFill>
          <a:ln/>
        </p:spPr>
      </p:sp>
      <p:pic>
        <p:nvPicPr>
          <p:cNvPr id="6" name="Panel icon 1" descr="Approval lists">    </p:cNvPr>
          <p:cNvPicPr>
            <a:picLocks noChangeAspect="1"/>
          </p:cNvPicPr>
          <p:nvPr/>
        </p:nvPicPr>
        <p:blipFill>
          <a:blip r:embed="rId1"/>
          <a:stretch>
            <a:fillRect/>
          </a:stretch>
        </p:blipFill>
        <p:spPr>
          <a:xfrm>
            <a:off x="1143000" y="2148840"/>
            <a:ext cx="365760" cy="365760"/>
          </a:xfrm>
          <a:prstGeom prst="rect">
            <a:avLst/>
          </a:prstGeom>
        </p:spPr>
      </p:pic>
      <p:sp>
        <p:nvSpPr>
          <p:cNvPr id="7" name="Text 3"/>
          <p:cNvSpPr txBox="1"/>
          <p:nvPr/>
        </p:nvSpPr>
        <p:spPr>
          <a:xfrm>
            <a:off x="960120" y="2834640"/>
            <a:ext cx="2862072" cy="50292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Approval lists</a:t>
            </a:r>
            <a:endParaRPr lang="en-US" sz="2200" dirty="0"/>
          </a:p>
        </p:txBody>
      </p:sp>
      <p:sp>
        <p:nvSpPr>
          <p:cNvPr id="8" name="Text 4"/>
          <p:cNvSpPr txBox="1"/>
          <p:nvPr/>
        </p:nvSpPr>
        <p:spPr>
          <a:xfrm>
            <a:off x="960120" y="3429000"/>
            <a:ext cx="2862072" cy="2560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Name who prepares, certifies and approves the activities of a unit.</a:t>
            </a:r>
            <a:endParaRPr lang="en-US" sz="1400" dirty="0"/>
          </a:p>
          <a:p>
            <a:pPr marL="342900" indent="-342900">
              <a:spcAft>
                <a:spcPts val="600"/>
              </a:spcAft>
              <a:buSzPct val="100000"/>
              <a:buChar char="•"/>
            </a:pPr>
            <a:r>
              <a:rPr lang="en-US" sz="1400" dirty="0">
                <a:solidFill>
                  <a:schemeClr val="tx1"/>
                </a:solidFill>
              </a:rPr>
              <a:t>The nearest list above a unit applies to the units below it.</a:t>
            </a:r>
            <a:endParaRPr lang="en-US" sz="1400" dirty="0"/>
          </a:p>
          <a:p>
            <a:pPr marL="342900" indent="-342900">
              <a:spcAft>
                <a:spcPts val="600"/>
              </a:spcAft>
              <a:buSzPct val="100000"/>
              <a:buChar char="•"/>
            </a:pPr>
            <a:r>
              <a:rPr lang="en-US" sz="1400" dirty="0">
                <a:solidFill>
                  <a:schemeClr val="tx1"/>
                </a:solidFill>
              </a:rPr>
              <a:t>No list: the default rule (the director) stays.</a:t>
            </a:r>
            <a:endParaRPr lang="en-US" sz="1400" dirty="0"/>
          </a:p>
        </p:txBody>
      </p:sp>
      <p:sp>
        <p:nvSpPr>
          <p:cNvPr id="9" name="Panel Interim approvers"/>
          <p:cNvSpPr/>
          <p:nvPr/>
        </p:nvSpPr>
        <p:spPr>
          <a:xfrm>
            <a:off x="4343400" y="1645920"/>
            <a:ext cx="3502152" cy="4434840"/>
          </a:xfrm>
          <a:prstGeom prst="roundRect">
            <a:avLst>
              <a:gd name="adj" fmla="val 2611"/>
            </a:avLst>
          </a:prstGeom>
          <a:solidFill>
            <a:schemeClr val="bg2"/>
          </a:solidFill>
          <a:ln/>
        </p:spPr>
      </p:sp>
      <p:sp>
        <p:nvSpPr>
          <p:cNvPr id="10" name="Panel circle 2"/>
          <p:cNvSpPr/>
          <p:nvPr/>
        </p:nvSpPr>
        <p:spPr>
          <a:xfrm>
            <a:off x="4663440" y="1965960"/>
            <a:ext cx="731520" cy="731520"/>
          </a:xfrm>
          <a:prstGeom prst="ellipse">
            <a:avLst/>
          </a:prstGeom>
          <a:solidFill>
            <a:schemeClr val="accent3"/>
          </a:solidFill>
          <a:ln/>
        </p:spPr>
      </p:sp>
      <p:pic>
        <p:nvPicPr>
          <p:cNvPr id="11" name="Panel icon 2" descr="Interim approvers">    </p:cNvPr>
          <p:cNvPicPr>
            <a:picLocks noChangeAspect="1"/>
          </p:cNvPicPr>
          <p:nvPr/>
        </p:nvPicPr>
        <p:blipFill>
          <a:blip r:embed="rId2"/>
          <a:stretch>
            <a:fillRect/>
          </a:stretch>
        </p:blipFill>
        <p:spPr>
          <a:xfrm>
            <a:off x="4846320" y="2148840"/>
            <a:ext cx="365760" cy="365760"/>
          </a:xfrm>
          <a:prstGeom prst="rect">
            <a:avLst/>
          </a:prstGeom>
        </p:spPr>
      </p:pic>
      <p:sp>
        <p:nvSpPr>
          <p:cNvPr id="12" name="Text 7"/>
          <p:cNvSpPr txBox="1"/>
          <p:nvPr/>
        </p:nvSpPr>
        <p:spPr>
          <a:xfrm>
            <a:off x="4663440" y="2834640"/>
            <a:ext cx="2862072" cy="50292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Interim approvers</a:t>
            </a:r>
            <a:endParaRPr lang="en-US" sz="2200" dirty="0"/>
          </a:p>
        </p:txBody>
      </p:sp>
      <p:sp>
        <p:nvSpPr>
          <p:cNvPr id="13" name="Text 8"/>
          <p:cNvSpPr txBox="1"/>
          <p:nvPr/>
        </p:nvSpPr>
        <p:spPr>
          <a:xfrm>
            <a:off x="4663440" y="3429000"/>
            <a:ext cx="2862072" cy="2560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Someone stands in for a director between two dates.</a:t>
            </a:r>
            <a:endParaRPr lang="en-US" sz="1400" dirty="0"/>
          </a:p>
          <a:p>
            <a:pPr marL="342900" indent="-342900">
              <a:spcAft>
                <a:spcPts val="600"/>
              </a:spcAft>
              <a:buSzPct val="100000"/>
              <a:buChar char="•"/>
            </a:pPr>
            <a:r>
              <a:rPr lang="en-US" sz="1400" dirty="0">
                <a:solidFill>
                  <a:schemeClr val="tx1"/>
                </a:solidFill>
              </a:rPr>
              <a:t>They certify and approve for the unit, even where a list names other people.</a:t>
            </a:r>
            <a:endParaRPr lang="en-US" sz="1400" dirty="0"/>
          </a:p>
          <a:p>
            <a:pPr marL="342900" indent="-342900">
              <a:spcAft>
                <a:spcPts val="600"/>
              </a:spcAft>
              <a:buSzPct val="100000"/>
              <a:buChar char="•"/>
            </a:pPr>
            <a:r>
              <a:rPr lang="en-US" sz="1400" dirty="0">
                <a:solidFill>
                  <a:schemeClr val="tx1"/>
                </a:solidFill>
              </a:rPr>
              <a:t>It ends on its date, or when revoked.</a:t>
            </a:r>
            <a:endParaRPr lang="en-US" sz="1400" dirty="0"/>
          </a:p>
        </p:txBody>
      </p:sp>
      <p:sp>
        <p:nvSpPr>
          <p:cNvPr id="14" name="Panel Reshuffles"/>
          <p:cNvSpPr/>
          <p:nvPr/>
        </p:nvSpPr>
        <p:spPr>
          <a:xfrm>
            <a:off x="8046720" y="1645920"/>
            <a:ext cx="3502152" cy="4434840"/>
          </a:xfrm>
          <a:prstGeom prst="roundRect">
            <a:avLst>
              <a:gd name="adj" fmla="val 2611"/>
            </a:avLst>
          </a:prstGeom>
          <a:solidFill>
            <a:schemeClr val="bg2"/>
          </a:solidFill>
          <a:ln/>
        </p:spPr>
      </p:sp>
      <p:sp>
        <p:nvSpPr>
          <p:cNvPr id="15" name="Panel circle 3"/>
          <p:cNvSpPr/>
          <p:nvPr/>
        </p:nvSpPr>
        <p:spPr>
          <a:xfrm>
            <a:off x="8366760" y="1965960"/>
            <a:ext cx="731520" cy="731520"/>
          </a:xfrm>
          <a:prstGeom prst="ellipse">
            <a:avLst/>
          </a:prstGeom>
          <a:solidFill>
            <a:schemeClr val="accent4"/>
          </a:solidFill>
          <a:ln/>
        </p:spPr>
      </p:sp>
      <p:pic>
        <p:nvPicPr>
          <p:cNvPr id="16" name="Panel icon 3" descr="Reshuffles">    </p:cNvPr>
          <p:cNvPicPr>
            <a:picLocks noChangeAspect="1"/>
          </p:cNvPicPr>
          <p:nvPr/>
        </p:nvPicPr>
        <p:blipFill>
          <a:blip r:embed="rId3"/>
          <a:stretch>
            <a:fillRect/>
          </a:stretch>
        </p:blipFill>
        <p:spPr>
          <a:xfrm>
            <a:off x="8549640" y="2148840"/>
            <a:ext cx="365760" cy="365760"/>
          </a:xfrm>
          <a:prstGeom prst="rect">
            <a:avLst/>
          </a:prstGeom>
        </p:spPr>
      </p:pic>
      <p:sp>
        <p:nvSpPr>
          <p:cNvPr id="17" name="Text 11"/>
          <p:cNvSpPr txBox="1"/>
          <p:nvPr/>
        </p:nvSpPr>
        <p:spPr>
          <a:xfrm>
            <a:off x="8366760" y="2834640"/>
            <a:ext cx="2862072" cy="50292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Reshuffles</a:t>
            </a:r>
            <a:endParaRPr lang="en-US" sz="2200" dirty="0"/>
          </a:p>
        </p:txBody>
      </p:sp>
      <p:sp>
        <p:nvSpPr>
          <p:cNvPr id="18" name="Text 12"/>
          <p:cNvSpPr txBox="1"/>
          <p:nvPr/>
        </p:nvSpPr>
        <p:spPr>
          <a:xfrm>
            <a:off x="8366760" y="3429000"/>
            <a:ext cx="2862072" cy="2560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Move a unit to another parent: the heads and lists above take over, pending work follows.</a:t>
            </a:r>
            <a:endParaRPr lang="en-US" sz="1400" dirty="0"/>
          </a:p>
          <a:p>
            <a:pPr marL="342900" indent="-342900">
              <a:spcAft>
                <a:spcPts val="600"/>
              </a:spcAft>
              <a:buSzPct val="100000"/>
              <a:buChar char="•"/>
            </a:pPr>
            <a:r>
              <a:rPr lang="en-US" sz="1400" dirty="0">
                <a:solidFill>
                  <a:schemeClr val="tx1"/>
                </a:solidFill>
              </a:rPr>
              <a:t>Replace one person by another in every list at once.</a:t>
            </a:r>
            <a:endParaRPr lang="en-US" sz="1400" dirty="0"/>
          </a:p>
          <a:p>
            <a:pPr marL="342900" indent="-342900">
              <a:spcAft>
                <a:spcPts val="600"/>
              </a:spcAft>
              <a:buSzPct val="100000"/>
              <a:buChar char="•"/>
            </a:pPr>
            <a:r>
              <a:rPr lang="en-US" sz="1400" dirty="0">
                <a:solidFill>
                  <a:schemeClr val="tx1"/>
                </a:solidFill>
              </a:rPr>
              <a:t>An administrator can move an activity to another unit, with a remark.</a:t>
            </a:r>
            <a:endParaRPr lang="en-US" sz="14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Everyone signs in order, and nothing is ever erased</a:t>
            </a:r>
            <a:endParaRPr lang="en-US" sz="3400" dirty="0"/>
          </a:p>
        </p:txBody>
      </p:sp>
      <p:sp>
        <p:nvSpPr>
          <p:cNvPr id="4" name="Text 1"/>
          <p:cNvSpPr txBox="1"/>
          <p:nvPr/>
        </p:nvSpPr>
        <p:spPr>
          <a:xfrm>
            <a:off x="640080" y="1554480"/>
            <a:ext cx="5029200" cy="45720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Signing in order</a:t>
            </a:r>
            <a:endParaRPr lang="en-US" sz="2200" dirty="0"/>
          </a:p>
        </p:txBody>
      </p:sp>
      <p:sp>
        <p:nvSpPr>
          <p:cNvPr id="5" name="Order 1"/>
          <p:cNvSpPr/>
          <p:nvPr/>
        </p:nvSpPr>
        <p:spPr>
          <a:xfrm>
            <a:off x="640080" y="2148840"/>
            <a:ext cx="5029200" cy="822960"/>
          </a:xfrm>
          <a:prstGeom prst="roundRect">
            <a:avLst>
              <a:gd name="adj" fmla="val 11111"/>
            </a:avLst>
          </a:prstGeom>
          <a:solidFill>
            <a:schemeClr val="bg2"/>
          </a:solidFill>
          <a:ln/>
        </p:spPr>
      </p:sp>
      <p:sp>
        <p:nvSpPr>
          <p:cNvPr id="6" name="Order 1 circle"/>
          <p:cNvSpPr/>
          <p:nvPr/>
        </p:nvSpPr>
        <p:spPr>
          <a:xfrm>
            <a:off x="822960" y="2304288"/>
            <a:ext cx="512064" cy="512064"/>
          </a:xfrm>
          <a:prstGeom prst="ellipse">
            <a:avLst/>
          </a:prstGeom>
          <a:solidFill>
            <a:schemeClr val="accent4"/>
          </a:solidFill>
          <a:ln/>
        </p:spPr>
      </p:sp>
      <p:sp>
        <p:nvSpPr>
          <p:cNvPr id="7" name="Order 1 number"/>
          <p:cNvSpPr txBox="1"/>
          <p:nvPr/>
        </p:nvSpPr>
        <p:spPr>
          <a:xfrm>
            <a:off x="822960" y="2304288"/>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1554480" y="2240280"/>
            <a:ext cx="3931920" cy="640080"/>
          </a:xfrm>
          <a:prstGeom prst="rect">
            <a:avLst/>
          </a:prstGeom>
          <a:noFill/>
          <a:ln/>
        </p:spPr>
        <p:txBody>
          <a:bodyPr wrap="square" lIns="0" tIns="0" rIns="0" bIns="0" rtlCol="0" anchor="ctr"/>
          <a:lstStyle/>
          <a:p>
            <a:pPr indent="0" marL="0">
              <a:buNone/>
            </a:pPr>
            <a:r>
              <a:rPr lang="en-US" sz="1800" b="1" dirty="0">
                <a:solidFill>
                  <a:schemeClr val="tx1"/>
                </a:solidFill>
              </a:rPr>
              <a:t>Ana</a:t>
            </a:r>
            <a:pPr indent="0" marL="0">
              <a:buNone/>
            </a:pPr>
            <a:r>
              <a:rPr lang="en-US" sz="1500" dirty="0">
                <a:solidFill>
                  <a:schemeClr val="tx1"/>
                </a:solidFill>
              </a:rPr>
              <a:t>  signs first</a:t>
            </a:r>
            <a:endParaRPr lang="en-US" sz="1800" dirty="0"/>
          </a:p>
        </p:txBody>
      </p:sp>
      <p:sp>
        <p:nvSpPr>
          <p:cNvPr id="9" name="Order 2"/>
          <p:cNvSpPr/>
          <p:nvPr/>
        </p:nvSpPr>
        <p:spPr>
          <a:xfrm>
            <a:off x="640080" y="3154680"/>
            <a:ext cx="5029200" cy="822960"/>
          </a:xfrm>
          <a:prstGeom prst="roundRect">
            <a:avLst>
              <a:gd name="adj" fmla="val 11111"/>
            </a:avLst>
          </a:prstGeom>
          <a:solidFill>
            <a:schemeClr val="bg2"/>
          </a:solidFill>
          <a:ln/>
        </p:spPr>
      </p:sp>
      <p:sp>
        <p:nvSpPr>
          <p:cNvPr id="10" name="Order 2 circle"/>
          <p:cNvSpPr/>
          <p:nvPr/>
        </p:nvSpPr>
        <p:spPr>
          <a:xfrm>
            <a:off x="822960" y="3310128"/>
            <a:ext cx="512064" cy="512064"/>
          </a:xfrm>
          <a:prstGeom prst="ellipse">
            <a:avLst/>
          </a:prstGeom>
          <a:solidFill>
            <a:schemeClr val="accent4"/>
          </a:solidFill>
          <a:ln/>
        </p:spPr>
      </p:sp>
      <p:sp>
        <p:nvSpPr>
          <p:cNvPr id="11" name="Order 2 number"/>
          <p:cNvSpPr txBox="1"/>
          <p:nvPr/>
        </p:nvSpPr>
        <p:spPr>
          <a:xfrm>
            <a:off x="822960" y="3310128"/>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9"/>
          <p:cNvSpPr txBox="1"/>
          <p:nvPr/>
        </p:nvSpPr>
        <p:spPr>
          <a:xfrm>
            <a:off x="1554480" y="3246120"/>
            <a:ext cx="3931920" cy="640080"/>
          </a:xfrm>
          <a:prstGeom prst="rect">
            <a:avLst/>
          </a:prstGeom>
          <a:noFill/>
          <a:ln/>
        </p:spPr>
        <p:txBody>
          <a:bodyPr wrap="square" lIns="0" tIns="0" rIns="0" bIns="0" rtlCol="0" anchor="ctr"/>
          <a:lstStyle/>
          <a:p>
            <a:pPr indent="0" marL="0">
              <a:buNone/>
            </a:pPr>
            <a:r>
              <a:rPr lang="en-US" sz="1800" b="1" dirty="0">
                <a:solidFill>
                  <a:schemeClr val="tx1"/>
                </a:solidFill>
              </a:rPr>
              <a:t>Bento</a:t>
            </a:r>
            <a:pPr indent="0" marL="0">
              <a:buNone/>
            </a:pPr>
            <a:r>
              <a:rPr lang="en-US" sz="1500" dirty="0">
                <a:solidFill>
                  <a:schemeClr val="tx1"/>
                </a:solidFill>
              </a:rPr>
              <a:t>  signs second</a:t>
            </a:r>
            <a:endParaRPr lang="en-US" sz="1800" dirty="0"/>
          </a:p>
        </p:txBody>
      </p:sp>
      <p:sp>
        <p:nvSpPr>
          <p:cNvPr id="13" name="Order 3"/>
          <p:cNvSpPr/>
          <p:nvPr/>
        </p:nvSpPr>
        <p:spPr>
          <a:xfrm>
            <a:off x="640080" y="4160520"/>
            <a:ext cx="5029200" cy="822960"/>
          </a:xfrm>
          <a:prstGeom prst="roundRect">
            <a:avLst>
              <a:gd name="adj" fmla="val 11111"/>
            </a:avLst>
          </a:prstGeom>
          <a:solidFill>
            <a:schemeClr val="bg2"/>
          </a:solidFill>
          <a:ln/>
        </p:spPr>
      </p:sp>
      <p:sp>
        <p:nvSpPr>
          <p:cNvPr id="14" name="Order 3 circle"/>
          <p:cNvSpPr/>
          <p:nvPr/>
        </p:nvSpPr>
        <p:spPr>
          <a:xfrm>
            <a:off x="822960" y="4315968"/>
            <a:ext cx="512064" cy="512064"/>
          </a:xfrm>
          <a:prstGeom prst="ellipse">
            <a:avLst/>
          </a:prstGeom>
          <a:solidFill>
            <a:schemeClr val="tx1"/>
          </a:solidFill>
          <a:ln/>
        </p:spPr>
      </p:sp>
      <p:sp>
        <p:nvSpPr>
          <p:cNvPr id="15" name="Order 3 number"/>
          <p:cNvSpPr txBox="1"/>
          <p:nvPr/>
        </p:nvSpPr>
        <p:spPr>
          <a:xfrm>
            <a:off x="822960" y="4315968"/>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3"/>
          <p:cNvSpPr txBox="1"/>
          <p:nvPr/>
        </p:nvSpPr>
        <p:spPr>
          <a:xfrm>
            <a:off x="1554480" y="4251960"/>
            <a:ext cx="3931920" cy="640080"/>
          </a:xfrm>
          <a:prstGeom prst="rect">
            <a:avLst/>
          </a:prstGeom>
          <a:noFill/>
          <a:ln/>
        </p:spPr>
        <p:txBody>
          <a:bodyPr wrap="square" lIns="0" tIns="0" rIns="0" bIns="0" rtlCol="0" anchor="ctr"/>
          <a:lstStyle/>
          <a:p>
            <a:pPr indent="0" marL="0">
              <a:buNone/>
            </a:pPr>
            <a:r>
              <a:rPr lang="en-US" sz="1800" b="1" dirty="0">
                <a:solidFill>
                  <a:schemeClr val="tx1"/>
                </a:solidFill>
              </a:rPr>
              <a:t>Carla</a:t>
            </a:r>
            <a:pPr indent="0" marL="0">
              <a:buNone/>
            </a:pPr>
            <a:r>
              <a:rPr lang="en-US" sz="1500" dirty="0">
                <a:solidFill>
                  <a:schemeClr val="tx1"/>
                </a:solidFill>
              </a:rPr>
              <a:t>  signs last</a:t>
            </a:r>
            <a:endParaRPr lang="en-US" sz="1800" dirty="0"/>
          </a:p>
        </p:txBody>
      </p:sp>
      <p:sp>
        <p:nvSpPr>
          <p:cNvPr id="17" name="Text 14"/>
          <p:cNvSpPr txBox="1"/>
          <p:nvPr/>
        </p:nvSpPr>
        <p:spPr>
          <a:xfrm>
            <a:off x="640080" y="5257800"/>
            <a:ext cx="5029200" cy="822960"/>
          </a:xfrm>
          <a:prstGeom prst="rect">
            <a:avLst/>
          </a:prstGeom>
          <a:noFill/>
          <a:ln/>
        </p:spPr>
        <p:txBody>
          <a:bodyPr wrap="square" lIns="0" tIns="0" rIns="0" bIns="0" rtlCol="0" anchor="t"/>
          <a:lstStyle/>
          <a:p>
            <a:pPr indent="0" marL="0">
              <a:buNone/>
            </a:pPr>
            <a:r>
              <a:rPr lang="en-US" sz="1400" dirty="0">
                <a:solidFill>
                  <a:schemeClr val="tx1"/>
                </a:solidFill>
              </a:rPr>
              <a:t>The activity is approved only after the last signature. An interim signs in the place of the next name; administrators are never held up.</a:t>
            </a:r>
            <a:endParaRPr lang="en-US" sz="1400" dirty="0"/>
          </a:p>
        </p:txBody>
      </p:sp>
      <p:sp>
        <p:nvSpPr>
          <p:cNvPr id="18" name="Text 15"/>
          <p:cNvSpPr txBox="1"/>
          <p:nvPr/>
        </p:nvSpPr>
        <p:spPr>
          <a:xfrm>
            <a:off x="6309360" y="1554480"/>
            <a:ext cx="5212080" cy="45720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Rounds and the record</a:t>
            </a:r>
            <a:endParaRPr lang="en-US" sz="2200" dirty="0"/>
          </a:p>
        </p:txBody>
      </p:sp>
      <p:sp>
        <p:nvSpPr>
          <p:cNvPr id="19" name="Round 1"/>
          <p:cNvSpPr/>
          <p:nvPr/>
        </p:nvSpPr>
        <p:spPr>
          <a:xfrm>
            <a:off x="6309360" y="2148840"/>
            <a:ext cx="5239512" cy="1325880"/>
          </a:xfrm>
          <a:prstGeom prst="roundRect">
            <a:avLst>
              <a:gd name="adj" fmla="val 6897"/>
            </a:avLst>
          </a:prstGeom>
          <a:solidFill>
            <a:schemeClr val="bg2"/>
          </a:solidFill>
          <a:ln/>
        </p:spPr>
      </p:sp>
      <p:sp>
        <p:nvSpPr>
          <p:cNvPr id="20" name="Text 17"/>
          <p:cNvSpPr txBox="1"/>
          <p:nvPr/>
        </p:nvSpPr>
        <p:spPr>
          <a:xfrm>
            <a:off x="6537960" y="2240280"/>
            <a:ext cx="4846320" cy="1188720"/>
          </a:xfrm>
          <a:prstGeom prst="rect">
            <a:avLst/>
          </a:prstGeom>
          <a:noFill/>
          <a:ln/>
        </p:spPr>
        <p:txBody>
          <a:bodyPr wrap="square" lIns="0" tIns="0" rIns="0" bIns="0" rtlCol="0" anchor="t"/>
          <a:lstStyle/>
          <a:p>
            <a:pPr indent="0" marL="0">
              <a:buNone/>
            </a:pPr>
            <a:r>
              <a:rPr lang="en-US" sz="1600" b="1" dirty="0">
                <a:solidFill>
                  <a:schemeClr val="accent6"/>
                </a:solidFill>
              </a:rPr>
              <a:t>Round 1</a:t>
            </a:r>
            <a:endParaRPr lang="en-US" sz="1600" dirty="0"/>
          </a:p>
          <a:p>
            <a:pPr indent="0" marL="0">
              <a:buNone/>
            </a:pPr>
            <a:r>
              <a:rPr lang="en-US" sz="1400" dirty="0">
                <a:solidFill>
                  <a:schemeClr val="tx1"/>
                </a:solidFill>
              </a:rPr>
              <a:t>Ana signed, Bento signed. Carla returned the activity with a reason.</a:t>
            </a:r>
            <a:endParaRPr lang="en-US" sz="1600" dirty="0"/>
          </a:p>
          <a:p>
            <a:pPr indent="0" marL="0">
              <a:buNone/>
            </a:pPr>
            <a:r>
              <a:rPr lang="en-US" sz="1300" i="1" dirty="0">
                <a:solidFill>
                  <a:schemeClr val="tx1"/>
                </a:solidFill>
              </a:rPr>
              <a:t>Both signatures: voided (by Carla, with the reason). Kept.</a:t>
            </a:r>
            <a:endParaRPr lang="en-US" sz="1600" dirty="0"/>
          </a:p>
        </p:txBody>
      </p:sp>
      <p:sp>
        <p:nvSpPr>
          <p:cNvPr id="21" name="Round 2"/>
          <p:cNvSpPr/>
          <p:nvPr/>
        </p:nvSpPr>
        <p:spPr>
          <a:xfrm>
            <a:off x="6309360" y="3611880"/>
            <a:ext cx="5239512" cy="1325880"/>
          </a:xfrm>
          <a:prstGeom prst="roundRect">
            <a:avLst>
              <a:gd name="adj" fmla="val 6897"/>
            </a:avLst>
          </a:prstGeom>
          <a:solidFill>
            <a:schemeClr val="bg2"/>
          </a:solidFill>
          <a:ln/>
        </p:spPr>
      </p:sp>
      <p:sp>
        <p:nvSpPr>
          <p:cNvPr id="22" name="Text 19"/>
          <p:cNvSpPr txBox="1"/>
          <p:nvPr/>
        </p:nvSpPr>
        <p:spPr>
          <a:xfrm>
            <a:off x="6537960" y="3703320"/>
            <a:ext cx="4846320" cy="1188720"/>
          </a:xfrm>
          <a:prstGeom prst="rect">
            <a:avLst/>
          </a:prstGeom>
          <a:noFill/>
          <a:ln/>
        </p:spPr>
        <p:txBody>
          <a:bodyPr wrap="square" lIns="0" tIns="0" rIns="0" bIns="0" rtlCol="0" anchor="t"/>
          <a:lstStyle/>
          <a:p>
            <a:pPr indent="0" marL="0">
              <a:buNone/>
            </a:pPr>
            <a:r>
              <a:rPr lang="en-US" sz="1600" b="1" dirty="0">
                <a:solidFill>
                  <a:schemeClr val="accent4"/>
                </a:solidFill>
              </a:rPr>
              <a:t>Round 2</a:t>
            </a:r>
            <a:endParaRPr lang="en-US" sz="1600" dirty="0"/>
          </a:p>
          <a:p>
            <a:pPr indent="0" marL="0">
              <a:buNone/>
            </a:pPr>
            <a:r>
              <a:rPr lang="en-US" sz="1400" dirty="0">
                <a:solidFill>
                  <a:schemeClr val="tx1"/>
                </a:solidFill>
              </a:rPr>
              <a:t>The unit corrected it. Ana, Bento and Carla sign again, in order.</a:t>
            </a:r>
            <a:endParaRPr lang="en-US" sz="1600" dirty="0"/>
          </a:p>
          <a:p>
            <a:pPr indent="0" marL="0">
              <a:buNone/>
            </a:pPr>
            <a:r>
              <a:rPr lang="en-US" sz="1300" i="1" dirty="0">
                <a:solidFill>
                  <a:schemeClr val="tx1"/>
                </a:solidFill>
              </a:rPr>
              <a:t>Approved. All six signatures stay in the history.</a:t>
            </a:r>
            <a:endParaRPr lang="en-US" sz="1600" dirty="0"/>
          </a:p>
        </p:txBody>
      </p:sp>
      <p:sp>
        <p:nvSpPr>
          <p:cNvPr id="23" name="Text 20"/>
          <p:cNvSpPr txBox="1"/>
          <p:nvPr/>
        </p:nvSpPr>
        <p:spPr>
          <a:xfrm>
            <a:off x="6309360" y="5166360"/>
            <a:ext cx="5239512" cy="914400"/>
          </a:xfrm>
          <a:prstGeom prst="rect">
            <a:avLst/>
          </a:prstGeom>
          <a:noFill/>
          <a:ln/>
        </p:spPr>
        <p:txBody>
          <a:bodyPr wrap="square" lIns="0" tIns="0" rIns="0" bIns="0" rtlCol="0" anchor="t"/>
          <a:lstStyle/>
          <a:p>
            <a:pPr indent="0" marL="0">
              <a:buNone/>
            </a:pPr>
            <a:r>
              <a:rPr lang="en-US" sz="1400" dirty="0">
                <a:solidFill>
                  <a:schemeClr val="tx1"/>
                </a:solidFill>
              </a:rPr>
              <a:t>Signatures are never deleted: each belongs to a numbered round and is completed or voided, with who and why. Every change is also in the audit log.</a:t>
            </a:r>
            <a:endParaRPr lang="en-US" sz="14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Each directorate finalizes its own plan</a:t>
            </a:r>
            <a:endParaRPr lang="en-US" sz="3400" dirty="0"/>
          </a:p>
        </p:txBody>
      </p:sp>
      <p:sp>
        <p:nvSpPr>
          <p:cNvPr id="4" name="Frame activities"/>
          <p:cNvSpPr/>
          <p:nvPr/>
        </p:nvSpPr>
        <p:spPr>
          <a:xfrm>
            <a:off x="640080" y="1508760"/>
            <a:ext cx="6858000" cy="4320540"/>
          </a:xfrm>
          <a:prstGeom prst="rect">
            <a:avLst/>
          </a:prstGeom>
          <a:solidFill>
            <a:schemeClr val="bg2"/>
          </a:solidFill>
          <a:ln/>
        </p:spPr>
      </p:sp>
      <p:pic>
        <p:nvPicPr>
          <p:cNvPr id="5" name="Screenshot activities" descr="The planning banner on the activities page: 0 of 13 directorates finalized">    </p:cNvPr>
          <p:cNvPicPr>
            <a:picLocks noChangeAspect="1"/>
          </p:cNvPicPr>
          <p:nvPr/>
        </p:nvPicPr>
        <p:blipFill>
          <a:blip r:embed="rId1"/>
          <a:stretch>
            <a:fillRect/>
          </a:stretch>
        </p:blipFill>
        <p:spPr>
          <a:xfrm>
            <a:off x="685800" y="1554480"/>
            <a:ext cx="6766560" cy="4229100"/>
          </a:xfrm>
          <a:prstGeom prst="rect">
            <a:avLst/>
          </a:prstGeom>
        </p:spPr>
      </p:pic>
      <p:sp>
        <p:nvSpPr>
          <p:cNvPr id="6" name="Text 2"/>
          <p:cNvSpPr txBox="1"/>
          <p:nvPr/>
        </p:nvSpPr>
        <p:spPr>
          <a:xfrm>
            <a:off x="640080" y="5902452"/>
            <a:ext cx="6858000" cy="411480"/>
          </a:xfrm>
          <a:prstGeom prst="rect">
            <a:avLst/>
          </a:prstGeom>
          <a:noFill/>
          <a:ln/>
        </p:spPr>
        <p:txBody>
          <a:bodyPr wrap="square" lIns="0" tIns="0" rIns="0" bIns="0" rtlCol="0" anchor="t"/>
          <a:lstStyle/>
          <a:p>
            <a:pPr indent="0" marL="0">
              <a:buNone/>
            </a:pPr>
            <a:r>
              <a:rPr lang="en-US" sz="1200" i="1" dirty="0">
                <a:solidFill>
                  <a:schemeClr val="accent5"/>
                </a:solidFill>
              </a:rPr>
              <a:t>The banner counts the directorates that have finalized</a:t>
            </a:r>
            <a:endParaRPr lang="en-US" sz="1200" dirty="0"/>
          </a:p>
        </p:txBody>
      </p:sp>
      <p:sp>
        <p:nvSpPr>
          <p:cNvPr id="7" name="Text 3"/>
          <p:cNvSpPr txBox="1"/>
          <p:nvPr/>
        </p:nvSpPr>
        <p:spPr>
          <a:xfrm>
            <a:off x="7818120" y="15087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Finalized by the head</a:t>
            </a:r>
            <a:endParaRPr lang="en-US" sz="1800" dirty="0"/>
          </a:p>
          <a:p>
            <a:pPr indent="0" marL="0">
              <a:buNone/>
            </a:pPr>
            <a:r>
              <a:rPr lang="en-US" sz="1400" dirty="0">
                <a:solidFill>
                  <a:schemeClr val="tx1"/>
                </a:solidFill>
              </a:rPr>
              <a:t>When everything in the directorate is decided, its head finalizes the plan, with a remark.</a:t>
            </a:r>
            <a:endParaRPr lang="en-US" sz="1800" dirty="0"/>
          </a:p>
        </p:txBody>
      </p:sp>
      <p:sp>
        <p:nvSpPr>
          <p:cNvPr id="8" name="Text 4"/>
          <p:cNvSpPr txBox="1"/>
          <p:nvPr/>
        </p:nvSpPr>
        <p:spPr>
          <a:xfrm>
            <a:off x="7818120" y="31089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In order</a:t>
            </a:r>
            <a:endParaRPr lang="en-US" sz="1800" dirty="0"/>
          </a:p>
          <a:p>
            <a:pPr indent="0" marL="0">
              <a:buNone/>
            </a:pPr>
            <a:r>
              <a:rPr lang="en-US" sz="1400" dirty="0">
                <a:solidFill>
                  <a:schemeClr val="tx1"/>
                </a:solidFill>
              </a:rPr>
              <a:t>Submit everything, then approve, then finalize. Reports warn when the plan is not fully approved before they are printed.</a:t>
            </a:r>
            <a:endParaRPr lang="en-US" sz="1800" dirty="0"/>
          </a:p>
        </p:txBody>
      </p:sp>
      <p:sp>
        <p:nvSpPr>
          <p:cNvPr id="9" name="Text 5"/>
          <p:cNvSpPr txBox="1"/>
          <p:nvPr/>
        </p:nvSpPr>
        <p:spPr>
          <a:xfrm>
            <a:off x="7818120" y="47091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Reopened with a reason</a:t>
            </a:r>
            <a:endParaRPr lang="en-US" sz="1800" dirty="0"/>
          </a:p>
          <a:p>
            <a:pPr indent="0" marL="0">
              <a:buNone/>
            </a:pPr>
            <a:r>
              <a:rPr lang="en-US" sz="1400" dirty="0">
                <a:solidFill>
                  <a:schemeClr val="tx1"/>
                </a:solidFill>
              </a:rPr>
              <a:t>Only the head or an administrator, with a reason; all of it is in the audit trail. Approved activities can still be revised.</a:t>
            </a:r>
            <a:endParaRPr lang="en-US" sz="18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Changing an approved activity: a revision</a:t>
            </a:r>
            <a:endParaRPr lang="en-US" sz="3400" dirty="0"/>
          </a:p>
        </p:txBody>
      </p:sp>
      <p:sp>
        <p:nvSpPr>
          <p:cNvPr id="4" name="Frame activity-revision"/>
          <p:cNvSpPr/>
          <p:nvPr/>
        </p:nvSpPr>
        <p:spPr>
          <a:xfrm>
            <a:off x="640080" y="1508760"/>
            <a:ext cx="6858000" cy="4320540"/>
          </a:xfrm>
          <a:prstGeom prst="rect">
            <a:avLst/>
          </a:prstGeom>
          <a:solidFill>
            <a:schemeClr val="bg2"/>
          </a:solidFill>
          <a:ln/>
        </p:spPr>
      </p:sp>
      <p:pic>
        <p:nvPicPr>
          <p:cNvPr id="5" name="Screenshot activity-revision" descr="An activity with a revision in progress: the reason and what changes against version 1">    </p:cNvPr>
          <p:cNvPicPr>
            <a:picLocks noChangeAspect="1"/>
          </p:cNvPicPr>
          <p:nvPr/>
        </p:nvPicPr>
        <p:blipFill>
          <a:blip r:embed="rId1"/>
          <a:stretch>
            <a:fillRect/>
          </a:stretch>
        </p:blipFill>
        <p:spPr>
          <a:xfrm>
            <a:off x="685800" y="1554480"/>
            <a:ext cx="6766560" cy="4229100"/>
          </a:xfrm>
          <a:prstGeom prst="rect">
            <a:avLst/>
          </a:prstGeom>
        </p:spPr>
      </p:pic>
      <p:sp>
        <p:nvSpPr>
          <p:cNvPr id="6" name="Text 2"/>
          <p:cNvSpPr txBox="1"/>
          <p:nvPr/>
        </p:nvSpPr>
        <p:spPr>
          <a:xfrm>
            <a:off x="640080" y="5902452"/>
            <a:ext cx="6858000" cy="411480"/>
          </a:xfrm>
          <a:prstGeom prst="rect">
            <a:avLst/>
          </a:prstGeom>
          <a:noFill/>
          <a:ln/>
        </p:spPr>
        <p:txBody>
          <a:bodyPr wrap="square" lIns="0" tIns="0" rIns="0" bIns="0" rtlCol="0" anchor="t"/>
          <a:lstStyle/>
          <a:p>
            <a:pPr indent="0" marL="0">
              <a:buNone/>
            </a:pPr>
            <a:r>
              <a:rPr lang="en-US" sz="1200" i="1" dirty="0">
                <a:solidFill>
                  <a:schemeClr val="accent5"/>
                </a:solidFill>
              </a:rPr>
              <a:t>A revision in progress: the reason, and what changes against the version in force</a:t>
            </a:r>
            <a:endParaRPr lang="en-US" sz="1200" dirty="0"/>
          </a:p>
        </p:txBody>
      </p:sp>
      <p:sp>
        <p:nvSpPr>
          <p:cNvPr id="7" name="Text 3"/>
          <p:cNvSpPr txBox="1"/>
          <p:nvPr/>
        </p:nvSpPr>
        <p:spPr>
          <a:xfrm>
            <a:off x="7818120" y="15087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Start with a reason</a:t>
            </a:r>
            <a:endParaRPr lang="en-US" sz="1800" dirty="0"/>
          </a:p>
          <a:p>
            <a:pPr indent="0" marL="0">
              <a:buNone/>
            </a:pPr>
            <a:r>
              <a:rPr lang="en-US" sz="1400" dirty="0">
                <a:solidFill>
                  <a:schemeClr val="tx1"/>
                </a:solidFill>
              </a:rPr>
              <a:t>Revise on the approved activity. The reason is required and is kept with the new version.</a:t>
            </a:r>
            <a:endParaRPr lang="en-US" sz="1800" dirty="0"/>
          </a:p>
        </p:txBody>
      </p:sp>
      <p:sp>
        <p:nvSpPr>
          <p:cNvPr id="8" name="Text 4"/>
          <p:cNvSpPr txBox="1"/>
          <p:nvPr/>
        </p:nvSpPr>
        <p:spPr>
          <a:xfrm>
            <a:off x="7818120" y="31089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The approved version stays in force</a:t>
            </a:r>
            <a:endParaRPr lang="en-US" sz="1800" dirty="0"/>
          </a:p>
          <a:p>
            <a:pPr indent="0" marL="0">
              <a:buNone/>
            </a:pPr>
            <a:r>
              <a:rPr lang="en-US" sz="1400" dirty="0">
                <a:solidFill>
                  <a:schemeClr val="tx1"/>
                </a:solidFill>
              </a:rPr>
              <a:t>Its amounts are untouched while the revision is pending; reporting goes on against them.</a:t>
            </a:r>
            <a:endParaRPr lang="en-US" sz="1800" dirty="0"/>
          </a:p>
        </p:txBody>
      </p:sp>
      <p:sp>
        <p:nvSpPr>
          <p:cNvPr id="9" name="Text 5"/>
          <p:cNvSpPr txBox="1"/>
          <p:nvPr/>
        </p:nvSpPr>
        <p:spPr>
          <a:xfrm>
            <a:off x="7818120" y="47091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Approved again, in full</a:t>
            </a:r>
            <a:endParaRPr lang="en-US" sz="1800" dirty="0"/>
          </a:p>
          <a:p>
            <a:pPr indent="0" marL="0">
              <a:buNone/>
            </a:pPr>
            <a:r>
              <a:rPr lang="en-US" sz="1400" dirty="0">
                <a:solidFill>
                  <a:schemeClr val="tx1"/>
                </a:solidFill>
              </a:rPr>
              <a:t>Prepare, certify, approve, including lists that sign in order; then it becomes version 2.</a:t>
            </a:r>
            <a:endParaRPr lang="en-US" sz="18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Every version is kept</a:t>
            </a:r>
            <a:endParaRPr lang="en-US" sz="3400" dirty="0"/>
          </a:p>
        </p:txBody>
      </p:sp>
      <p:sp>
        <p:nvSpPr>
          <p:cNvPr id="4" name="Frame activity-history"/>
          <p:cNvSpPr/>
          <p:nvPr/>
        </p:nvSpPr>
        <p:spPr>
          <a:xfrm>
            <a:off x="640080" y="1508760"/>
            <a:ext cx="4663440" cy="4247388"/>
          </a:xfrm>
          <a:prstGeom prst="rect">
            <a:avLst/>
          </a:prstGeom>
          <a:solidFill>
            <a:schemeClr val="bg2"/>
          </a:solidFill>
          <a:ln/>
        </p:spPr>
      </p:sp>
      <p:pic>
        <p:nvPicPr>
          <p:cNvPr id="5" name="Screenshot activity-history" descr="The history of an activity with its approved versions">    </p:cNvPr>
          <p:cNvPicPr>
            <a:picLocks noChangeAspect="1"/>
          </p:cNvPicPr>
          <p:nvPr/>
        </p:nvPicPr>
        <p:blipFill>
          <a:blip r:embed="rId1"/>
          <a:stretch>
            <a:fillRect/>
          </a:stretch>
        </p:blipFill>
        <p:spPr>
          <a:xfrm>
            <a:off x="685800" y="1554480"/>
            <a:ext cx="4572000" cy="4155948"/>
          </a:xfrm>
          <a:prstGeom prst="rect">
            <a:avLst/>
          </a:prstGeom>
        </p:spPr>
      </p:pic>
      <p:sp>
        <p:nvSpPr>
          <p:cNvPr id="6" name="Text 2"/>
          <p:cNvSpPr txBox="1"/>
          <p:nvPr/>
        </p:nvSpPr>
        <p:spPr>
          <a:xfrm>
            <a:off x="640080" y="5829300"/>
            <a:ext cx="4663440" cy="411480"/>
          </a:xfrm>
          <a:prstGeom prst="rect">
            <a:avLst/>
          </a:prstGeom>
          <a:noFill/>
          <a:ln/>
        </p:spPr>
        <p:txBody>
          <a:bodyPr wrap="square" lIns="0" tIns="0" rIns="0" bIns="0" rtlCol="0" anchor="t"/>
          <a:lstStyle/>
          <a:p>
            <a:pPr indent="0" marL="0">
              <a:buNone/>
            </a:pPr>
            <a:r>
              <a:rPr lang="en-US" sz="1200" i="1" dirty="0">
                <a:solidFill>
                  <a:schemeClr val="accent5"/>
                </a:solidFill>
              </a:rPr>
              <a:t>Version 2 in force; version 1 kept</a:t>
            </a:r>
            <a:endParaRPr lang="en-US" sz="1200" dirty="0"/>
          </a:p>
        </p:txBody>
      </p:sp>
      <p:sp>
        <p:nvSpPr>
          <p:cNvPr id="7" name="Text 3"/>
          <p:cNvSpPr txBox="1"/>
          <p:nvPr/>
        </p:nvSpPr>
        <p:spPr>
          <a:xfrm>
            <a:off x="5577840" y="1508760"/>
            <a:ext cx="5989320" cy="1463040"/>
          </a:xfrm>
          <a:prstGeom prst="rect">
            <a:avLst/>
          </a:prstGeom>
          <a:noFill/>
          <a:ln/>
        </p:spPr>
        <p:txBody>
          <a:bodyPr wrap="square" lIns="0" tIns="0" rIns="0" bIns="0" rtlCol="0" anchor="t"/>
          <a:lstStyle/>
          <a:p>
            <a:pPr indent="0" marL="0">
              <a:buNone/>
            </a:pPr>
            <a:r>
              <a:rPr lang="en-US" sz="1800" b="1" dirty="0">
                <a:solidFill>
                  <a:schemeClr val="tx1"/>
                </a:solidFill>
              </a:rPr>
              <a:t>Who, when and why</a:t>
            </a:r>
            <a:endParaRPr lang="en-US" sz="1800" dirty="0"/>
          </a:p>
          <a:p>
            <a:pPr indent="0" marL="0">
              <a:buNone/>
            </a:pPr>
            <a:r>
              <a:rPr lang="en-US" sz="1400" dirty="0">
                <a:solidFill>
                  <a:schemeClr val="tx1"/>
                </a:solidFill>
              </a:rPr>
              <a:t>Each version shows who approved it, when, the total, and the reason for the revision.</a:t>
            </a:r>
            <a:endParaRPr lang="en-US" sz="1800" dirty="0"/>
          </a:p>
        </p:txBody>
      </p:sp>
      <p:sp>
        <p:nvSpPr>
          <p:cNvPr id="8" name="Text 4"/>
          <p:cNvSpPr txBox="1"/>
          <p:nvPr/>
        </p:nvSpPr>
        <p:spPr>
          <a:xfrm>
            <a:off x="5577840" y="3108960"/>
            <a:ext cx="5989320" cy="1463040"/>
          </a:xfrm>
          <a:prstGeom prst="rect">
            <a:avLst/>
          </a:prstGeom>
          <a:noFill/>
          <a:ln/>
        </p:spPr>
        <p:txBody>
          <a:bodyPr wrap="square" lIns="0" tIns="0" rIns="0" bIns="0" rtlCol="0" anchor="t"/>
          <a:lstStyle/>
          <a:p>
            <a:pPr indent="0" marL="0">
              <a:buNone/>
            </a:pPr>
            <a:r>
              <a:rPr lang="en-US" sz="1800" b="1" dirty="0">
                <a:solidFill>
                  <a:schemeClr val="tx1"/>
                </a:solidFill>
              </a:rPr>
              <a:t>What was approved</a:t>
            </a:r>
            <a:endParaRPr lang="en-US" sz="1800" dirty="0"/>
          </a:p>
          <a:p>
            <a:pPr indent="0" marL="0">
              <a:buNone/>
            </a:pPr>
            <a:r>
              <a:rPr lang="en-US" sz="1400" dirty="0">
                <a:solidFill>
                  <a:schemeClr val="tx1"/>
                </a:solidFill>
              </a:rPr>
              <a:t>Open any version to see its budget lines and its indicators as they were.</a:t>
            </a:r>
            <a:endParaRPr lang="en-US" sz="1800" dirty="0"/>
          </a:p>
        </p:txBody>
      </p:sp>
      <p:sp>
        <p:nvSpPr>
          <p:cNvPr id="9" name="Text 5"/>
          <p:cNvSpPr txBox="1"/>
          <p:nvPr/>
        </p:nvSpPr>
        <p:spPr>
          <a:xfrm>
            <a:off x="5577840" y="4709160"/>
            <a:ext cx="5989320" cy="1463040"/>
          </a:xfrm>
          <a:prstGeom prst="rect">
            <a:avLst/>
          </a:prstGeom>
          <a:noFill/>
          <a:ln/>
        </p:spPr>
        <p:txBody>
          <a:bodyPr wrap="square" lIns="0" tIns="0" rIns="0" bIns="0" rtlCol="0" anchor="t"/>
          <a:lstStyle/>
          <a:p>
            <a:pPr indent="0" marL="0">
              <a:buNone/>
            </a:pPr>
            <a:r>
              <a:rPr lang="en-US" sz="1800" b="1" dirty="0">
                <a:solidFill>
                  <a:schemeClr val="tx1"/>
                </a:solidFill>
              </a:rPr>
              <a:t>Reported figures stay tied</a:t>
            </a:r>
            <a:endParaRPr lang="en-US" sz="1800" dirty="0"/>
          </a:p>
          <a:p>
            <a:pPr indent="0" marL="0">
              <a:buNone/>
            </a:pPr>
            <a:r>
              <a:rPr lang="en-US" sz="1400" dirty="0">
                <a:solidFill>
                  <a:schemeClr val="tx1"/>
                </a:solidFill>
              </a:rPr>
              <a:t>Lines and indicators with reported figures are changed, never removed; the activity is never deleted.</a:t>
            </a:r>
            <a:endParaRPr lang="en-US" sz="18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Carrying out the plan: report, verify, compile</a:t>
            </a:r>
            <a:endParaRPr lang="en-US" sz="3400" dirty="0"/>
          </a:p>
        </p:txBody>
      </p:sp>
      <p:sp>
        <p:nvSpPr>
          <p:cNvPr id="4" name="Exec 1"/>
          <p:cNvSpPr/>
          <p:nvPr/>
        </p:nvSpPr>
        <p:spPr>
          <a:xfrm>
            <a:off x="640080" y="1600200"/>
            <a:ext cx="3502152" cy="2011680"/>
          </a:xfrm>
          <a:prstGeom prst="roundRect">
            <a:avLst>
              <a:gd name="adj" fmla="val 4545"/>
            </a:avLst>
          </a:prstGeom>
          <a:solidFill>
            <a:schemeClr val="bg2"/>
          </a:solidFill>
          <a:ln/>
        </p:spPr>
      </p:sp>
      <p:sp>
        <p:nvSpPr>
          <p:cNvPr id="5" name="Exec circle 1"/>
          <p:cNvSpPr/>
          <p:nvPr/>
        </p:nvSpPr>
        <p:spPr>
          <a:xfrm>
            <a:off x="914400" y="1874520"/>
            <a:ext cx="640080" cy="640080"/>
          </a:xfrm>
          <a:prstGeom prst="ellipse">
            <a:avLst/>
          </a:prstGeom>
          <a:solidFill>
            <a:schemeClr val="accent1"/>
          </a:solidFill>
          <a:ln/>
        </p:spPr>
      </p:sp>
      <p:pic>
        <p:nvPicPr>
          <p:cNvPr id="6" name="Exec icon 1" descr="Monthly executed amount">    </p:cNvPr>
          <p:cNvPicPr>
            <a:picLocks noChangeAspect="1"/>
          </p:cNvPicPr>
          <p:nvPr/>
        </p:nvPicPr>
        <p:blipFill>
          <a:blip r:embed="rId1"/>
          <a:stretch>
            <a:fillRect/>
          </a:stretch>
        </p:blipFill>
        <p:spPr>
          <a:xfrm>
            <a:off x="1078992" y="2039112"/>
            <a:ext cx="310896" cy="310896"/>
          </a:xfrm>
          <a:prstGeom prst="rect">
            <a:avLst/>
          </a:prstGeom>
        </p:spPr>
      </p:pic>
      <p:sp>
        <p:nvSpPr>
          <p:cNvPr id="7" name="Text 3"/>
          <p:cNvSpPr txBox="1"/>
          <p:nvPr/>
        </p:nvSpPr>
        <p:spPr>
          <a:xfrm>
            <a:off x="1691640" y="187452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Monthly executed amount</a:t>
            </a:r>
            <a:endParaRPr lang="en-US" sz="1700" dirty="0"/>
          </a:p>
        </p:txBody>
      </p:sp>
      <p:sp>
        <p:nvSpPr>
          <p:cNvPr id="8" name="Text 4"/>
          <p:cNvSpPr txBox="1"/>
          <p:nvPr/>
        </p:nvSpPr>
        <p:spPr>
          <a:xfrm>
            <a:off x="914400" y="2651760"/>
            <a:ext cx="2953512" cy="914400"/>
          </a:xfrm>
          <a:prstGeom prst="rect">
            <a:avLst/>
          </a:prstGeom>
          <a:noFill/>
          <a:ln/>
        </p:spPr>
        <p:txBody>
          <a:bodyPr wrap="square" lIns="0" tIns="0" rIns="0" bIns="0" rtlCol="0" anchor="t"/>
          <a:lstStyle/>
          <a:p>
            <a:pPr indent="0" marL="0">
              <a:buNone/>
            </a:pPr>
            <a:r>
              <a:rPr lang="en-US" sz="1400" dirty="0">
                <a:solidFill>
                  <a:schemeClr val="tx1"/>
                </a:solidFill>
              </a:rPr>
              <a:t>One amount for each budget line, with what is left of the approved amount shown as it is typed.</a:t>
            </a:r>
            <a:endParaRPr lang="en-US" sz="1400" dirty="0"/>
          </a:p>
        </p:txBody>
      </p:sp>
      <p:sp>
        <p:nvSpPr>
          <p:cNvPr id="9" name="Exec 2"/>
          <p:cNvSpPr/>
          <p:nvPr/>
        </p:nvSpPr>
        <p:spPr>
          <a:xfrm>
            <a:off x="4343400" y="1600200"/>
            <a:ext cx="3502152" cy="2011680"/>
          </a:xfrm>
          <a:prstGeom prst="roundRect">
            <a:avLst>
              <a:gd name="adj" fmla="val 4545"/>
            </a:avLst>
          </a:prstGeom>
          <a:solidFill>
            <a:schemeClr val="bg2"/>
          </a:solidFill>
          <a:ln/>
        </p:spPr>
      </p:sp>
      <p:sp>
        <p:nvSpPr>
          <p:cNvPr id="10" name="Exec circle 2"/>
          <p:cNvSpPr/>
          <p:nvPr/>
        </p:nvSpPr>
        <p:spPr>
          <a:xfrm>
            <a:off x="4617720" y="1874520"/>
            <a:ext cx="640080" cy="640080"/>
          </a:xfrm>
          <a:prstGeom prst="ellipse">
            <a:avLst/>
          </a:prstGeom>
          <a:solidFill>
            <a:schemeClr val="accent3"/>
          </a:solidFill>
          <a:ln/>
        </p:spPr>
      </p:sp>
      <p:pic>
        <p:nvPicPr>
          <p:cNvPr id="11" name="Exec icon 2" descr="Quarterly indicators">    </p:cNvPr>
          <p:cNvPicPr>
            <a:picLocks noChangeAspect="1"/>
          </p:cNvPicPr>
          <p:nvPr/>
        </p:nvPicPr>
        <p:blipFill>
          <a:blip r:embed="rId2"/>
          <a:stretch>
            <a:fillRect/>
          </a:stretch>
        </p:blipFill>
        <p:spPr>
          <a:xfrm>
            <a:off x="4782312" y="2039112"/>
            <a:ext cx="310896" cy="310896"/>
          </a:xfrm>
          <a:prstGeom prst="rect">
            <a:avLst/>
          </a:prstGeom>
        </p:spPr>
      </p:pic>
      <p:sp>
        <p:nvSpPr>
          <p:cNvPr id="12" name="Text 7"/>
          <p:cNvSpPr txBox="1"/>
          <p:nvPr/>
        </p:nvSpPr>
        <p:spPr>
          <a:xfrm>
            <a:off x="5394960" y="187452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Quarterly indicators</a:t>
            </a:r>
            <a:endParaRPr lang="en-US" sz="1700" dirty="0"/>
          </a:p>
        </p:txBody>
      </p:sp>
      <p:sp>
        <p:nvSpPr>
          <p:cNvPr id="13" name="Text 8"/>
          <p:cNvSpPr txBox="1"/>
          <p:nvPr/>
        </p:nvSpPr>
        <p:spPr>
          <a:xfrm>
            <a:off x="4617720" y="2651760"/>
            <a:ext cx="2953512" cy="914400"/>
          </a:xfrm>
          <a:prstGeom prst="rect">
            <a:avLst/>
          </a:prstGeom>
          <a:noFill/>
          <a:ln/>
        </p:spPr>
        <p:txBody>
          <a:bodyPr wrap="square" lIns="0" tIns="0" rIns="0" bIns="0" rtlCol="0" anchor="t"/>
          <a:lstStyle/>
          <a:p>
            <a:pPr indent="0" marL="0">
              <a:buNone/>
            </a:pPr>
            <a:r>
              <a:rPr lang="en-US" sz="1400" dirty="0">
                <a:solidFill>
                  <a:schemeClr val="tx1"/>
                </a:solidFill>
              </a:rPr>
              <a:t>Progress against each target, in the quarters its months fall in.</a:t>
            </a:r>
            <a:endParaRPr lang="en-US" sz="1400" dirty="0"/>
          </a:p>
        </p:txBody>
      </p:sp>
      <p:sp>
        <p:nvSpPr>
          <p:cNvPr id="14" name="Exec 3"/>
          <p:cNvSpPr/>
          <p:nvPr/>
        </p:nvSpPr>
        <p:spPr>
          <a:xfrm>
            <a:off x="8046720" y="1600200"/>
            <a:ext cx="3502152" cy="2011680"/>
          </a:xfrm>
          <a:prstGeom prst="roundRect">
            <a:avLst>
              <a:gd name="adj" fmla="val 4545"/>
            </a:avLst>
          </a:prstGeom>
          <a:solidFill>
            <a:schemeClr val="bg2"/>
          </a:solidFill>
          <a:ln/>
        </p:spPr>
      </p:sp>
      <p:sp>
        <p:nvSpPr>
          <p:cNvPr id="15" name="Exec circle 3"/>
          <p:cNvSpPr/>
          <p:nvPr/>
        </p:nvSpPr>
        <p:spPr>
          <a:xfrm>
            <a:off x="8321040" y="1874520"/>
            <a:ext cx="640080" cy="640080"/>
          </a:xfrm>
          <a:prstGeom prst="ellipse">
            <a:avLst/>
          </a:prstGeom>
          <a:solidFill>
            <a:schemeClr val="accent4"/>
          </a:solidFill>
          <a:ln/>
        </p:spPr>
      </p:sp>
      <p:pic>
        <p:nvPicPr>
          <p:cNvPr id="16" name="Exec icon 3" descr="Narratives">    </p:cNvPr>
          <p:cNvPicPr>
            <a:picLocks noChangeAspect="1"/>
          </p:cNvPicPr>
          <p:nvPr/>
        </p:nvPicPr>
        <p:blipFill>
          <a:blip r:embed="rId3"/>
          <a:stretch>
            <a:fillRect/>
          </a:stretch>
        </p:blipFill>
        <p:spPr>
          <a:xfrm>
            <a:off x="8485632" y="2039112"/>
            <a:ext cx="310896" cy="310896"/>
          </a:xfrm>
          <a:prstGeom prst="rect">
            <a:avLst/>
          </a:prstGeom>
        </p:spPr>
      </p:pic>
      <p:sp>
        <p:nvSpPr>
          <p:cNvPr id="17" name="Text 11"/>
          <p:cNvSpPr txBox="1"/>
          <p:nvPr/>
        </p:nvSpPr>
        <p:spPr>
          <a:xfrm>
            <a:off x="9098280" y="187452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Narratives</a:t>
            </a:r>
            <a:endParaRPr lang="en-US" sz="1700" dirty="0"/>
          </a:p>
        </p:txBody>
      </p:sp>
      <p:sp>
        <p:nvSpPr>
          <p:cNvPr id="18" name="Text 12"/>
          <p:cNvSpPr txBox="1"/>
          <p:nvPr/>
        </p:nvSpPr>
        <p:spPr>
          <a:xfrm>
            <a:off x="8321040" y="2651760"/>
            <a:ext cx="2953512" cy="914400"/>
          </a:xfrm>
          <a:prstGeom prst="rect">
            <a:avLst/>
          </a:prstGeom>
          <a:noFill/>
          <a:ln/>
        </p:spPr>
        <p:txBody>
          <a:bodyPr wrap="square" lIns="0" tIns="0" rIns="0" bIns="0" rtlCol="0" anchor="t"/>
          <a:lstStyle/>
          <a:p>
            <a:pPr indent="0" marL="0">
              <a:buNone/>
            </a:pPr>
            <a:r>
              <a:rPr lang="en-US" sz="1400" dirty="0">
                <a:solidFill>
                  <a:schemeClr val="tx1"/>
                </a:solidFill>
              </a:rPr>
              <a:t>Results achieved and constraints, for each month and each quarter.</a:t>
            </a:r>
            <a:endParaRPr lang="en-US" sz="1400" dirty="0"/>
          </a:p>
        </p:txBody>
      </p:sp>
      <p:sp>
        <p:nvSpPr>
          <p:cNvPr id="19" name="Exec 4"/>
          <p:cNvSpPr/>
          <p:nvPr/>
        </p:nvSpPr>
        <p:spPr>
          <a:xfrm>
            <a:off x="640080" y="3840480"/>
            <a:ext cx="3502152" cy="2011680"/>
          </a:xfrm>
          <a:prstGeom prst="roundRect">
            <a:avLst>
              <a:gd name="adj" fmla="val 4545"/>
            </a:avLst>
          </a:prstGeom>
          <a:solidFill>
            <a:schemeClr val="bg2"/>
          </a:solidFill>
          <a:ln/>
        </p:spPr>
      </p:sp>
      <p:sp>
        <p:nvSpPr>
          <p:cNvPr id="20" name="Exec circle 4"/>
          <p:cNvSpPr/>
          <p:nvPr/>
        </p:nvSpPr>
        <p:spPr>
          <a:xfrm>
            <a:off x="914400" y="4114800"/>
            <a:ext cx="640080" cy="640080"/>
          </a:xfrm>
          <a:prstGeom prst="ellipse">
            <a:avLst/>
          </a:prstGeom>
          <a:solidFill>
            <a:schemeClr val="accent6"/>
          </a:solidFill>
          <a:ln/>
        </p:spPr>
      </p:sp>
      <p:pic>
        <p:nvPicPr>
          <p:cNvPr id="21" name="Exec icon 4" descr="Verified by someone else">    </p:cNvPr>
          <p:cNvPicPr>
            <a:picLocks noChangeAspect="1"/>
          </p:cNvPicPr>
          <p:nvPr/>
        </p:nvPicPr>
        <p:blipFill>
          <a:blip r:embed="rId4"/>
          <a:stretch>
            <a:fillRect/>
          </a:stretch>
        </p:blipFill>
        <p:spPr>
          <a:xfrm>
            <a:off x="1078992" y="4279392"/>
            <a:ext cx="310896" cy="310896"/>
          </a:xfrm>
          <a:prstGeom prst="rect">
            <a:avLst/>
          </a:prstGeom>
        </p:spPr>
      </p:pic>
      <p:sp>
        <p:nvSpPr>
          <p:cNvPr id="22" name="Text 15"/>
          <p:cNvSpPr txBox="1"/>
          <p:nvPr/>
        </p:nvSpPr>
        <p:spPr>
          <a:xfrm>
            <a:off x="1691640" y="411480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Verified by someone else</a:t>
            </a:r>
            <a:endParaRPr lang="en-US" sz="1700" dirty="0"/>
          </a:p>
        </p:txBody>
      </p:sp>
      <p:sp>
        <p:nvSpPr>
          <p:cNvPr id="23" name="Text 16"/>
          <p:cNvSpPr txBox="1"/>
          <p:nvPr/>
        </p:nvSpPr>
        <p:spPr>
          <a:xfrm>
            <a:off x="914400" y="4892040"/>
            <a:ext cx="2953512" cy="914400"/>
          </a:xfrm>
          <a:prstGeom prst="rect">
            <a:avLst/>
          </a:prstGeom>
          <a:noFill/>
          <a:ln/>
        </p:spPr>
        <p:txBody>
          <a:bodyPr wrap="square" lIns="0" tIns="0" rIns="0" bIns="0" rtlCol="0" anchor="t"/>
          <a:lstStyle/>
          <a:p>
            <a:pPr indent="0" marL="0">
              <a:buNone/>
            </a:pPr>
            <a:r>
              <a:rPr lang="en-US" sz="1400" dirty="0">
                <a:solidFill>
                  <a:schemeClr val="tx1"/>
                </a:solidFill>
              </a:rPr>
              <a:t>Nobody verifies their own report; only verified figures reach the reports.</a:t>
            </a:r>
            <a:endParaRPr lang="en-US" sz="1400" dirty="0"/>
          </a:p>
        </p:txBody>
      </p:sp>
      <p:sp>
        <p:nvSpPr>
          <p:cNvPr id="24" name="Exec 5"/>
          <p:cNvSpPr/>
          <p:nvPr/>
        </p:nvSpPr>
        <p:spPr>
          <a:xfrm>
            <a:off x="4343400" y="3840480"/>
            <a:ext cx="3502152" cy="2011680"/>
          </a:xfrm>
          <a:prstGeom prst="roundRect">
            <a:avLst>
              <a:gd name="adj" fmla="val 4545"/>
            </a:avLst>
          </a:prstGeom>
          <a:solidFill>
            <a:schemeClr val="bg2"/>
          </a:solidFill>
          <a:ln/>
        </p:spPr>
      </p:sp>
      <p:sp>
        <p:nvSpPr>
          <p:cNvPr id="25" name="Exec circle 5"/>
          <p:cNvSpPr/>
          <p:nvPr/>
        </p:nvSpPr>
        <p:spPr>
          <a:xfrm>
            <a:off x="4617720" y="4114800"/>
            <a:ext cx="640080" cy="640080"/>
          </a:xfrm>
          <a:prstGeom prst="ellipse">
            <a:avLst/>
          </a:prstGeom>
          <a:solidFill>
            <a:schemeClr val="accent1"/>
          </a:solidFill>
          <a:ln/>
        </p:spPr>
      </p:sp>
      <p:pic>
        <p:nvPicPr>
          <p:cNvPr id="26" name="Exec icon 5" descr="Calendar">    </p:cNvPr>
          <p:cNvPicPr>
            <a:picLocks noChangeAspect="1"/>
          </p:cNvPicPr>
          <p:nvPr/>
        </p:nvPicPr>
        <p:blipFill>
          <a:blip r:embed="rId5"/>
          <a:stretch>
            <a:fillRect/>
          </a:stretch>
        </p:blipFill>
        <p:spPr>
          <a:xfrm>
            <a:off x="4782312" y="4279392"/>
            <a:ext cx="310896" cy="310896"/>
          </a:xfrm>
          <a:prstGeom prst="rect">
            <a:avLst/>
          </a:prstGeom>
        </p:spPr>
      </p:pic>
      <p:sp>
        <p:nvSpPr>
          <p:cNvPr id="27" name="Text 19"/>
          <p:cNvSpPr txBox="1"/>
          <p:nvPr/>
        </p:nvSpPr>
        <p:spPr>
          <a:xfrm>
            <a:off x="5394960" y="411480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Calendar</a:t>
            </a:r>
            <a:endParaRPr lang="en-US" sz="1700" dirty="0"/>
          </a:p>
        </p:txBody>
      </p:sp>
      <p:sp>
        <p:nvSpPr>
          <p:cNvPr id="28" name="Text 20"/>
          <p:cNvSpPr txBox="1"/>
          <p:nvPr/>
        </p:nvSpPr>
        <p:spPr>
          <a:xfrm>
            <a:off x="4617720" y="4892040"/>
            <a:ext cx="2953512" cy="914400"/>
          </a:xfrm>
          <a:prstGeom prst="rect">
            <a:avLst/>
          </a:prstGeom>
          <a:noFill/>
          <a:ln/>
        </p:spPr>
        <p:txBody>
          <a:bodyPr wrap="square" lIns="0" tIns="0" rIns="0" bIns="0" rtlCol="0" anchor="t"/>
          <a:lstStyle/>
          <a:p>
            <a:pPr indent="0" marL="0">
              <a:buNone/>
            </a:pPr>
            <a:r>
              <a:rPr lang="en-US" sz="1400" dirty="0">
                <a:solidFill>
                  <a:schemeClr val="tx1"/>
                </a:solidFill>
              </a:rPr>
              <a:t>A period outside its dates cannot be reported; a late unit can be given more time on its own.</a:t>
            </a:r>
            <a:endParaRPr lang="en-US" sz="1400" dirty="0"/>
          </a:p>
        </p:txBody>
      </p:sp>
      <p:sp>
        <p:nvSpPr>
          <p:cNvPr id="29" name="Exec 6"/>
          <p:cNvSpPr/>
          <p:nvPr/>
        </p:nvSpPr>
        <p:spPr>
          <a:xfrm>
            <a:off x="8046720" y="3840480"/>
            <a:ext cx="3502152" cy="2011680"/>
          </a:xfrm>
          <a:prstGeom prst="roundRect">
            <a:avLst>
              <a:gd name="adj" fmla="val 4545"/>
            </a:avLst>
          </a:prstGeom>
          <a:solidFill>
            <a:schemeClr val="bg2"/>
          </a:solidFill>
          <a:ln/>
        </p:spPr>
      </p:sp>
      <p:sp>
        <p:nvSpPr>
          <p:cNvPr id="30" name="Exec circle 6"/>
          <p:cNvSpPr/>
          <p:nvPr/>
        </p:nvSpPr>
        <p:spPr>
          <a:xfrm>
            <a:off x="8321040" y="4114800"/>
            <a:ext cx="640080" cy="640080"/>
          </a:xfrm>
          <a:prstGeom prst="ellipse">
            <a:avLst/>
          </a:prstGeom>
          <a:solidFill>
            <a:schemeClr val="accent3"/>
          </a:solidFill>
          <a:ln/>
        </p:spPr>
      </p:sp>
      <p:pic>
        <p:nvPicPr>
          <p:cNvPr id="31" name="Exec icon 6" descr="Compile the quarter">    </p:cNvPr>
          <p:cNvPicPr>
            <a:picLocks noChangeAspect="1"/>
          </p:cNvPicPr>
          <p:nvPr/>
        </p:nvPicPr>
        <p:blipFill>
          <a:blip r:embed="rId6"/>
          <a:stretch>
            <a:fillRect/>
          </a:stretch>
        </p:blipFill>
        <p:spPr>
          <a:xfrm>
            <a:off x="8485632" y="4279392"/>
            <a:ext cx="310896" cy="310896"/>
          </a:xfrm>
          <a:prstGeom prst="rect">
            <a:avLst/>
          </a:prstGeom>
        </p:spPr>
      </p:pic>
      <p:sp>
        <p:nvSpPr>
          <p:cNvPr id="32" name="Text 23"/>
          <p:cNvSpPr txBox="1"/>
          <p:nvPr/>
        </p:nvSpPr>
        <p:spPr>
          <a:xfrm>
            <a:off x="9098280" y="411480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Compile the quarter</a:t>
            </a:r>
            <a:endParaRPr lang="en-US" sz="1700" dirty="0"/>
          </a:p>
        </p:txBody>
      </p:sp>
      <p:sp>
        <p:nvSpPr>
          <p:cNvPr id="33" name="Text 24"/>
          <p:cNvSpPr txBox="1"/>
          <p:nvPr/>
        </p:nvSpPr>
        <p:spPr>
          <a:xfrm>
            <a:off x="8321040" y="4892040"/>
            <a:ext cx="2953512" cy="914400"/>
          </a:xfrm>
          <a:prstGeom prst="rect">
            <a:avLst/>
          </a:prstGeom>
          <a:noFill/>
          <a:ln/>
        </p:spPr>
        <p:txBody>
          <a:bodyPr wrap="square" lIns="0" tIns="0" rIns="0" bIns="0" rtlCol="0" anchor="t"/>
          <a:lstStyle/>
          <a:p>
            <a:pPr indent="0" marL="0">
              <a:buNone/>
            </a:pPr>
            <a:r>
              <a:rPr lang="en-US" sz="1400" dirty="0">
                <a:solidFill>
                  <a:schemeClr val="tx1"/>
                </a:solidFill>
              </a:rPr>
              <a:t>A draft from what the units reported, edited by the director into the text of the report.</a:t>
            </a:r>
            <a:endParaRPr lang="en-US" sz="14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The plan and its results, in the Ministry of Finance form</a:t>
            </a:r>
            <a:endParaRPr lang="en-US" sz="3400" dirty="0"/>
          </a:p>
        </p:txBody>
      </p:sp>
      <p:sp>
        <p:nvSpPr>
          <p:cNvPr id="4" name="Frame approved-plan"/>
          <p:cNvSpPr/>
          <p:nvPr/>
        </p:nvSpPr>
        <p:spPr>
          <a:xfrm>
            <a:off x="640080" y="1508760"/>
            <a:ext cx="5486400" cy="3463290"/>
          </a:xfrm>
          <a:prstGeom prst="rect">
            <a:avLst/>
          </a:prstGeom>
          <a:solidFill>
            <a:schemeClr val="bg2"/>
          </a:solidFill>
          <a:ln/>
        </p:spPr>
      </p:sp>
      <p:pic>
        <p:nvPicPr>
          <p:cNvPr id="5" name="Screenshot approved-plan" descr="The final plan report in the Ministry of Finance form">    </p:cNvPr>
          <p:cNvPicPr>
            <a:picLocks noChangeAspect="1"/>
          </p:cNvPicPr>
          <p:nvPr/>
        </p:nvPicPr>
        <p:blipFill>
          <a:blip r:embed="rId1"/>
          <a:stretch>
            <a:fillRect/>
          </a:stretch>
        </p:blipFill>
        <p:spPr>
          <a:xfrm>
            <a:off x="685800" y="1554480"/>
            <a:ext cx="5394960" cy="3371850"/>
          </a:xfrm>
          <a:prstGeom prst="rect">
            <a:avLst/>
          </a:prstGeom>
        </p:spPr>
      </p:pic>
      <p:sp>
        <p:nvSpPr>
          <p:cNvPr id="6" name="Text 2"/>
          <p:cNvSpPr txBox="1"/>
          <p:nvPr/>
        </p:nvSpPr>
        <p:spPr>
          <a:xfrm>
            <a:off x="640080" y="5045202"/>
            <a:ext cx="5486400" cy="411480"/>
          </a:xfrm>
          <a:prstGeom prst="rect">
            <a:avLst/>
          </a:prstGeom>
          <a:noFill/>
          <a:ln/>
        </p:spPr>
        <p:txBody>
          <a:bodyPr wrap="square" lIns="0" tIns="0" rIns="0" bIns="0" rtlCol="0" anchor="t"/>
          <a:lstStyle/>
          <a:p>
            <a:pPr indent="0" marL="0">
              <a:buNone/>
            </a:pPr>
            <a:r>
              <a:rPr lang="en-US" sz="1200" i="1" dirty="0">
                <a:solidFill>
                  <a:schemeClr val="accent5"/>
                </a:solidFill>
              </a:rPr>
              <a:t>Final plan report: complete or summary</a:t>
            </a:r>
            <a:endParaRPr lang="en-US" sz="1200" dirty="0"/>
          </a:p>
        </p:txBody>
      </p:sp>
      <p:sp>
        <p:nvSpPr>
          <p:cNvPr id="7" name="Frame implementation-plan"/>
          <p:cNvSpPr/>
          <p:nvPr/>
        </p:nvSpPr>
        <p:spPr>
          <a:xfrm>
            <a:off x="6263640" y="1508760"/>
            <a:ext cx="5486400" cy="3463290"/>
          </a:xfrm>
          <a:prstGeom prst="rect">
            <a:avLst/>
          </a:prstGeom>
          <a:solidFill>
            <a:schemeClr val="bg2"/>
          </a:solidFill>
          <a:ln/>
        </p:spPr>
      </p:sp>
      <p:pic>
        <p:nvPicPr>
          <p:cNvPr id="8" name="Screenshot implementation-plan" descr="The implementation plan of a unit with its actions and the January to December grid">    </p:cNvPr>
          <p:cNvPicPr>
            <a:picLocks noChangeAspect="1"/>
          </p:cNvPicPr>
          <p:nvPr/>
        </p:nvPicPr>
        <p:blipFill>
          <a:blip r:embed="rId2"/>
          <a:stretch>
            <a:fillRect/>
          </a:stretch>
        </p:blipFill>
        <p:spPr>
          <a:xfrm>
            <a:off x="6309360" y="1554480"/>
            <a:ext cx="5394960" cy="3371850"/>
          </a:xfrm>
          <a:prstGeom prst="rect">
            <a:avLst/>
          </a:prstGeom>
        </p:spPr>
      </p:pic>
      <p:sp>
        <p:nvSpPr>
          <p:cNvPr id="9" name="Text 4"/>
          <p:cNvSpPr txBox="1"/>
          <p:nvPr/>
        </p:nvSpPr>
        <p:spPr>
          <a:xfrm>
            <a:off x="6263640" y="5045202"/>
            <a:ext cx="5486400" cy="411480"/>
          </a:xfrm>
          <a:prstGeom prst="rect">
            <a:avLst/>
          </a:prstGeom>
          <a:noFill/>
          <a:ln/>
        </p:spPr>
        <p:txBody>
          <a:bodyPr wrap="square" lIns="0" tIns="0" rIns="0" bIns="0" rtlCol="0" anchor="t"/>
          <a:lstStyle/>
          <a:p>
            <a:pPr indent="0" marL="0">
              <a:buNone/>
            </a:pPr>
            <a:r>
              <a:rPr lang="en-US" sz="1200" i="1" dirty="0">
                <a:solidFill>
                  <a:schemeClr val="accent5"/>
                </a:solidFill>
              </a:rPr>
              <a:t>Implementation plan of a unit, with actions and months</a:t>
            </a:r>
            <a:endParaRPr lang="en-US" sz="1200" dirty="0"/>
          </a:p>
        </p:txBody>
      </p:sp>
      <p:sp>
        <p:nvSpPr>
          <p:cNvPr id="10" name="Text 5"/>
          <p:cNvSpPr txBox="1"/>
          <p:nvPr/>
        </p:nvSpPr>
        <p:spPr>
          <a:xfrm>
            <a:off x="640080" y="5623560"/>
            <a:ext cx="10881360" cy="640080"/>
          </a:xfrm>
          <a:prstGeom prst="rect">
            <a:avLst/>
          </a:prstGeom>
          <a:noFill/>
          <a:ln/>
        </p:spPr>
        <p:txBody>
          <a:bodyPr wrap="square" lIns="0" tIns="0" rIns="0" bIns="0" rtlCol="0" anchor="t"/>
          <a:lstStyle/>
          <a:p>
            <a:pPr indent="0" marL="0">
              <a:buNone/>
            </a:pPr>
            <a:r>
              <a:rPr lang="en-US" sz="1500" b="1" dirty="0">
                <a:solidFill>
                  <a:schemeClr val="tx1"/>
                </a:solidFill>
              </a:rPr>
              <a:t>Also: </a:t>
            </a:r>
            <a:pPr indent="0" marL="0">
              <a:buNone/>
            </a:pPr>
            <a:r>
              <a:rPr lang="en-US" sz="1500" dirty="0">
                <a:solidFill>
                  <a:schemeClr val="tx1"/>
                </a:solidFill>
              </a:rPr>
              <a:t>the performance report (monthly or quarterly) with the narratives and the verified figures; CSV export of the activities and of the report data.</a:t>
            </a:r>
            <a:endParaRPr lang="en-US" sz="15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Everyone sees and does what their role allows</a:t>
            </a:r>
            <a:endParaRPr lang="en-US" sz="3400" dirty="0"/>
          </a:p>
        </p:txBody>
      </p:sp>
      <p:sp>
        <p:nvSpPr>
          <p:cNvPr id="4" name="Role 1"/>
          <p:cNvSpPr/>
          <p:nvPr/>
        </p:nvSpPr>
        <p:spPr>
          <a:xfrm>
            <a:off x="640080" y="1600200"/>
            <a:ext cx="3502152" cy="2011680"/>
          </a:xfrm>
          <a:prstGeom prst="roundRect">
            <a:avLst>
              <a:gd name="adj" fmla="val 4545"/>
            </a:avLst>
          </a:prstGeom>
          <a:solidFill>
            <a:schemeClr val="bg2"/>
          </a:solidFill>
          <a:ln/>
        </p:spPr>
      </p:sp>
      <p:sp>
        <p:nvSpPr>
          <p:cNvPr id="5" name="Role circle 1"/>
          <p:cNvSpPr/>
          <p:nvPr/>
        </p:nvSpPr>
        <p:spPr>
          <a:xfrm>
            <a:off x="914400" y="1874520"/>
            <a:ext cx="640080" cy="640080"/>
          </a:xfrm>
          <a:prstGeom prst="ellipse">
            <a:avLst/>
          </a:prstGeom>
          <a:solidFill>
            <a:schemeClr val="accent1"/>
          </a:solidFill>
          <a:ln/>
        </p:spPr>
      </p:sp>
      <p:pic>
        <p:nvPicPr>
          <p:cNvPr id="6" name="Role icon 1" descr="Administrator">    </p:cNvPr>
          <p:cNvPicPr>
            <a:picLocks noChangeAspect="1"/>
          </p:cNvPicPr>
          <p:nvPr/>
        </p:nvPicPr>
        <p:blipFill>
          <a:blip r:embed="rId1"/>
          <a:stretch>
            <a:fillRect/>
          </a:stretch>
        </p:blipFill>
        <p:spPr>
          <a:xfrm>
            <a:off x="1078992" y="2039112"/>
            <a:ext cx="310896" cy="310896"/>
          </a:xfrm>
          <a:prstGeom prst="rect">
            <a:avLst/>
          </a:prstGeom>
        </p:spPr>
      </p:pic>
      <p:sp>
        <p:nvSpPr>
          <p:cNvPr id="7" name="Text 3"/>
          <p:cNvSpPr txBox="1"/>
          <p:nvPr/>
        </p:nvSpPr>
        <p:spPr>
          <a:xfrm>
            <a:off x="1691640" y="187452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Administrator</a:t>
            </a:r>
            <a:endParaRPr lang="en-US" sz="1700" dirty="0"/>
          </a:p>
        </p:txBody>
      </p:sp>
      <p:sp>
        <p:nvSpPr>
          <p:cNvPr id="8" name="Text 4"/>
          <p:cNvSpPr txBox="1"/>
          <p:nvPr/>
        </p:nvSpPr>
        <p:spPr>
          <a:xfrm>
            <a:off x="914400" y="2651760"/>
            <a:ext cx="2953512" cy="914400"/>
          </a:xfrm>
          <a:prstGeom prst="rect">
            <a:avLst/>
          </a:prstGeom>
          <a:noFill/>
          <a:ln/>
        </p:spPr>
        <p:txBody>
          <a:bodyPr wrap="square" lIns="0" tIns="0" rIns="0" bIns="0" rtlCol="0" anchor="t"/>
          <a:lstStyle/>
          <a:p>
            <a:pPr indent="0" marL="0">
              <a:buNone/>
            </a:pPr>
            <a:r>
              <a:rPr lang="en-US" sz="1400" dirty="0">
                <a:solidFill>
                  <a:schemeClr val="tx1"/>
                </a:solidFill>
              </a:rPr>
              <a:t>Sets up the institution, users, the calendar and settings; can always act.</a:t>
            </a:r>
            <a:endParaRPr lang="en-US" sz="1400" dirty="0"/>
          </a:p>
        </p:txBody>
      </p:sp>
      <p:sp>
        <p:nvSpPr>
          <p:cNvPr id="9" name="Role 2"/>
          <p:cNvSpPr/>
          <p:nvPr/>
        </p:nvSpPr>
        <p:spPr>
          <a:xfrm>
            <a:off x="4343400" y="1600200"/>
            <a:ext cx="3502152" cy="2011680"/>
          </a:xfrm>
          <a:prstGeom prst="roundRect">
            <a:avLst>
              <a:gd name="adj" fmla="val 4545"/>
            </a:avLst>
          </a:prstGeom>
          <a:solidFill>
            <a:schemeClr val="bg2"/>
          </a:solidFill>
          <a:ln/>
        </p:spPr>
      </p:sp>
      <p:sp>
        <p:nvSpPr>
          <p:cNvPr id="10" name="Role circle 2"/>
          <p:cNvSpPr/>
          <p:nvPr/>
        </p:nvSpPr>
        <p:spPr>
          <a:xfrm>
            <a:off x="4617720" y="1874520"/>
            <a:ext cx="640080" cy="640080"/>
          </a:xfrm>
          <a:prstGeom prst="ellipse">
            <a:avLst/>
          </a:prstGeom>
          <a:solidFill>
            <a:schemeClr val="accent3"/>
          </a:solidFill>
          <a:ln/>
        </p:spPr>
      </p:sp>
      <p:pic>
        <p:nvPicPr>
          <p:cNvPr id="11" name="Role icon 2" descr="Minister">    </p:cNvPr>
          <p:cNvPicPr>
            <a:picLocks noChangeAspect="1"/>
          </p:cNvPicPr>
          <p:nvPr/>
        </p:nvPicPr>
        <p:blipFill>
          <a:blip r:embed="rId2"/>
          <a:stretch>
            <a:fillRect/>
          </a:stretch>
        </p:blipFill>
        <p:spPr>
          <a:xfrm>
            <a:off x="4782312" y="2039112"/>
            <a:ext cx="310896" cy="310896"/>
          </a:xfrm>
          <a:prstGeom prst="rect">
            <a:avLst/>
          </a:prstGeom>
        </p:spPr>
      </p:pic>
      <p:sp>
        <p:nvSpPr>
          <p:cNvPr id="12" name="Text 7"/>
          <p:cNvSpPr txBox="1"/>
          <p:nvPr/>
        </p:nvSpPr>
        <p:spPr>
          <a:xfrm>
            <a:off x="5394960" y="187452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Minister</a:t>
            </a:r>
            <a:endParaRPr lang="en-US" sz="1700" dirty="0"/>
          </a:p>
        </p:txBody>
      </p:sp>
      <p:sp>
        <p:nvSpPr>
          <p:cNvPr id="13" name="Text 8"/>
          <p:cNvSpPr txBox="1"/>
          <p:nvPr/>
        </p:nvSpPr>
        <p:spPr>
          <a:xfrm>
            <a:off x="4617720" y="2651760"/>
            <a:ext cx="2953512" cy="914400"/>
          </a:xfrm>
          <a:prstGeom prst="rect">
            <a:avLst/>
          </a:prstGeom>
          <a:noFill/>
          <a:ln/>
        </p:spPr>
        <p:txBody>
          <a:bodyPr wrap="square" lIns="0" tIns="0" rIns="0" bIns="0" rtlCol="0" anchor="t"/>
          <a:lstStyle/>
          <a:p>
            <a:pPr indent="0" marL="0">
              <a:buNone/>
            </a:pPr>
            <a:r>
              <a:rPr lang="en-US" sz="1400" dirty="0">
                <a:solidFill>
                  <a:schemeClr val="tx1"/>
                </a:solidFill>
              </a:rPr>
              <a:t>Sees every plan and every report; does not approve plans.</a:t>
            </a:r>
            <a:endParaRPr lang="en-US" sz="1400" dirty="0"/>
          </a:p>
        </p:txBody>
      </p:sp>
      <p:sp>
        <p:nvSpPr>
          <p:cNvPr id="14" name="Role 3"/>
          <p:cNvSpPr/>
          <p:nvPr/>
        </p:nvSpPr>
        <p:spPr>
          <a:xfrm>
            <a:off x="8046720" y="1600200"/>
            <a:ext cx="3502152" cy="2011680"/>
          </a:xfrm>
          <a:prstGeom prst="roundRect">
            <a:avLst>
              <a:gd name="adj" fmla="val 4545"/>
            </a:avLst>
          </a:prstGeom>
          <a:solidFill>
            <a:schemeClr val="bg2"/>
          </a:solidFill>
          <a:ln/>
        </p:spPr>
      </p:sp>
      <p:sp>
        <p:nvSpPr>
          <p:cNvPr id="15" name="Role circle 3"/>
          <p:cNvSpPr/>
          <p:nvPr/>
        </p:nvSpPr>
        <p:spPr>
          <a:xfrm>
            <a:off x="8321040" y="1874520"/>
            <a:ext cx="640080" cy="640080"/>
          </a:xfrm>
          <a:prstGeom prst="ellipse">
            <a:avLst/>
          </a:prstGeom>
          <a:solidFill>
            <a:schemeClr val="accent4"/>
          </a:solidFill>
          <a:ln/>
        </p:spPr>
      </p:sp>
      <p:pic>
        <p:nvPicPr>
          <p:cNvPr id="16" name="Role icon 3" descr="Director">    </p:cNvPr>
          <p:cNvPicPr>
            <a:picLocks noChangeAspect="1"/>
          </p:cNvPicPr>
          <p:nvPr/>
        </p:nvPicPr>
        <p:blipFill>
          <a:blip r:embed="rId3"/>
          <a:stretch>
            <a:fillRect/>
          </a:stretch>
        </p:blipFill>
        <p:spPr>
          <a:xfrm>
            <a:off x="8485632" y="2039112"/>
            <a:ext cx="310896" cy="310896"/>
          </a:xfrm>
          <a:prstGeom prst="rect">
            <a:avLst/>
          </a:prstGeom>
        </p:spPr>
      </p:pic>
      <p:sp>
        <p:nvSpPr>
          <p:cNvPr id="17" name="Text 11"/>
          <p:cNvSpPr txBox="1"/>
          <p:nvPr/>
        </p:nvSpPr>
        <p:spPr>
          <a:xfrm>
            <a:off x="9098280" y="187452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Director</a:t>
            </a:r>
            <a:endParaRPr lang="en-US" sz="1700" dirty="0"/>
          </a:p>
        </p:txBody>
      </p:sp>
      <p:sp>
        <p:nvSpPr>
          <p:cNvPr id="18" name="Text 12"/>
          <p:cNvSpPr txBox="1"/>
          <p:nvPr/>
        </p:nvSpPr>
        <p:spPr>
          <a:xfrm>
            <a:off x="8321040" y="2651760"/>
            <a:ext cx="2953512" cy="914400"/>
          </a:xfrm>
          <a:prstGeom prst="rect">
            <a:avLst/>
          </a:prstGeom>
          <a:noFill/>
          <a:ln/>
        </p:spPr>
        <p:txBody>
          <a:bodyPr wrap="square" lIns="0" tIns="0" rIns="0" bIns="0" rtlCol="0" anchor="t"/>
          <a:lstStyle/>
          <a:p>
            <a:pPr indent="0" marL="0">
              <a:buNone/>
            </a:pPr>
            <a:r>
              <a:rPr lang="en-US" sz="1400" dirty="0">
                <a:solidFill>
                  <a:schemeClr val="tx1"/>
                </a:solidFill>
              </a:rPr>
              <a:t>Certifies; the head of a directorate gives its final approval and finalizes its plan.</a:t>
            </a:r>
            <a:endParaRPr lang="en-US" sz="1400" dirty="0"/>
          </a:p>
        </p:txBody>
      </p:sp>
      <p:sp>
        <p:nvSpPr>
          <p:cNvPr id="19" name="Role 4"/>
          <p:cNvSpPr/>
          <p:nvPr/>
        </p:nvSpPr>
        <p:spPr>
          <a:xfrm>
            <a:off x="640080" y="3840480"/>
            <a:ext cx="3502152" cy="2011680"/>
          </a:xfrm>
          <a:prstGeom prst="roundRect">
            <a:avLst>
              <a:gd name="adj" fmla="val 4545"/>
            </a:avLst>
          </a:prstGeom>
          <a:solidFill>
            <a:schemeClr val="bg2"/>
          </a:solidFill>
          <a:ln/>
        </p:spPr>
      </p:sp>
      <p:sp>
        <p:nvSpPr>
          <p:cNvPr id="20" name="Role circle 4"/>
          <p:cNvSpPr/>
          <p:nvPr/>
        </p:nvSpPr>
        <p:spPr>
          <a:xfrm>
            <a:off x="914400" y="4114800"/>
            <a:ext cx="640080" cy="640080"/>
          </a:xfrm>
          <a:prstGeom prst="ellipse">
            <a:avLst/>
          </a:prstGeom>
          <a:solidFill>
            <a:schemeClr val="accent6"/>
          </a:solidFill>
          <a:ln/>
        </p:spPr>
      </p:sp>
      <p:pic>
        <p:nvPicPr>
          <p:cNvPr id="21" name="Role icon 4" descr="Technical officer">    </p:cNvPr>
          <p:cNvPicPr>
            <a:picLocks noChangeAspect="1"/>
          </p:cNvPicPr>
          <p:nvPr/>
        </p:nvPicPr>
        <p:blipFill>
          <a:blip r:embed="rId4"/>
          <a:stretch>
            <a:fillRect/>
          </a:stretch>
        </p:blipFill>
        <p:spPr>
          <a:xfrm>
            <a:off x="1078992" y="4279392"/>
            <a:ext cx="310896" cy="310896"/>
          </a:xfrm>
          <a:prstGeom prst="rect">
            <a:avLst/>
          </a:prstGeom>
        </p:spPr>
      </p:pic>
      <p:sp>
        <p:nvSpPr>
          <p:cNvPr id="22" name="Text 15"/>
          <p:cNvSpPr txBox="1"/>
          <p:nvPr/>
        </p:nvSpPr>
        <p:spPr>
          <a:xfrm>
            <a:off x="1691640" y="411480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Technical officer</a:t>
            </a:r>
            <a:endParaRPr lang="en-US" sz="1700" dirty="0"/>
          </a:p>
        </p:txBody>
      </p:sp>
      <p:sp>
        <p:nvSpPr>
          <p:cNvPr id="23" name="Text 16"/>
          <p:cNvSpPr txBox="1"/>
          <p:nvPr/>
        </p:nvSpPr>
        <p:spPr>
          <a:xfrm>
            <a:off x="914400" y="4892040"/>
            <a:ext cx="2953512" cy="914400"/>
          </a:xfrm>
          <a:prstGeom prst="rect">
            <a:avLst/>
          </a:prstGeom>
          <a:noFill/>
          <a:ln/>
        </p:spPr>
        <p:txBody>
          <a:bodyPr wrap="square" lIns="0" tIns="0" rIns="0" bIns="0" rtlCol="0" anchor="t"/>
          <a:lstStyle/>
          <a:p>
            <a:pPr indent="0" marL="0">
              <a:buNone/>
            </a:pPr>
            <a:r>
              <a:rPr lang="en-US" sz="1400" dirty="0">
                <a:solidFill>
                  <a:schemeClr val="tx1"/>
                </a:solidFill>
              </a:rPr>
              <a:t>Prepares activities, indicators and budget lines, and reports execution.</a:t>
            </a:r>
            <a:endParaRPr lang="en-US" sz="1400" dirty="0"/>
          </a:p>
        </p:txBody>
      </p:sp>
      <p:sp>
        <p:nvSpPr>
          <p:cNvPr id="24" name="Role 5"/>
          <p:cNvSpPr/>
          <p:nvPr/>
        </p:nvSpPr>
        <p:spPr>
          <a:xfrm>
            <a:off x="4343400" y="3840480"/>
            <a:ext cx="3502152" cy="2011680"/>
          </a:xfrm>
          <a:prstGeom prst="roundRect">
            <a:avLst>
              <a:gd name="adj" fmla="val 4545"/>
            </a:avLst>
          </a:prstGeom>
          <a:solidFill>
            <a:schemeClr val="bg2"/>
          </a:solidFill>
          <a:ln/>
        </p:spPr>
      </p:sp>
      <p:sp>
        <p:nvSpPr>
          <p:cNvPr id="25" name="Role circle 5"/>
          <p:cNvSpPr/>
          <p:nvPr/>
        </p:nvSpPr>
        <p:spPr>
          <a:xfrm>
            <a:off x="4617720" y="4114800"/>
            <a:ext cx="640080" cy="640080"/>
          </a:xfrm>
          <a:prstGeom prst="ellipse">
            <a:avLst/>
          </a:prstGeom>
          <a:solidFill>
            <a:schemeClr val="accent1"/>
          </a:solidFill>
          <a:ln/>
        </p:spPr>
      </p:sp>
      <p:pic>
        <p:nvPicPr>
          <p:cNvPr id="26" name="Role icon 5" descr="Finance">    </p:cNvPr>
          <p:cNvPicPr>
            <a:picLocks noChangeAspect="1"/>
          </p:cNvPicPr>
          <p:nvPr/>
        </p:nvPicPr>
        <p:blipFill>
          <a:blip r:embed="rId5"/>
          <a:stretch>
            <a:fillRect/>
          </a:stretch>
        </p:blipFill>
        <p:spPr>
          <a:xfrm>
            <a:off x="4782312" y="4279392"/>
            <a:ext cx="310896" cy="310896"/>
          </a:xfrm>
          <a:prstGeom prst="rect">
            <a:avLst/>
          </a:prstGeom>
        </p:spPr>
      </p:pic>
      <p:sp>
        <p:nvSpPr>
          <p:cNvPr id="27" name="Text 19"/>
          <p:cNvSpPr txBox="1"/>
          <p:nvPr/>
        </p:nvSpPr>
        <p:spPr>
          <a:xfrm>
            <a:off x="5394960" y="411480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Finance</a:t>
            </a:r>
            <a:endParaRPr lang="en-US" sz="1700" dirty="0"/>
          </a:p>
        </p:txBody>
      </p:sp>
      <p:sp>
        <p:nvSpPr>
          <p:cNvPr id="28" name="Text 20"/>
          <p:cNvSpPr txBox="1"/>
          <p:nvPr/>
        </p:nvSpPr>
        <p:spPr>
          <a:xfrm>
            <a:off x="4617720" y="4892040"/>
            <a:ext cx="2953512" cy="914400"/>
          </a:xfrm>
          <a:prstGeom prst="rect">
            <a:avLst/>
          </a:prstGeom>
          <a:noFill/>
          <a:ln/>
        </p:spPr>
        <p:txBody>
          <a:bodyPr wrap="square" lIns="0" tIns="0" rIns="0" bIns="0" rtlCol="0" anchor="t"/>
          <a:lstStyle/>
          <a:p>
            <a:pPr indent="0" marL="0">
              <a:buNone/>
            </a:pPr>
            <a:r>
              <a:rPr lang="en-US" sz="1400" dirty="0">
                <a:solidFill>
                  <a:schemeClr val="tx1"/>
                </a:solidFill>
              </a:rPr>
              <a:t>Confirms budget lines and verifies the executed amounts that units report.</a:t>
            </a:r>
            <a:endParaRPr lang="en-US" sz="1400" dirty="0"/>
          </a:p>
        </p:txBody>
      </p:sp>
      <p:sp>
        <p:nvSpPr>
          <p:cNvPr id="29" name="Role 6"/>
          <p:cNvSpPr/>
          <p:nvPr/>
        </p:nvSpPr>
        <p:spPr>
          <a:xfrm>
            <a:off x="8046720" y="3840480"/>
            <a:ext cx="3502152" cy="2011680"/>
          </a:xfrm>
          <a:prstGeom prst="roundRect">
            <a:avLst>
              <a:gd name="adj" fmla="val 4545"/>
            </a:avLst>
          </a:prstGeom>
          <a:solidFill>
            <a:schemeClr val="bg2"/>
          </a:solidFill>
          <a:ln/>
        </p:spPr>
      </p:sp>
      <p:sp>
        <p:nvSpPr>
          <p:cNvPr id="30" name="Role circle 6"/>
          <p:cNvSpPr/>
          <p:nvPr/>
        </p:nvSpPr>
        <p:spPr>
          <a:xfrm>
            <a:off x="8321040" y="4114800"/>
            <a:ext cx="640080" cy="640080"/>
          </a:xfrm>
          <a:prstGeom prst="ellipse">
            <a:avLst/>
          </a:prstGeom>
          <a:solidFill>
            <a:schemeClr val="accent5"/>
          </a:solidFill>
          <a:ln/>
        </p:spPr>
      </p:sp>
      <p:pic>
        <p:nvPicPr>
          <p:cNvPr id="31" name="Role icon 6" descr="Viewer">    </p:cNvPr>
          <p:cNvPicPr>
            <a:picLocks noChangeAspect="1"/>
          </p:cNvPicPr>
          <p:nvPr/>
        </p:nvPicPr>
        <p:blipFill>
          <a:blip r:embed="rId6"/>
          <a:stretch>
            <a:fillRect/>
          </a:stretch>
        </p:blipFill>
        <p:spPr>
          <a:xfrm>
            <a:off x="8485632" y="4279392"/>
            <a:ext cx="310896" cy="310896"/>
          </a:xfrm>
          <a:prstGeom prst="rect">
            <a:avLst/>
          </a:prstGeom>
        </p:spPr>
      </p:pic>
      <p:sp>
        <p:nvSpPr>
          <p:cNvPr id="32" name="Text 23"/>
          <p:cNvSpPr txBox="1"/>
          <p:nvPr/>
        </p:nvSpPr>
        <p:spPr>
          <a:xfrm>
            <a:off x="9098280" y="411480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Viewer</a:t>
            </a:r>
            <a:endParaRPr lang="en-US" sz="1700" dirty="0"/>
          </a:p>
        </p:txBody>
      </p:sp>
      <p:sp>
        <p:nvSpPr>
          <p:cNvPr id="33" name="Text 24"/>
          <p:cNvSpPr txBox="1"/>
          <p:nvPr/>
        </p:nvSpPr>
        <p:spPr>
          <a:xfrm>
            <a:off x="8321040" y="4892040"/>
            <a:ext cx="2953512" cy="914400"/>
          </a:xfrm>
          <a:prstGeom prst="rect">
            <a:avLst/>
          </a:prstGeom>
          <a:noFill/>
          <a:ln/>
        </p:spPr>
        <p:txBody>
          <a:bodyPr wrap="square" lIns="0" tIns="0" rIns="0" bIns="0" rtlCol="0" anchor="t"/>
          <a:lstStyle/>
          <a:p>
            <a:pPr indent="0" marL="0">
              <a:buNone/>
            </a:pPr>
            <a:r>
              <a:rPr lang="en-US" sz="1400" dirty="0">
                <a:solidFill>
                  <a:schemeClr val="tx1"/>
                </a:solidFill>
              </a:rPr>
              <a:t>Reads plans and reports; changes nothing.</a:t>
            </a:r>
            <a:endParaRPr lang="en-US" sz="14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A professional, accessible interface</a:t>
            </a:r>
            <a:endParaRPr lang="en-US" sz="3400" dirty="0"/>
          </a:p>
        </p:txBody>
      </p:sp>
      <p:sp>
        <p:nvSpPr>
          <p:cNvPr id="4" name="Frame dashboard"/>
          <p:cNvSpPr/>
          <p:nvPr/>
        </p:nvSpPr>
        <p:spPr>
          <a:xfrm>
            <a:off x="640080" y="1508760"/>
            <a:ext cx="6858000" cy="4320540"/>
          </a:xfrm>
          <a:prstGeom prst="rect">
            <a:avLst/>
          </a:prstGeom>
          <a:solidFill>
            <a:schemeClr val="bg2"/>
          </a:solidFill>
          <a:ln/>
        </p:spPr>
      </p:sp>
      <p:pic>
        <p:nvPicPr>
          <p:cNvPr id="5" name="Screenshot dashboard" descr="The dashboard with the plan cycle tracker, key figures and what needs attention">    </p:cNvPr>
          <p:cNvPicPr>
            <a:picLocks noChangeAspect="1"/>
          </p:cNvPicPr>
          <p:nvPr/>
        </p:nvPicPr>
        <p:blipFill>
          <a:blip r:embed="rId1"/>
          <a:stretch>
            <a:fillRect/>
          </a:stretch>
        </p:blipFill>
        <p:spPr>
          <a:xfrm>
            <a:off x="685800" y="1554480"/>
            <a:ext cx="6766560" cy="4229100"/>
          </a:xfrm>
          <a:prstGeom prst="rect">
            <a:avLst/>
          </a:prstGeom>
        </p:spPr>
      </p:pic>
      <p:sp>
        <p:nvSpPr>
          <p:cNvPr id="6" name="Text 2"/>
          <p:cNvSpPr txBox="1"/>
          <p:nvPr/>
        </p:nvSpPr>
        <p:spPr>
          <a:xfrm>
            <a:off x="640080" y="5902452"/>
            <a:ext cx="6858000" cy="411480"/>
          </a:xfrm>
          <a:prstGeom prst="rect">
            <a:avLst/>
          </a:prstGeom>
          <a:noFill/>
          <a:ln/>
        </p:spPr>
        <p:txBody>
          <a:bodyPr wrap="square" lIns="0" tIns="0" rIns="0" bIns="0" rtlCol="0" anchor="t"/>
          <a:lstStyle/>
          <a:p>
            <a:pPr indent="0" marL="0">
              <a:buNone/>
            </a:pPr>
            <a:r>
              <a:rPr lang="en-US" sz="1200" i="1" dirty="0">
                <a:solidFill>
                  <a:schemeClr val="accent5"/>
                </a:solidFill>
              </a:rPr>
              <a:t>The dashboard: the plan's cycle, key figures and what needs your attention</a:t>
            </a:r>
            <a:endParaRPr lang="en-US" sz="1200" dirty="0"/>
          </a:p>
        </p:txBody>
      </p:sp>
      <p:sp>
        <p:nvSpPr>
          <p:cNvPr id="7" name="UI circle 1"/>
          <p:cNvSpPr/>
          <p:nvPr/>
        </p:nvSpPr>
        <p:spPr>
          <a:xfrm>
            <a:off x="7818120" y="1554480"/>
            <a:ext cx="548640" cy="548640"/>
          </a:xfrm>
          <a:prstGeom prst="ellipse">
            <a:avLst/>
          </a:prstGeom>
          <a:solidFill>
            <a:schemeClr val="accent1"/>
          </a:solidFill>
          <a:ln/>
        </p:spPr>
      </p:sp>
      <p:pic>
        <p:nvPicPr>
          <p:cNvPr id="8" name="UI icon 1" descr="Clear at a glance">    </p:cNvPr>
          <p:cNvPicPr>
            <a:picLocks noChangeAspect="1"/>
          </p:cNvPicPr>
          <p:nvPr/>
        </p:nvPicPr>
        <p:blipFill>
          <a:blip r:embed="rId2"/>
          <a:stretch>
            <a:fillRect/>
          </a:stretch>
        </p:blipFill>
        <p:spPr>
          <a:xfrm>
            <a:off x="7955280" y="1691640"/>
            <a:ext cx="274320" cy="274320"/>
          </a:xfrm>
          <a:prstGeom prst="rect">
            <a:avLst/>
          </a:prstGeom>
        </p:spPr>
      </p:pic>
      <p:sp>
        <p:nvSpPr>
          <p:cNvPr id="9" name="Text 4"/>
          <p:cNvSpPr txBox="1"/>
          <p:nvPr/>
        </p:nvSpPr>
        <p:spPr>
          <a:xfrm>
            <a:off x="8549640" y="1508760"/>
            <a:ext cx="3017520" cy="1463040"/>
          </a:xfrm>
          <a:prstGeom prst="rect">
            <a:avLst/>
          </a:prstGeom>
          <a:noFill/>
          <a:ln/>
        </p:spPr>
        <p:txBody>
          <a:bodyPr wrap="square" lIns="0" tIns="0" rIns="0" bIns="0" rtlCol="0" anchor="t"/>
          <a:lstStyle/>
          <a:p>
            <a:pPr indent="0" marL="0">
              <a:buNone/>
            </a:pPr>
            <a:r>
              <a:rPr lang="en-US" sz="1700" b="1" dirty="0">
                <a:solidFill>
                  <a:schemeClr val="tx1"/>
                </a:solidFill>
              </a:rPr>
              <a:t>Clear at a glance</a:t>
            </a:r>
            <a:endParaRPr lang="en-US" sz="1700" dirty="0"/>
          </a:p>
          <a:p>
            <a:pPr indent="0" marL="0">
              <a:buNone/>
            </a:pPr>
            <a:r>
              <a:rPr lang="en-US" sz="1400" dirty="0">
                <a:solidFill>
                  <a:schemeClr val="tx1"/>
                </a:solidFill>
              </a:rPr>
              <a:t>The plan's cycle, the figures and your own to-do list on one page.</a:t>
            </a:r>
            <a:endParaRPr lang="en-US" sz="1700" dirty="0"/>
          </a:p>
        </p:txBody>
      </p:sp>
      <p:sp>
        <p:nvSpPr>
          <p:cNvPr id="10" name="UI circle 2"/>
          <p:cNvSpPr/>
          <p:nvPr/>
        </p:nvSpPr>
        <p:spPr>
          <a:xfrm>
            <a:off x="7818120" y="3154680"/>
            <a:ext cx="548640" cy="548640"/>
          </a:xfrm>
          <a:prstGeom prst="ellipse">
            <a:avLst/>
          </a:prstGeom>
          <a:solidFill>
            <a:schemeClr val="accent3"/>
          </a:solidFill>
          <a:ln/>
        </p:spPr>
      </p:sp>
      <p:pic>
        <p:nvPicPr>
          <p:cNvPr id="11" name="UI icon 2" descr="Three languages">    </p:cNvPr>
          <p:cNvPicPr>
            <a:picLocks noChangeAspect="1"/>
          </p:cNvPicPr>
          <p:nvPr/>
        </p:nvPicPr>
        <p:blipFill>
          <a:blip r:embed="rId3"/>
          <a:stretch>
            <a:fillRect/>
          </a:stretch>
        </p:blipFill>
        <p:spPr>
          <a:xfrm>
            <a:off x="7955280" y="3291840"/>
            <a:ext cx="274320" cy="274320"/>
          </a:xfrm>
          <a:prstGeom prst="rect">
            <a:avLst/>
          </a:prstGeom>
        </p:spPr>
      </p:pic>
      <p:sp>
        <p:nvSpPr>
          <p:cNvPr id="12" name="Text 6"/>
          <p:cNvSpPr txBox="1"/>
          <p:nvPr/>
        </p:nvSpPr>
        <p:spPr>
          <a:xfrm>
            <a:off x="8549640" y="3108960"/>
            <a:ext cx="3017520" cy="1463040"/>
          </a:xfrm>
          <a:prstGeom prst="rect">
            <a:avLst/>
          </a:prstGeom>
          <a:noFill/>
          <a:ln/>
        </p:spPr>
        <p:txBody>
          <a:bodyPr wrap="square" lIns="0" tIns="0" rIns="0" bIns="0" rtlCol="0" anchor="t"/>
          <a:lstStyle/>
          <a:p>
            <a:pPr indent="0" marL="0">
              <a:buNone/>
            </a:pPr>
            <a:r>
              <a:rPr lang="en-US" sz="1700" b="1" dirty="0">
                <a:solidFill>
                  <a:schemeClr val="tx1"/>
                </a:solidFill>
              </a:rPr>
              <a:t>Three languages</a:t>
            </a:r>
            <a:endParaRPr lang="en-US" sz="1700" dirty="0"/>
          </a:p>
          <a:p>
            <a:pPr indent="0" marL="0">
              <a:buNone/>
            </a:pPr>
            <a:r>
              <a:rPr lang="en-US" sz="1400" dirty="0">
                <a:solidFill>
                  <a:schemeClr val="tx1"/>
                </a:solidFill>
              </a:rPr>
              <a:t>English, Portuguese and Tetum; a test blocks any new text without its translations.</a:t>
            </a:r>
            <a:endParaRPr lang="en-US" sz="1700" dirty="0"/>
          </a:p>
        </p:txBody>
      </p:sp>
      <p:sp>
        <p:nvSpPr>
          <p:cNvPr id="13" name="UI circle 3"/>
          <p:cNvSpPr/>
          <p:nvPr/>
        </p:nvSpPr>
        <p:spPr>
          <a:xfrm>
            <a:off x="7818120" y="4754880"/>
            <a:ext cx="548640" cy="548640"/>
          </a:xfrm>
          <a:prstGeom prst="ellipse">
            <a:avLst/>
          </a:prstGeom>
          <a:solidFill>
            <a:schemeClr val="accent4"/>
          </a:solidFill>
          <a:ln/>
        </p:spPr>
      </p:sp>
      <p:pic>
        <p:nvPicPr>
          <p:cNvPr id="14" name="UI icon 3" descr="Made for the role">    </p:cNvPr>
          <p:cNvPicPr>
            <a:picLocks noChangeAspect="1"/>
          </p:cNvPicPr>
          <p:nvPr/>
        </p:nvPicPr>
        <p:blipFill>
          <a:blip r:embed="rId4"/>
          <a:stretch>
            <a:fillRect/>
          </a:stretch>
        </p:blipFill>
        <p:spPr>
          <a:xfrm>
            <a:off x="7955280" y="4892040"/>
            <a:ext cx="274320" cy="274320"/>
          </a:xfrm>
          <a:prstGeom prst="rect">
            <a:avLst/>
          </a:prstGeom>
        </p:spPr>
      </p:pic>
      <p:sp>
        <p:nvSpPr>
          <p:cNvPr id="15" name="Text 8"/>
          <p:cNvSpPr txBox="1"/>
          <p:nvPr/>
        </p:nvSpPr>
        <p:spPr>
          <a:xfrm>
            <a:off x="8549640" y="4709160"/>
            <a:ext cx="3017520" cy="1463040"/>
          </a:xfrm>
          <a:prstGeom prst="rect">
            <a:avLst/>
          </a:prstGeom>
          <a:noFill/>
          <a:ln/>
        </p:spPr>
        <p:txBody>
          <a:bodyPr wrap="square" lIns="0" tIns="0" rIns="0" bIns="0" rtlCol="0" anchor="t"/>
          <a:lstStyle/>
          <a:p>
            <a:pPr indent="0" marL="0">
              <a:buNone/>
            </a:pPr>
            <a:r>
              <a:rPr lang="en-US" sz="1700" b="1" dirty="0">
                <a:solidFill>
                  <a:schemeClr val="tx1"/>
                </a:solidFill>
              </a:rPr>
              <a:t>Made for the role</a:t>
            </a:r>
            <a:endParaRPr lang="en-US" sz="1700" dirty="0"/>
          </a:p>
          <a:p>
            <a:pPr indent="0" marL="0">
              <a:buNone/>
            </a:pPr>
            <a:r>
              <a:rPr lang="en-US" sz="1400" dirty="0">
                <a:solidFill>
                  <a:schemeClr val="tx1"/>
                </a:solidFill>
              </a:rPr>
              <a:t>The menu, the buttons and the inbox show only what your role can do.</a:t>
            </a:r>
            <a:endParaRPr lang="en-US" sz="17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Built for any institution, whole ministry or one office</a:t>
            </a:r>
            <a:endParaRPr lang="en-US" sz="3400" dirty="0"/>
          </a:p>
        </p:txBody>
      </p:sp>
      <p:sp>
        <p:nvSpPr>
          <p:cNvPr id="4" name="Tree root"/>
          <p:cNvSpPr/>
          <p:nvPr/>
        </p:nvSpPr>
        <p:spPr>
          <a:xfrm>
            <a:off x="2011680" y="1691640"/>
            <a:ext cx="2194560" cy="731520"/>
          </a:xfrm>
          <a:prstGeom prst="roundRect">
            <a:avLst>
              <a:gd name="adj" fmla="val 10000"/>
            </a:avLst>
          </a:prstGeom>
          <a:solidFill>
            <a:schemeClr val="tx1"/>
          </a:solidFill>
          <a:ln/>
        </p:spPr>
      </p:sp>
      <p:sp>
        <p:nvSpPr>
          <p:cNvPr id="5" name="Tree root text"/>
          <p:cNvSpPr txBox="1"/>
          <p:nvPr/>
        </p:nvSpPr>
        <p:spPr>
          <a:xfrm>
            <a:off x="2011680" y="1691640"/>
            <a:ext cx="2194560" cy="731520"/>
          </a:xfrm>
          <a:prstGeom prst="rect">
            <a:avLst/>
          </a:prstGeom>
          <a:noFill/>
          <a:ln/>
        </p:spPr>
        <p:txBody>
          <a:bodyPr wrap="square" lIns="635" tIns="635" rIns="635" bIns="635" rtlCol="0" anchor="ctr"/>
          <a:lstStyle/>
          <a:p>
            <a:pPr algn="ctr" indent="0" marL="0">
              <a:buNone/>
            </a:pPr>
            <a:r>
              <a:rPr lang="en-US" sz="1800" b="1" dirty="0">
                <a:solidFill>
                  <a:schemeClr val="bg1"/>
                </a:solidFill>
              </a:rPr>
              <a:t>Institution</a:t>
            </a:r>
            <a:endParaRPr lang="en-US" sz="1800" dirty="0"/>
          </a:p>
        </p:txBody>
      </p:sp>
      <p:sp>
        <p:nvSpPr>
          <p:cNvPr id="6" name="Tree stem"/>
          <p:cNvSpPr/>
          <p:nvPr/>
        </p:nvSpPr>
        <p:spPr>
          <a:xfrm>
            <a:off x="3108960" y="2423160"/>
            <a:ext cx="0" cy="320040"/>
          </a:xfrm>
          <a:prstGeom prst="line">
            <a:avLst/>
          </a:prstGeom>
          <a:noFill/>
          <a:ln w="19050">
            <a:solidFill>
              <a:schemeClr val="accent5"/>
            </a:solidFill>
            <a:prstDash val="solid"/>
          </a:ln>
        </p:spPr>
      </p:sp>
      <p:sp>
        <p:nvSpPr>
          <p:cNvPr id="7" name="Tree bar"/>
          <p:cNvSpPr/>
          <p:nvPr/>
        </p:nvSpPr>
        <p:spPr>
          <a:xfrm>
            <a:off x="1417320" y="2743200"/>
            <a:ext cx="3383280" cy="0"/>
          </a:xfrm>
          <a:prstGeom prst="line">
            <a:avLst/>
          </a:prstGeom>
          <a:noFill/>
          <a:ln w="19050">
            <a:solidFill>
              <a:schemeClr val="accent5"/>
            </a:solidFill>
            <a:prstDash val="solid"/>
          </a:ln>
        </p:spPr>
      </p:sp>
      <p:sp>
        <p:nvSpPr>
          <p:cNvPr id="8" name="Tree drop 0"/>
          <p:cNvSpPr/>
          <p:nvPr/>
        </p:nvSpPr>
        <p:spPr>
          <a:xfrm>
            <a:off x="1417320" y="2743200"/>
            <a:ext cx="0" cy="182880"/>
          </a:xfrm>
          <a:prstGeom prst="line">
            <a:avLst/>
          </a:prstGeom>
          <a:noFill/>
          <a:ln w="19050">
            <a:solidFill>
              <a:schemeClr val="accent5"/>
            </a:solidFill>
            <a:prstDash val="solid"/>
          </a:ln>
        </p:spPr>
      </p:sp>
      <p:sp>
        <p:nvSpPr>
          <p:cNvPr id="9" name="Tree level 2 0"/>
          <p:cNvSpPr/>
          <p:nvPr/>
        </p:nvSpPr>
        <p:spPr>
          <a:xfrm>
            <a:off x="640080" y="2926080"/>
            <a:ext cx="1554480" cy="731520"/>
          </a:xfrm>
          <a:prstGeom prst="roundRect">
            <a:avLst>
              <a:gd name="adj" fmla="val 10000"/>
            </a:avLst>
          </a:prstGeom>
          <a:solidFill>
            <a:schemeClr val="accent3"/>
          </a:solidFill>
          <a:ln/>
        </p:spPr>
      </p:sp>
      <p:sp>
        <p:nvSpPr>
          <p:cNvPr id="10" name="Tree level 2 0 text"/>
          <p:cNvSpPr txBox="1"/>
          <p:nvPr/>
        </p:nvSpPr>
        <p:spPr>
          <a:xfrm>
            <a:off x="640080" y="2926080"/>
            <a:ext cx="1554480" cy="731520"/>
          </a:xfrm>
          <a:prstGeom prst="rect">
            <a:avLst/>
          </a:prstGeom>
          <a:noFill/>
          <a:ln/>
        </p:spPr>
        <p:txBody>
          <a:bodyPr wrap="square" lIns="635" tIns="635" rIns="635" bIns="635" rtlCol="0" anchor="ctr"/>
          <a:lstStyle/>
          <a:p>
            <a:pPr algn="ctr" indent="0" marL="0">
              <a:buNone/>
            </a:pPr>
            <a:r>
              <a:rPr lang="en-US" sz="1400" b="1" dirty="0">
                <a:solidFill>
                  <a:schemeClr val="bg1"/>
                </a:solidFill>
              </a:rPr>
              <a:t>Directorate</a:t>
            </a:r>
            <a:endParaRPr lang="en-US" sz="1400" dirty="0"/>
          </a:p>
        </p:txBody>
      </p:sp>
      <p:sp>
        <p:nvSpPr>
          <p:cNvPr id="11" name="Tree sub drop 0"/>
          <p:cNvSpPr/>
          <p:nvPr/>
        </p:nvSpPr>
        <p:spPr>
          <a:xfrm>
            <a:off x="1417320" y="3657600"/>
            <a:ext cx="0" cy="365760"/>
          </a:xfrm>
          <a:prstGeom prst="line">
            <a:avLst/>
          </a:prstGeom>
          <a:noFill/>
          <a:ln w="19050">
            <a:solidFill>
              <a:schemeClr val="accent5"/>
            </a:solidFill>
            <a:prstDash val="solid"/>
          </a:ln>
        </p:spPr>
      </p:sp>
      <p:sp>
        <p:nvSpPr>
          <p:cNvPr id="12" name="Tree level 3 0"/>
          <p:cNvSpPr/>
          <p:nvPr/>
        </p:nvSpPr>
        <p:spPr>
          <a:xfrm>
            <a:off x="640080" y="4023360"/>
            <a:ext cx="1554480" cy="640080"/>
          </a:xfrm>
          <a:prstGeom prst="roundRect">
            <a:avLst>
              <a:gd name="adj" fmla="val 11429"/>
            </a:avLst>
          </a:prstGeom>
          <a:solidFill>
            <a:schemeClr val="bg2"/>
          </a:solidFill>
          <a:ln/>
        </p:spPr>
      </p:sp>
      <p:sp>
        <p:nvSpPr>
          <p:cNvPr id="13" name="Tree level 3 0 text"/>
          <p:cNvSpPr txBox="1"/>
          <p:nvPr/>
        </p:nvSpPr>
        <p:spPr>
          <a:xfrm>
            <a:off x="640080" y="4023360"/>
            <a:ext cx="1554480" cy="640080"/>
          </a:xfrm>
          <a:prstGeom prst="rect">
            <a:avLst/>
          </a:prstGeom>
          <a:noFill/>
          <a:ln/>
        </p:spPr>
        <p:txBody>
          <a:bodyPr wrap="square" lIns="635" tIns="635" rIns="635" bIns="635" rtlCol="0" anchor="ctr"/>
          <a:lstStyle/>
          <a:p>
            <a:pPr algn="ctr" indent="0" marL="0">
              <a:buNone/>
            </a:pPr>
            <a:r>
              <a:rPr lang="en-US" sz="1200" b="1" dirty="0">
                <a:solidFill>
                  <a:schemeClr val="tx1"/>
                </a:solidFill>
              </a:rPr>
              <a:t>Units, each with its people</a:t>
            </a:r>
            <a:endParaRPr lang="en-US" sz="1200" dirty="0"/>
          </a:p>
        </p:txBody>
      </p:sp>
      <p:sp>
        <p:nvSpPr>
          <p:cNvPr id="14" name="Tree drop 1"/>
          <p:cNvSpPr/>
          <p:nvPr/>
        </p:nvSpPr>
        <p:spPr>
          <a:xfrm>
            <a:off x="3108960" y="2743200"/>
            <a:ext cx="0" cy="182880"/>
          </a:xfrm>
          <a:prstGeom prst="line">
            <a:avLst/>
          </a:prstGeom>
          <a:noFill/>
          <a:ln w="19050">
            <a:solidFill>
              <a:schemeClr val="accent5"/>
            </a:solidFill>
            <a:prstDash val="solid"/>
          </a:ln>
        </p:spPr>
      </p:sp>
      <p:sp>
        <p:nvSpPr>
          <p:cNvPr id="15" name="Tree level 2 1"/>
          <p:cNvSpPr/>
          <p:nvPr/>
        </p:nvSpPr>
        <p:spPr>
          <a:xfrm>
            <a:off x="2331720" y="2926080"/>
            <a:ext cx="1554480" cy="731520"/>
          </a:xfrm>
          <a:prstGeom prst="roundRect">
            <a:avLst>
              <a:gd name="adj" fmla="val 10000"/>
            </a:avLst>
          </a:prstGeom>
          <a:solidFill>
            <a:schemeClr val="accent3"/>
          </a:solidFill>
          <a:ln/>
        </p:spPr>
      </p:sp>
      <p:sp>
        <p:nvSpPr>
          <p:cNvPr id="16" name="Tree level 2 1 text"/>
          <p:cNvSpPr txBox="1"/>
          <p:nvPr/>
        </p:nvSpPr>
        <p:spPr>
          <a:xfrm>
            <a:off x="2331720" y="2926080"/>
            <a:ext cx="1554480" cy="731520"/>
          </a:xfrm>
          <a:prstGeom prst="rect">
            <a:avLst/>
          </a:prstGeom>
          <a:noFill/>
          <a:ln/>
        </p:spPr>
        <p:txBody>
          <a:bodyPr wrap="square" lIns="635" tIns="635" rIns="635" bIns="635" rtlCol="0" anchor="ctr"/>
          <a:lstStyle/>
          <a:p>
            <a:pPr algn="ctr" indent="0" marL="0">
              <a:buNone/>
            </a:pPr>
            <a:r>
              <a:rPr lang="en-US" sz="1400" b="1" dirty="0">
                <a:solidFill>
                  <a:schemeClr val="bg1"/>
                </a:solidFill>
              </a:rPr>
              <a:t>Gabinete</a:t>
            </a:r>
            <a:endParaRPr lang="en-US" sz="1400" dirty="0"/>
          </a:p>
        </p:txBody>
      </p:sp>
      <p:sp>
        <p:nvSpPr>
          <p:cNvPr id="17" name="Tree sub drop 1"/>
          <p:cNvSpPr/>
          <p:nvPr/>
        </p:nvSpPr>
        <p:spPr>
          <a:xfrm>
            <a:off x="3108960" y="3657600"/>
            <a:ext cx="0" cy="365760"/>
          </a:xfrm>
          <a:prstGeom prst="line">
            <a:avLst/>
          </a:prstGeom>
          <a:noFill/>
          <a:ln w="19050">
            <a:solidFill>
              <a:schemeClr val="accent5"/>
            </a:solidFill>
            <a:prstDash val="solid"/>
          </a:ln>
        </p:spPr>
      </p:sp>
      <p:sp>
        <p:nvSpPr>
          <p:cNvPr id="18" name="Tree level 3 1"/>
          <p:cNvSpPr/>
          <p:nvPr/>
        </p:nvSpPr>
        <p:spPr>
          <a:xfrm>
            <a:off x="2331720" y="4023360"/>
            <a:ext cx="1554480" cy="640080"/>
          </a:xfrm>
          <a:prstGeom prst="roundRect">
            <a:avLst>
              <a:gd name="adj" fmla="val 11429"/>
            </a:avLst>
          </a:prstGeom>
          <a:solidFill>
            <a:schemeClr val="bg2"/>
          </a:solidFill>
          <a:ln/>
        </p:spPr>
      </p:sp>
      <p:sp>
        <p:nvSpPr>
          <p:cNvPr id="19" name="Tree level 3 1 text"/>
          <p:cNvSpPr txBox="1"/>
          <p:nvPr/>
        </p:nvSpPr>
        <p:spPr>
          <a:xfrm>
            <a:off x="2331720" y="4023360"/>
            <a:ext cx="1554480" cy="640080"/>
          </a:xfrm>
          <a:prstGeom prst="rect">
            <a:avLst/>
          </a:prstGeom>
          <a:noFill/>
          <a:ln/>
        </p:spPr>
        <p:txBody>
          <a:bodyPr wrap="square" lIns="635" tIns="635" rIns="635" bIns="635" rtlCol="0" anchor="ctr"/>
          <a:lstStyle/>
          <a:p>
            <a:pPr algn="ctr" indent="0" marL="0">
              <a:buNone/>
            </a:pPr>
            <a:r>
              <a:rPr lang="en-US" sz="1200" b="1" dirty="0">
                <a:solidFill>
                  <a:schemeClr val="tx1"/>
                </a:solidFill>
              </a:rPr>
              <a:t>Units, each with its people</a:t>
            </a:r>
            <a:endParaRPr lang="en-US" sz="1200" dirty="0"/>
          </a:p>
        </p:txBody>
      </p:sp>
      <p:sp>
        <p:nvSpPr>
          <p:cNvPr id="20" name="Tree drop 2"/>
          <p:cNvSpPr/>
          <p:nvPr/>
        </p:nvSpPr>
        <p:spPr>
          <a:xfrm>
            <a:off x="4800600" y="2743200"/>
            <a:ext cx="0" cy="182880"/>
          </a:xfrm>
          <a:prstGeom prst="line">
            <a:avLst/>
          </a:prstGeom>
          <a:noFill/>
          <a:ln w="19050">
            <a:solidFill>
              <a:schemeClr val="accent5"/>
            </a:solidFill>
            <a:prstDash val="solid"/>
          </a:ln>
        </p:spPr>
      </p:sp>
      <p:sp>
        <p:nvSpPr>
          <p:cNvPr id="21" name="Tree level 2 2"/>
          <p:cNvSpPr/>
          <p:nvPr/>
        </p:nvSpPr>
        <p:spPr>
          <a:xfrm>
            <a:off x="4023360" y="2926080"/>
            <a:ext cx="1554480" cy="731520"/>
          </a:xfrm>
          <a:prstGeom prst="roundRect">
            <a:avLst>
              <a:gd name="adj" fmla="val 10000"/>
            </a:avLst>
          </a:prstGeom>
          <a:solidFill>
            <a:schemeClr val="accent3"/>
          </a:solidFill>
          <a:ln/>
        </p:spPr>
      </p:sp>
      <p:sp>
        <p:nvSpPr>
          <p:cNvPr id="22" name="Tree level 2 2 text"/>
          <p:cNvSpPr txBox="1"/>
          <p:nvPr/>
        </p:nvSpPr>
        <p:spPr>
          <a:xfrm>
            <a:off x="4023360" y="2926080"/>
            <a:ext cx="1554480" cy="731520"/>
          </a:xfrm>
          <a:prstGeom prst="rect">
            <a:avLst/>
          </a:prstGeom>
          <a:noFill/>
          <a:ln/>
        </p:spPr>
        <p:txBody>
          <a:bodyPr wrap="square" lIns="635" tIns="635" rIns="635" bIns="635" rtlCol="0" anchor="ctr"/>
          <a:lstStyle/>
          <a:p>
            <a:pPr algn="ctr" indent="0" marL="0">
              <a:buNone/>
            </a:pPr>
            <a:r>
              <a:rPr lang="en-US" sz="1400" b="1" dirty="0">
                <a:solidFill>
                  <a:schemeClr val="bg1"/>
                </a:solidFill>
              </a:rPr>
              <a:t>Autonomous body</a:t>
            </a:r>
            <a:endParaRPr lang="en-US" sz="1400" dirty="0"/>
          </a:p>
        </p:txBody>
      </p:sp>
      <p:sp>
        <p:nvSpPr>
          <p:cNvPr id="23" name="Tree sub drop 2"/>
          <p:cNvSpPr/>
          <p:nvPr/>
        </p:nvSpPr>
        <p:spPr>
          <a:xfrm>
            <a:off x="4800600" y="3657600"/>
            <a:ext cx="0" cy="365760"/>
          </a:xfrm>
          <a:prstGeom prst="line">
            <a:avLst/>
          </a:prstGeom>
          <a:noFill/>
          <a:ln w="19050">
            <a:solidFill>
              <a:schemeClr val="accent5"/>
            </a:solidFill>
            <a:prstDash val="solid"/>
          </a:ln>
        </p:spPr>
      </p:sp>
      <p:sp>
        <p:nvSpPr>
          <p:cNvPr id="24" name="Tree level 3 2"/>
          <p:cNvSpPr/>
          <p:nvPr/>
        </p:nvSpPr>
        <p:spPr>
          <a:xfrm>
            <a:off x="4023360" y="4023360"/>
            <a:ext cx="1554480" cy="640080"/>
          </a:xfrm>
          <a:prstGeom prst="roundRect">
            <a:avLst>
              <a:gd name="adj" fmla="val 11429"/>
            </a:avLst>
          </a:prstGeom>
          <a:solidFill>
            <a:schemeClr val="bg2"/>
          </a:solidFill>
          <a:ln/>
        </p:spPr>
      </p:sp>
      <p:sp>
        <p:nvSpPr>
          <p:cNvPr id="25" name="Tree level 3 2 text"/>
          <p:cNvSpPr txBox="1"/>
          <p:nvPr/>
        </p:nvSpPr>
        <p:spPr>
          <a:xfrm>
            <a:off x="4023360" y="4023360"/>
            <a:ext cx="1554480" cy="640080"/>
          </a:xfrm>
          <a:prstGeom prst="rect">
            <a:avLst/>
          </a:prstGeom>
          <a:noFill/>
          <a:ln/>
        </p:spPr>
        <p:txBody>
          <a:bodyPr wrap="square" lIns="635" tIns="635" rIns="635" bIns="635" rtlCol="0" anchor="ctr"/>
          <a:lstStyle/>
          <a:p>
            <a:pPr algn="ctr" indent="0" marL="0">
              <a:buNone/>
            </a:pPr>
            <a:r>
              <a:rPr lang="en-US" sz="1200" b="1" dirty="0">
                <a:solidFill>
                  <a:schemeClr val="tx1"/>
                </a:solidFill>
              </a:rPr>
              <a:t>Units, each with its people</a:t>
            </a:r>
            <a:endParaRPr lang="en-US" sz="1200" dirty="0"/>
          </a:p>
        </p:txBody>
      </p:sp>
      <p:sp>
        <p:nvSpPr>
          <p:cNvPr id="26" name="Text 23"/>
          <p:cNvSpPr txBox="1"/>
          <p:nvPr/>
        </p:nvSpPr>
        <p:spPr>
          <a:xfrm>
            <a:off x="640080" y="4937760"/>
            <a:ext cx="5120640" cy="365760"/>
          </a:xfrm>
          <a:prstGeom prst="rect">
            <a:avLst/>
          </a:prstGeom>
          <a:noFill/>
          <a:ln/>
        </p:spPr>
        <p:txBody>
          <a:bodyPr wrap="square" lIns="0" tIns="0" rIns="0" bIns="0" rtlCol="0" anchor="t"/>
          <a:lstStyle/>
          <a:p>
            <a:pPr indent="0" marL="0">
              <a:buNone/>
            </a:pPr>
            <a:r>
              <a:rPr lang="en-US" sz="1400" i="1" dirty="0">
                <a:solidFill>
                  <a:schemeClr val="accent5"/>
                </a:solidFill>
              </a:rPr>
              <a:t>Any depth the law defines</a:t>
            </a:r>
            <a:endParaRPr lang="en-US" sz="1400" dirty="0"/>
          </a:p>
        </p:txBody>
      </p:sp>
      <p:sp>
        <p:nvSpPr>
          <p:cNvPr id="27" name="Text 24"/>
          <p:cNvSpPr txBox="1"/>
          <p:nvPr/>
        </p:nvSpPr>
        <p:spPr>
          <a:xfrm>
            <a:off x="6583680" y="1691640"/>
            <a:ext cx="4965192" cy="1463040"/>
          </a:xfrm>
          <a:prstGeom prst="rect">
            <a:avLst/>
          </a:prstGeom>
          <a:noFill/>
          <a:ln/>
        </p:spPr>
        <p:txBody>
          <a:bodyPr wrap="square" lIns="0" tIns="0" rIns="0" bIns="0" rtlCol="0" anchor="t"/>
          <a:lstStyle/>
          <a:p>
            <a:pPr indent="0" marL="0">
              <a:buNone/>
            </a:pPr>
            <a:r>
              <a:rPr lang="en-US" sz="1800" b="1" dirty="0">
                <a:solidFill>
                  <a:schemeClr val="tx1"/>
                </a:solidFill>
              </a:rPr>
              <a:t>One deployment, one institution</a:t>
            </a:r>
            <a:endParaRPr lang="en-US" sz="1800" dirty="0"/>
          </a:p>
          <a:p>
            <a:pPr indent="0" marL="0">
              <a:buNone/>
            </a:pPr>
            <a:r>
              <a:rPr lang="en-US" sz="1400" dirty="0">
                <a:solidFill>
                  <a:schemeClr val="tx1"/>
                </a:solidFill>
              </a:rPr>
              <a:t>Name, structure and programmes are set in the app; nothing is hard-coded to a ministry.</a:t>
            </a:r>
            <a:endParaRPr lang="en-US" sz="1800" dirty="0"/>
          </a:p>
        </p:txBody>
      </p:sp>
      <p:sp>
        <p:nvSpPr>
          <p:cNvPr id="28" name="Text 25"/>
          <p:cNvSpPr txBox="1"/>
          <p:nvPr/>
        </p:nvSpPr>
        <p:spPr>
          <a:xfrm>
            <a:off x="6583680" y="3154680"/>
            <a:ext cx="4965192" cy="1463040"/>
          </a:xfrm>
          <a:prstGeom prst="rect">
            <a:avLst/>
          </a:prstGeom>
          <a:noFill/>
          <a:ln/>
        </p:spPr>
        <p:txBody>
          <a:bodyPr wrap="square" lIns="0" tIns="0" rIns="0" bIns="0" rtlCol="0" anchor="t"/>
          <a:lstStyle/>
          <a:p>
            <a:pPr indent="0" marL="0">
              <a:buNone/>
            </a:pPr>
            <a:r>
              <a:rPr lang="en-US" sz="1800" b="1" dirty="0">
                <a:solidFill>
                  <a:schemeClr val="tx1"/>
                </a:solidFill>
              </a:rPr>
              <a:t>Whole ministry or a single office</a:t>
            </a:r>
            <a:endParaRPr lang="en-US" sz="1800" dirty="0"/>
          </a:p>
          <a:p>
            <a:pPr indent="0" marL="0">
              <a:buNone/>
            </a:pPr>
            <a:r>
              <a:rPr lang="en-US" sz="1400" dirty="0">
                <a:solidFill>
                  <a:schemeClr val="tx1"/>
                </a:solidFill>
              </a:rPr>
              <a:t>Start with one directorate or gabinete and add the rest later.</a:t>
            </a:r>
            <a:endParaRPr lang="en-US" sz="1800" dirty="0"/>
          </a:p>
        </p:txBody>
      </p:sp>
      <p:sp>
        <p:nvSpPr>
          <p:cNvPr id="29" name="Text 26"/>
          <p:cNvSpPr txBox="1"/>
          <p:nvPr/>
        </p:nvSpPr>
        <p:spPr>
          <a:xfrm>
            <a:off x="6583680" y="4617720"/>
            <a:ext cx="4965192" cy="1463040"/>
          </a:xfrm>
          <a:prstGeom prst="rect">
            <a:avLst/>
          </a:prstGeom>
          <a:noFill/>
          <a:ln/>
        </p:spPr>
        <p:txBody>
          <a:bodyPr wrap="square" lIns="0" tIns="0" rIns="0" bIns="0" rtlCol="0" anchor="t"/>
          <a:lstStyle/>
          <a:p>
            <a:pPr indent="0" marL="0">
              <a:buNone/>
            </a:pPr>
            <a:r>
              <a:rPr lang="en-US" sz="1800" b="1" dirty="0">
                <a:solidFill>
                  <a:schemeClr val="tx1"/>
                </a:solidFill>
              </a:rPr>
              <a:t>Autonomous bodies included</a:t>
            </a:r>
            <a:endParaRPr lang="en-US" sz="1800" dirty="0"/>
          </a:p>
          <a:p>
            <a:pPr indent="0" marL="0">
              <a:buNone/>
            </a:pPr>
            <a:r>
              <a:rPr lang="en-US" sz="1400" dirty="0">
                <a:solidFill>
                  <a:schemeClr val="tx1"/>
                </a:solidFill>
              </a:rPr>
              <a:t>Public bodies with their own legal personality sit in the same tree.</a:t>
            </a:r>
            <a:endParaRPr lang="en-US" sz="18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Controls an institution can rely on</a:t>
            </a:r>
            <a:endParaRPr lang="en-US" sz="3400" dirty="0"/>
          </a:p>
        </p:txBody>
      </p:sp>
      <p:sp>
        <p:nvSpPr>
          <p:cNvPr id="4" name="Trust 1"/>
          <p:cNvSpPr/>
          <p:nvPr/>
        </p:nvSpPr>
        <p:spPr>
          <a:xfrm>
            <a:off x="640080" y="1600200"/>
            <a:ext cx="3502152" cy="2011680"/>
          </a:xfrm>
          <a:prstGeom prst="roundRect">
            <a:avLst>
              <a:gd name="adj" fmla="val 4545"/>
            </a:avLst>
          </a:prstGeom>
          <a:solidFill>
            <a:schemeClr val="bg2"/>
          </a:solidFill>
          <a:ln/>
        </p:spPr>
      </p:sp>
      <p:sp>
        <p:nvSpPr>
          <p:cNvPr id="5" name="Trust circle 1"/>
          <p:cNvSpPr/>
          <p:nvPr/>
        </p:nvSpPr>
        <p:spPr>
          <a:xfrm>
            <a:off x="914400" y="1874520"/>
            <a:ext cx="640080" cy="640080"/>
          </a:xfrm>
          <a:prstGeom prst="ellipse">
            <a:avLst/>
          </a:prstGeom>
          <a:solidFill>
            <a:schemeClr val="accent1"/>
          </a:solidFill>
          <a:ln/>
        </p:spPr>
      </p:sp>
      <p:pic>
        <p:nvPicPr>
          <p:cNvPr id="6" name="Trust icon 1" descr="Audit trail and record">    </p:cNvPr>
          <p:cNvPicPr>
            <a:picLocks noChangeAspect="1"/>
          </p:cNvPicPr>
          <p:nvPr/>
        </p:nvPicPr>
        <p:blipFill>
          <a:blip r:embed="rId1"/>
          <a:stretch>
            <a:fillRect/>
          </a:stretch>
        </p:blipFill>
        <p:spPr>
          <a:xfrm>
            <a:off x="1078992" y="2039112"/>
            <a:ext cx="310896" cy="310896"/>
          </a:xfrm>
          <a:prstGeom prst="rect">
            <a:avLst/>
          </a:prstGeom>
        </p:spPr>
      </p:pic>
      <p:sp>
        <p:nvSpPr>
          <p:cNvPr id="7" name="Text 3"/>
          <p:cNvSpPr txBox="1"/>
          <p:nvPr/>
        </p:nvSpPr>
        <p:spPr>
          <a:xfrm>
            <a:off x="1691640" y="187452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Audit trail and record</a:t>
            </a:r>
            <a:endParaRPr lang="en-US" sz="1700" dirty="0"/>
          </a:p>
        </p:txBody>
      </p:sp>
      <p:sp>
        <p:nvSpPr>
          <p:cNvPr id="8" name="Text 4"/>
          <p:cNvSpPr txBox="1"/>
          <p:nvPr/>
        </p:nvSpPr>
        <p:spPr>
          <a:xfrm>
            <a:off x="914400" y="2651760"/>
            <a:ext cx="2953512" cy="914400"/>
          </a:xfrm>
          <a:prstGeom prst="rect">
            <a:avLst/>
          </a:prstGeom>
          <a:noFill/>
          <a:ln/>
        </p:spPr>
        <p:txBody>
          <a:bodyPr wrap="square" lIns="0" tIns="0" rIns="0" bIns="0" rtlCol="0" anchor="t"/>
          <a:lstStyle/>
          <a:p>
            <a:pPr indent="0" marL="0">
              <a:buNone/>
            </a:pPr>
            <a:r>
              <a:rPr lang="en-US" sz="1400" dirty="0">
                <a:solidFill>
                  <a:schemeClr val="tx1"/>
                </a:solidFill>
              </a:rPr>
              <a:t>Every change, every version and every signature of every round, with who and when. Nothing is erased.</a:t>
            </a:r>
            <a:endParaRPr lang="en-US" sz="1400" dirty="0"/>
          </a:p>
        </p:txBody>
      </p:sp>
      <p:sp>
        <p:nvSpPr>
          <p:cNvPr id="9" name="Trust 2"/>
          <p:cNvSpPr/>
          <p:nvPr/>
        </p:nvSpPr>
        <p:spPr>
          <a:xfrm>
            <a:off x="4343400" y="1600200"/>
            <a:ext cx="3502152" cy="2011680"/>
          </a:xfrm>
          <a:prstGeom prst="roundRect">
            <a:avLst>
              <a:gd name="adj" fmla="val 4545"/>
            </a:avLst>
          </a:prstGeom>
          <a:solidFill>
            <a:schemeClr val="bg2"/>
          </a:solidFill>
          <a:ln/>
        </p:spPr>
      </p:sp>
      <p:sp>
        <p:nvSpPr>
          <p:cNvPr id="10" name="Trust circle 2"/>
          <p:cNvSpPr/>
          <p:nvPr/>
        </p:nvSpPr>
        <p:spPr>
          <a:xfrm>
            <a:off x="4617720" y="1874520"/>
            <a:ext cx="640080" cy="640080"/>
          </a:xfrm>
          <a:prstGeom prst="ellipse">
            <a:avLst/>
          </a:prstGeom>
          <a:solidFill>
            <a:schemeClr val="accent3"/>
          </a:solidFill>
          <a:ln/>
        </p:spPr>
      </p:sp>
      <p:pic>
        <p:nvPicPr>
          <p:cNvPr id="11" name="Trust icon 2" descr="Role permissions">    </p:cNvPr>
          <p:cNvPicPr>
            <a:picLocks noChangeAspect="1"/>
          </p:cNvPicPr>
          <p:nvPr/>
        </p:nvPicPr>
        <p:blipFill>
          <a:blip r:embed="rId2"/>
          <a:stretch>
            <a:fillRect/>
          </a:stretch>
        </p:blipFill>
        <p:spPr>
          <a:xfrm>
            <a:off x="4782312" y="2039112"/>
            <a:ext cx="310896" cy="310896"/>
          </a:xfrm>
          <a:prstGeom prst="rect">
            <a:avLst/>
          </a:prstGeom>
        </p:spPr>
      </p:pic>
      <p:sp>
        <p:nvSpPr>
          <p:cNvPr id="12" name="Text 7"/>
          <p:cNvSpPr txBox="1"/>
          <p:nvPr/>
        </p:nvSpPr>
        <p:spPr>
          <a:xfrm>
            <a:off x="5394960" y="187452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Role permissions</a:t>
            </a:r>
            <a:endParaRPr lang="en-US" sz="1700" dirty="0"/>
          </a:p>
        </p:txBody>
      </p:sp>
      <p:sp>
        <p:nvSpPr>
          <p:cNvPr id="13" name="Text 8"/>
          <p:cNvSpPr txBox="1"/>
          <p:nvPr/>
        </p:nvSpPr>
        <p:spPr>
          <a:xfrm>
            <a:off x="4617720" y="2651760"/>
            <a:ext cx="2953512" cy="914400"/>
          </a:xfrm>
          <a:prstGeom prst="rect">
            <a:avLst/>
          </a:prstGeom>
          <a:noFill/>
          <a:ln/>
        </p:spPr>
        <p:txBody>
          <a:bodyPr wrap="square" lIns="0" tIns="0" rIns="0" bIns="0" rtlCol="0" anchor="t"/>
          <a:lstStyle/>
          <a:p>
            <a:pPr indent="0" marL="0">
              <a:buNone/>
            </a:pPr>
            <a:r>
              <a:rPr lang="en-US" sz="1400" dirty="0">
                <a:solidFill>
                  <a:schemeClr val="tx1"/>
                </a:solidFill>
              </a:rPr>
              <a:t>Checked on the server for every action, not only hidden in the menu.</a:t>
            </a:r>
            <a:endParaRPr lang="en-US" sz="1400" dirty="0"/>
          </a:p>
        </p:txBody>
      </p:sp>
      <p:sp>
        <p:nvSpPr>
          <p:cNvPr id="14" name="Trust 3"/>
          <p:cNvSpPr/>
          <p:nvPr/>
        </p:nvSpPr>
        <p:spPr>
          <a:xfrm>
            <a:off x="8046720" y="1600200"/>
            <a:ext cx="3502152" cy="2011680"/>
          </a:xfrm>
          <a:prstGeom prst="roundRect">
            <a:avLst>
              <a:gd name="adj" fmla="val 4545"/>
            </a:avLst>
          </a:prstGeom>
          <a:solidFill>
            <a:schemeClr val="bg2"/>
          </a:solidFill>
          <a:ln/>
        </p:spPr>
      </p:sp>
      <p:sp>
        <p:nvSpPr>
          <p:cNvPr id="15" name="Trust circle 3"/>
          <p:cNvSpPr/>
          <p:nvPr/>
        </p:nvSpPr>
        <p:spPr>
          <a:xfrm>
            <a:off x="8321040" y="1874520"/>
            <a:ext cx="640080" cy="640080"/>
          </a:xfrm>
          <a:prstGeom prst="ellipse">
            <a:avLst/>
          </a:prstGeom>
          <a:solidFill>
            <a:schemeClr val="accent4"/>
          </a:solidFill>
          <a:ln/>
        </p:spPr>
      </p:sp>
      <p:pic>
        <p:nvPicPr>
          <p:cNvPr id="16" name="Trust icon 3" descr="Two-factor sign-in">    </p:cNvPr>
          <p:cNvPicPr>
            <a:picLocks noChangeAspect="1"/>
          </p:cNvPicPr>
          <p:nvPr/>
        </p:nvPicPr>
        <p:blipFill>
          <a:blip r:embed="rId3"/>
          <a:stretch>
            <a:fillRect/>
          </a:stretch>
        </p:blipFill>
        <p:spPr>
          <a:xfrm>
            <a:off x="8485632" y="2039112"/>
            <a:ext cx="310896" cy="310896"/>
          </a:xfrm>
          <a:prstGeom prst="rect">
            <a:avLst/>
          </a:prstGeom>
        </p:spPr>
      </p:pic>
      <p:sp>
        <p:nvSpPr>
          <p:cNvPr id="17" name="Text 11"/>
          <p:cNvSpPr txBox="1"/>
          <p:nvPr/>
        </p:nvSpPr>
        <p:spPr>
          <a:xfrm>
            <a:off x="9098280" y="187452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Two-factor sign-in</a:t>
            </a:r>
            <a:endParaRPr lang="en-US" sz="1700" dirty="0"/>
          </a:p>
        </p:txBody>
      </p:sp>
      <p:sp>
        <p:nvSpPr>
          <p:cNvPr id="18" name="Text 12"/>
          <p:cNvSpPr txBox="1"/>
          <p:nvPr/>
        </p:nvSpPr>
        <p:spPr>
          <a:xfrm>
            <a:off x="8321040" y="2651760"/>
            <a:ext cx="2953512" cy="914400"/>
          </a:xfrm>
          <a:prstGeom prst="rect">
            <a:avLst/>
          </a:prstGeom>
          <a:noFill/>
          <a:ln/>
        </p:spPr>
        <p:txBody>
          <a:bodyPr wrap="square" lIns="0" tIns="0" rIns="0" bIns="0" rtlCol="0" anchor="t"/>
          <a:lstStyle/>
          <a:p>
            <a:pPr indent="0" marL="0">
              <a:buNone/>
            </a:pPr>
            <a:r>
              <a:rPr lang="en-US" sz="1400" dirty="0">
                <a:solidFill>
                  <a:schemeClr val="tx1"/>
                </a:solidFill>
              </a:rPr>
              <a:t>Authenticator codes and recovery codes; required for senior roles.</a:t>
            </a:r>
            <a:endParaRPr lang="en-US" sz="1400" dirty="0"/>
          </a:p>
        </p:txBody>
      </p:sp>
      <p:sp>
        <p:nvSpPr>
          <p:cNvPr id="19" name="Trust 4"/>
          <p:cNvSpPr/>
          <p:nvPr/>
        </p:nvSpPr>
        <p:spPr>
          <a:xfrm>
            <a:off x="640080" y="3840480"/>
            <a:ext cx="3502152" cy="2011680"/>
          </a:xfrm>
          <a:prstGeom prst="roundRect">
            <a:avLst>
              <a:gd name="adj" fmla="val 4545"/>
            </a:avLst>
          </a:prstGeom>
          <a:solidFill>
            <a:schemeClr val="bg2"/>
          </a:solidFill>
          <a:ln/>
        </p:spPr>
      </p:sp>
      <p:sp>
        <p:nvSpPr>
          <p:cNvPr id="20" name="Trust circle 4"/>
          <p:cNvSpPr/>
          <p:nvPr/>
        </p:nvSpPr>
        <p:spPr>
          <a:xfrm>
            <a:off x="914400" y="4114800"/>
            <a:ext cx="640080" cy="640080"/>
          </a:xfrm>
          <a:prstGeom prst="ellipse">
            <a:avLst/>
          </a:prstGeom>
          <a:solidFill>
            <a:schemeClr val="accent6"/>
          </a:solidFill>
          <a:ln/>
        </p:spPr>
      </p:sp>
      <p:pic>
        <p:nvPicPr>
          <p:cNvPr id="21" name="Trust icon 4" descr="Closed registration">    </p:cNvPr>
          <p:cNvPicPr>
            <a:picLocks noChangeAspect="1"/>
          </p:cNvPicPr>
          <p:nvPr/>
        </p:nvPicPr>
        <p:blipFill>
          <a:blip r:embed="rId4"/>
          <a:stretch>
            <a:fillRect/>
          </a:stretch>
        </p:blipFill>
        <p:spPr>
          <a:xfrm>
            <a:off x="1078992" y="4279392"/>
            <a:ext cx="310896" cy="310896"/>
          </a:xfrm>
          <a:prstGeom prst="rect">
            <a:avLst/>
          </a:prstGeom>
        </p:spPr>
      </p:pic>
      <p:sp>
        <p:nvSpPr>
          <p:cNvPr id="22" name="Text 15"/>
          <p:cNvSpPr txBox="1"/>
          <p:nvPr/>
        </p:nvSpPr>
        <p:spPr>
          <a:xfrm>
            <a:off x="1691640" y="411480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Closed registration</a:t>
            </a:r>
            <a:endParaRPr lang="en-US" sz="1700" dirty="0"/>
          </a:p>
        </p:txBody>
      </p:sp>
      <p:sp>
        <p:nvSpPr>
          <p:cNvPr id="23" name="Text 16"/>
          <p:cNvSpPr txBox="1"/>
          <p:nvPr/>
        </p:nvSpPr>
        <p:spPr>
          <a:xfrm>
            <a:off x="914400" y="4892040"/>
            <a:ext cx="2953512" cy="914400"/>
          </a:xfrm>
          <a:prstGeom prst="rect">
            <a:avLst/>
          </a:prstGeom>
          <a:noFill/>
          <a:ln/>
        </p:spPr>
        <p:txBody>
          <a:bodyPr wrap="square" lIns="0" tIns="0" rIns="0" bIns="0" rtlCol="0" anchor="t"/>
          <a:lstStyle/>
          <a:p>
            <a:pPr indent="0" marL="0">
              <a:buNone/>
            </a:pPr>
            <a:r>
              <a:rPr lang="en-US" sz="1400" dirty="0">
                <a:solidFill>
                  <a:schemeClr val="tx1"/>
                </a:solidFill>
              </a:rPr>
              <a:t>No self-sign-up; sign-in attempts are rate-limited.</a:t>
            </a:r>
            <a:endParaRPr lang="en-US" sz="1400" dirty="0"/>
          </a:p>
        </p:txBody>
      </p:sp>
      <p:sp>
        <p:nvSpPr>
          <p:cNvPr id="24" name="Trust 5"/>
          <p:cNvSpPr/>
          <p:nvPr/>
        </p:nvSpPr>
        <p:spPr>
          <a:xfrm>
            <a:off x="4343400" y="3840480"/>
            <a:ext cx="3502152" cy="2011680"/>
          </a:xfrm>
          <a:prstGeom prst="roundRect">
            <a:avLst>
              <a:gd name="adj" fmla="val 4545"/>
            </a:avLst>
          </a:prstGeom>
          <a:solidFill>
            <a:schemeClr val="bg2"/>
          </a:solidFill>
          <a:ln/>
        </p:spPr>
      </p:sp>
      <p:sp>
        <p:nvSpPr>
          <p:cNvPr id="25" name="Trust circle 5"/>
          <p:cNvSpPr/>
          <p:nvPr/>
        </p:nvSpPr>
        <p:spPr>
          <a:xfrm>
            <a:off x="4617720" y="4114800"/>
            <a:ext cx="640080" cy="640080"/>
          </a:xfrm>
          <a:prstGeom prst="ellipse">
            <a:avLst/>
          </a:prstGeom>
          <a:solidFill>
            <a:schemeClr val="accent5"/>
          </a:solidFill>
          <a:ln/>
        </p:spPr>
      </p:sp>
      <p:pic>
        <p:nvPicPr>
          <p:cNvPr id="26" name="Trust icon 5" descr="Backups and health">    </p:cNvPr>
          <p:cNvPicPr>
            <a:picLocks noChangeAspect="1"/>
          </p:cNvPicPr>
          <p:nvPr/>
        </p:nvPicPr>
        <p:blipFill>
          <a:blip r:embed="rId5"/>
          <a:stretch>
            <a:fillRect/>
          </a:stretch>
        </p:blipFill>
        <p:spPr>
          <a:xfrm>
            <a:off x="4782312" y="4279392"/>
            <a:ext cx="310896" cy="310896"/>
          </a:xfrm>
          <a:prstGeom prst="rect">
            <a:avLst/>
          </a:prstGeom>
        </p:spPr>
      </p:pic>
      <p:sp>
        <p:nvSpPr>
          <p:cNvPr id="27" name="Text 19"/>
          <p:cNvSpPr txBox="1"/>
          <p:nvPr/>
        </p:nvSpPr>
        <p:spPr>
          <a:xfrm>
            <a:off x="5394960" y="411480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Backups and health</a:t>
            </a:r>
            <a:endParaRPr lang="en-US" sz="1700" dirty="0"/>
          </a:p>
        </p:txBody>
      </p:sp>
      <p:sp>
        <p:nvSpPr>
          <p:cNvPr id="28" name="Text 20"/>
          <p:cNvSpPr txBox="1"/>
          <p:nvPr/>
        </p:nvSpPr>
        <p:spPr>
          <a:xfrm>
            <a:off x="4617720" y="4892040"/>
            <a:ext cx="2953512" cy="914400"/>
          </a:xfrm>
          <a:prstGeom prst="rect">
            <a:avLst/>
          </a:prstGeom>
          <a:noFill/>
          <a:ln/>
        </p:spPr>
        <p:txBody>
          <a:bodyPr wrap="square" lIns="0" tIns="0" rIns="0" bIns="0" rtlCol="0" anchor="t"/>
          <a:lstStyle/>
          <a:p>
            <a:pPr indent="0" marL="0">
              <a:buNone/>
            </a:pPr>
            <a:r>
              <a:rPr lang="en-US" sz="1400" dirty="0">
                <a:solidFill>
                  <a:schemeClr val="tx1"/>
                </a:solidFill>
              </a:rPr>
              <a:t>Nightly verified backups and a health check for uptime monitoring.</a:t>
            </a:r>
            <a:endParaRPr lang="en-US" sz="1400" dirty="0"/>
          </a:p>
        </p:txBody>
      </p:sp>
      <p:sp>
        <p:nvSpPr>
          <p:cNvPr id="29" name="Trust 6"/>
          <p:cNvSpPr/>
          <p:nvPr/>
        </p:nvSpPr>
        <p:spPr>
          <a:xfrm>
            <a:off x="8046720" y="3840480"/>
            <a:ext cx="3502152" cy="2011680"/>
          </a:xfrm>
          <a:prstGeom prst="roundRect">
            <a:avLst>
              <a:gd name="adj" fmla="val 4545"/>
            </a:avLst>
          </a:prstGeom>
          <a:solidFill>
            <a:schemeClr val="bg2"/>
          </a:solidFill>
          <a:ln/>
        </p:spPr>
      </p:sp>
      <p:sp>
        <p:nvSpPr>
          <p:cNvPr id="30" name="Trust circle 6"/>
          <p:cNvSpPr/>
          <p:nvPr/>
        </p:nvSpPr>
        <p:spPr>
          <a:xfrm>
            <a:off x="8321040" y="4114800"/>
            <a:ext cx="640080" cy="640080"/>
          </a:xfrm>
          <a:prstGeom prst="ellipse">
            <a:avLst/>
          </a:prstGeom>
          <a:solidFill>
            <a:schemeClr val="accent1"/>
          </a:solidFill>
          <a:ln/>
        </p:spPr>
      </p:sp>
      <p:pic>
        <p:nvPicPr>
          <p:cNvPr id="31" name="Trust icon 6" descr="Tested">    </p:cNvPr>
          <p:cNvPicPr>
            <a:picLocks noChangeAspect="1"/>
          </p:cNvPicPr>
          <p:nvPr/>
        </p:nvPicPr>
        <p:blipFill>
          <a:blip r:embed="rId6"/>
          <a:stretch>
            <a:fillRect/>
          </a:stretch>
        </p:blipFill>
        <p:spPr>
          <a:xfrm>
            <a:off x="8485632" y="4279392"/>
            <a:ext cx="310896" cy="310896"/>
          </a:xfrm>
          <a:prstGeom prst="rect">
            <a:avLst/>
          </a:prstGeom>
        </p:spPr>
      </p:pic>
      <p:sp>
        <p:nvSpPr>
          <p:cNvPr id="32" name="Text 23"/>
          <p:cNvSpPr txBox="1"/>
          <p:nvPr/>
        </p:nvSpPr>
        <p:spPr>
          <a:xfrm>
            <a:off x="9098280" y="411480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Tested</a:t>
            </a:r>
            <a:endParaRPr lang="en-US" sz="1700" dirty="0"/>
          </a:p>
        </p:txBody>
      </p:sp>
      <p:sp>
        <p:nvSpPr>
          <p:cNvPr id="33" name="Text 24"/>
          <p:cNvSpPr txBox="1"/>
          <p:nvPr/>
        </p:nvSpPr>
        <p:spPr>
          <a:xfrm>
            <a:off x="8321040" y="4892040"/>
            <a:ext cx="2953512" cy="914400"/>
          </a:xfrm>
          <a:prstGeom prst="rect">
            <a:avLst/>
          </a:prstGeom>
          <a:noFill/>
          <a:ln/>
        </p:spPr>
        <p:txBody>
          <a:bodyPr wrap="square" lIns="0" tIns="0" rIns="0" bIns="0" rtlCol="0" anchor="t"/>
          <a:lstStyle/>
          <a:p>
            <a:pPr indent="0" marL="0">
              <a:buNone/>
            </a:pPr>
            <a:r>
              <a:rPr lang="en-US" sz="1400" dirty="0">
                <a:solidFill>
                  <a:schemeClr val="tx1"/>
                </a:solidFill>
              </a:rPr>
              <a:t>More than 480 automated tests guard the approval and revision rules.</a:t>
            </a:r>
            <a:endParaRPr lang="en-US" sz="14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Try it with sample data</a:t>
            </a:r>
            <a:endParaRPr lang="en-US" sz="3400" dirty="0"/>
          </a:p>
        </p:txBody>
      </p:sp>
      <p:sp>
        <p:nvSpPr>
          <p:cNvPr id="4" name="Demo card 1"/>
          <p:cNvSpPr/>
          <p:nvPr/>
        </p:nvSpPr>
        <p:spPr>
          <a:xfrm>
            <a:off x="640080" y="1691640"/>
            <a:ext cx="5349240" cy="3200400"/>
          </a:xfrm>
          <a:prstGeom prst="roundRect">
            <a:avLst>
              <a:gd name="adj" fmla="val 2857"/>
            </a:avLst>
          </a:prstGeom>
          <a:solidFill>
            <a:schemeClr val="bg2"/>
          </a:solidFill>
          <a:ln/>
        </p:spPr>
      </p:sp>
      <p:sp>
        <p:nvSpPr>
          <p:cNvPr id="5" name="Demo circle 1"/>
          <p:cNvSpPr/>
          <p:nvPr/>
        </p:nvSpPr>
        <p:spPr>
          <a:xfrm>
            <a:off x="1005840" y="2057400"/>
            <a:ext cx="822960" cy="822960"/>
          </a:xfrm>
          <a:prstGeom prst="ellipse">
            <a:avLst/>
          </a:prstGeom>
          <a:solidFill>
            <a:schemeClr val="accent1"/>
          </a:solidFill>
          <a:ln/>
        </p:spPr>
      </p:sp>
      <p:pic>
        <p:nvPicPr>
          <p:cNvPr id="6" name="Demo icon 1" descr="A whole ministry">    </p:cNvPr>
          <p:cNvPicPr>
            <a:picLocks noChangeAspect="1"/>
          </p:cNvPicPr>
          <p:nvPr/>
        </p:nvPicPr>
        <p:blipFill>
          <a:blip r:embed="rId1"/>
          <a:stretch>
            <a:fillRect/>
          </a:stretch>
        </p:blipFill>
        <p:spPr>
          <a:xfrm>
            <a:off x="1216152" y="2267712"/>
            <a:ext cx="402336" cy="402336"/>
          </a:xfrm>
          <a:prstGeom prst="rect">
            <a:avLst/>
          </a:prstGeom>
        </p:spPr>
      </p:pic>
      <p:sp>
        <p:nvSpPr>
          <p:cNvPr id="7" name="Text 3"/>
          <p:cNvSpPr txBox="1"/>
          <p:nvPr/>
        </p:nvSpPr>
        <p:spPr>
          <a:xfrm>
            <a:off x="1005840" y="3063240"/>
            <a:ext cx="4617720"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A whole ministry</a:t>
            </a:r>
            <a:endParaRPr lang="en-US" sz="2200" dirty="0"/>
          </a:p>
        </p:txBody>
      </p:sp>
      <p:sp>
        <p:nvSpPr>
          <p:cNvPr id="8" name="Text 4"/>
          <p:cNvSpPr txBox="1"/>
          <p:nvPr/>
        </p:nvSpPr>
        <p:spPr>
          <a:xfrm>
            <a:off x="1005840" y="3611880"/>
            <a:ext cx="4617720" cy="1188720"/>
          </a:xfrm>
          <a:prstGeom prst="rect">
            <a:avLst/>
          </a:prstGeom>
          <a:noFill/>
          <a:ln/>
        </p:spPr>
        <p:txBody>
          <a:bodyPr wrap="square" lIns="0" tIns="0" rIns="0" bIns="0" rtlCol="0" anchor="t"/>
          <a:lstStyle/>
          <a:p>
            <a:pPr indent="0" marL="0">
              <a:buNone/>
            </a:pPr>
            <a:r>
              <a:rPr lang="en-US" sz="1500" dirty="0">
                <a:solidFill>
                  <a:schemeClr val="tx1"/>
                </a:solidFill>
              </a:rPr>
              <a:t>The Ministry of Transport and Communications with its directorates, municipal directorates and autonomous bodies; the real State Budget plans for 2025 to 2027 and a technical officer and a director for every unit.</a:t>
            </a:r>
            <a:endParaRPr lang="en-US" sz="1500" dirty="0"/>
          </a:p>
        </p:txBody>
      </p:sp>
      <p:sp>
        <p:nvSpPr>
          <p:cNvPr id="9" name="Demo card 2"/>
          <p:cNvSpPr/>
          <p:nvPr/>
        </p:nvSpPr>
        <p:spPr>
          <a:xfrm>
            <a:off x="6172200" y="1691640"/>
            <a:ext cx="5349240" cy="3200400"/>
          </a:xfrm>
          <a:prstGeom prst="roundRect">
            <a:avLst>
              <a:gd name="adj" fmla="val 2857"/>
            </a:avLst>
          </a:prstGeom>
          <a:solidFill>
            <a:schemeClr val="bg2"/>
          </a:solidFill>
          <a:ln/>
        </p:spPr>
      </p:sp>
      <p:sp>
        <p:nvSpPr>
          <p:cNvPr id="10" name="Demo circle 2"/>
          <p:cNvSpPr/>
          <p:nvPr/>
        </p:nvSpPr>
        <p:spPr>
          <a:xfrm>
            <a:off x="6537960" y="2057400"/>
            <a:ext cx="822960" cy="822960"/>
          </a:xfrm>
          <a:prstGeom prst="ellipse">
            <a:avLst/>
          </a:prstGeom>
          <a:solidFill>
            <a:schemeClr val="accent3"/>
          </a:solidFill>
          <a:ln/>
        </p:spPr>
      </p:sp>
      <p:pic>
        <p:nvPicPr>
          <p:cNvPr id="11" name="Demo icon 2" descr="Practise the real flow">    </p:cNvPr>
          <p:cNvPicPr>
            <a:picLocks noChangeAspect="1"/>
          </p:cNvPicPr>
          <p:nvPr/>
        </p:nvPicPr>
        <p:blipFill>
          <a:blip r:embed="rId2"/>
          <a:stretch>
            <a:fillRect/>
          </a:stretch>
        </p:blipFill>
        <p:spPr>
          <a:xfrm>
            <a:off x="6748272" y="2267712"/>
            <a:ext cx="402336" cy="402336"/>
          </a:xfrm>
          <a:prstGeom prst="rect">
            <a:avLst/>
          </a:prstGeom>
        </p:spPr>
      </p:pic>
      <p:sp>
        <p:nvSpPr>
          <p:cNvPr id="12" name="Text 7"/>
          <p:cNvSpPr txBox="1"/>
          <p:nvPr/>
        </p:nvSpPr>
        <p:spPr>
          <a:xfrm>
            <a:off x="6537960" y="3063240"/>
            <a:ext cx="4617720"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Practise the real flow</a:t>
            </a:r>
            <a:endParaRPr lang="en-US" sz="2200" dirty="0"/>
          </a:p>
        </p:txBody>
      </p:sp>
      <p:sp>
        <p:nvSpPr>
          <p:cNvPr id="13" name="Text 8"/>
          <p:cNvSpPr txBox="1"/>
          <p:nvPr/>
        </p:nvSpPr>
        <p:spPr>
          <a:xfrm>
            <a:off x="6537960" y="3611880"/>
            <a:ext cx="4617720" cy="1188720"/>
          </a:xfrm>
          <a:prstGeom prst="rect">
            <a:avLst/>
          </a:prstGeom>
          <a:noFill/>
          <a:ln/>
        </p:spPr>
        <p:txBody>
          <a:bodyPr wrap="square" lIns="0" tIns="0" rIns="0" bIns="0" rtlCol="0" anchor="t"/>
          <a:lstStyle/>
          <a:p>
            <a:pPr indent="0" marL="0">
              <a:buNone/>
            </a:pPr>
            <a:r>
              <a:rPr lang="en-US" sz="1500" dirty="0">
                <a:solidFill>
                  <a:schemeClr val="tx1"/>
                </a:solidFill>
              </a:rPr>
              <a:t>Sign in as a technical officer, a director and the head of a directorate and follow an activity from draft to approved, with the lists, interim cover and signing in order.</a:t>
            </a:r>
            <a:endParaRPr lang="en-US" sz="1500" dirty="0"/>
          </a:p>
        </p:txBody>
      </p:sp>
      <p:sp>
        <p:nvSpPr>
          <p:cNvPr id="14" name="Text 9"/>
          <p:cNvSpPr txBox="1"/>
          <p:nvPr/>
        </p:nvSpPr>
        <p:spPr>
          <a:xfrm>
            <a:off x="640080" y="5166360"/>
            <a:ext cx="10881360" cy="548640"/>
          </a:xfrm>
          <a:prstGeom prst="rect">
            <a:avLst/>
          </a:prstGeom>
          <a:noFill/>
          <a:ln/>
        </p:spPr>
        <p:txBody>
          <a:bodyPr wrap="square" lIns="0" tIns="0" rIns="0" bIns="0" rtlCol="0" anchor="t"/>
          <a:lstStyle/>
          <a:p>
            <a:pPr indent="0" marL="0">
              <a:buNone/>
            </a:pPr>
            <a:r>
              <a:rPr lang="en-US" sz="1400" i="1" dirty="0">
                <a:solidFill>
                  <a:schemeClr val="accent5"/>
                </a:solidFill>
              </a:rPr>
              <a:t>Loaded and removed by an administrator at Management &gt; Sample Data; real data is never touched. Refused in production.</a:t>
            </a:r>
            <a:endParaRPr lang="en-US" sz="14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640080" y="502920"/>
            <a:ext cx="10911535" cy="868680"/>
          </a:xfrm>
          <a:prstGeom prst="rect">
            <a:avLst/>
          </a:prstGeom>
          <a:noFill/>
          <a:ln/>
        </p:spPr>
        <p:txBody>
          <a:bodyPr wrap="square" lIns="0" tIns="0" rIns="0" bIns="0" rtlCol="0" anchor="ctr"/>
          <a:lstStyle/>
          <a:p>
            <a:pPr algn="l" indent="0" marL="0">
              <a:buNone/>
            </a:pPr>
            <a:r>
              <a:rPr lang="en-US" sz="3600" b="1" dirty="0">
                <a:solidFill>
                  <a:schemeClr val="bg1"/>
                </a:solidFill>
              </a:rPr>
              <a:t>Proposed next steps</a:t>
            </a:r>
            <a:endParaRPr lang="en-US" sz="3600" dirty="0"/>
          </a:p>
        </p:txBody>
      </p:sp>
      <p:sp>
        <p:nvSpPr>
          <p:cNvPr id="3" name="Next number 1"/>
          <p:cNvSpPr/>
          <p:nvPr/>
        </p:nvSpPr>
        <p:spPr>
          <a:xfrm>
            <a:off x="640080" y="1691640"/>
            <a:ext cx="731520" cy="731520"/>
          </a:xfrm>
          <a:prstGeom prst="ellipse">
            <a:avLst/>
          </a:prstGeom>
          <a:solidFill>
            <a:schemeClr val="accent1"/>
          </a:solidFill>
          <a:ln/>
        </p:spPr>
      </p:sp>
      <p:sp>
        <p:nvSpPr>
          <p:cNvPr id="4" name="Next number text 1"/>
          <p:cNvSpPr txBox="1"/>
          <p:nvPr/>
        </p:nvSpPr>
        <p:spPr>
          <a:xfrm>
            <a:off x="640080" y="169164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5" name="Next step 1"/>
          <p:cNvSpPr txBox="1"/>
          <p:nvPr/>
        </p:nvSpPr>
        <p:spPr>
          <a:xfrm>
            <a:off x="1691640" y="1600200"/>
            <a:ext cx="9692640" cy="914400"/>
          </a:xfrm>
          <a:prstGeom prst="rect">
            <a:avLst/>
          </a:prstGeom>
          <a:noFill/>
          <a:ln/>
        </p:spPr>
        <p:txBody>
          <a:bodyPr wrap="square" lIns="0" tIns="0" rIns="0" bIns="0" rtlCol="0" anchor="ctr"/>
          <a:lstStyle/>
          <a:p>
            <a:pPr indent="0" marL="0">
              <a:buNone/>
            </a:pPr>
            <a:r>
              <a:rPr lang="en-US" sz="2200" b="1" dirty="0">
                <a:solidFill>
                  <a:schemeClr val="bg1"/>
                </a:solidFill>
              </a:rPr>
              <a:t>Deploy for real use</a:t>
            </a:r>
            <a:endParaRPr lang="en-US" sz="2200" dirty="0"/>
          </a:p>
          <a:p>
            <a:pPr indent="0" marL="0">
              <a:buNone/>
            </a:pPr>
            <a:r>
              <a:rPr lang="en-US" sz="1600" dirty="0">
                <a:solidFill>
                  <a:schemeClr val="bg1"/>
                </a:solidFill>
              </a:rPr>
              <a:t>Production server, queue worker for notifications, Redis for sessions and cache, and the nightly backup job.</a:t>
            </a:r>
            <a:endParaRPr lang="en-US" sz="2200" dirty="0"/>
          </a:p>
        </p:txBody>
      </p:sp>
      <p:sp>
        <p:nvSpPr>
          <p:cNvPr id="6" name="Next number 2"/>
          <p:cNvSpPr/>
          <p:nvPr/>
        </p:nvSpPr>
        <p:spPr>
          <a:xfrm>
            <a:off x="640080" y="2788920"/>
            <a:ext cx="731520" cy="731520"/>
          </a:xfrm>
          <a:prstGeom prst="ellipse">
            <a:avLst/>
          </a:prstGeom>
          <a:solidFill>
            <a:schemeClr val="accent1"/>
          </a:solidFill>
          <a:ln/>
        </p:spPr>
      </p:sp>
      <p:sp>
        <p:nvSpPr>
          <p:cNvPr id="7" name="Next number text 2"/>
          <p:cNvSpPr txBox="1"/>
          <p:nvPr/>
        </p:nvSpPr>
        <p:spPr>
          <a:xfrm>
            <a:off x="640080" y="278892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8" name="Next step 2"/>
          <p:cNvSpPr txBox="1"/>
          <p:nvPr/>
        </p:nvSpPr>
        <p:spPr>
          <a:xfrm>
            <a:off x="1691640" y="2697480"/>
            <a:ext cx="9692640" cy="914400"/>
          </a:xfrm>
          <a:prstGeom prst="rect">
            <a:avLst/>
          </a:prstGeom>
          <a:noFill/>
          <a:ln/>
        </p:spPr>
        <p:txBody>
          <a:bodyPr wrap="square" lIns="0" tIns="0" rIns="0" bIns="0" rtlCol="0" anchor="ctr"/>
          <a:lstStyle/>
          <a:p>
            <a:pPr indent="0" marL="0">
              <a:buNone/>
            </a:pPr>
            <a:r>
              <a:rPr lang="en-US" sz="2200" b="1" dirty="0">
                <a:solidFill>
                  <a:schemeClr val="bg1"/>
                </a:solidFill>
              </a:rPr>
              <a:t>Pilot with one directorate</a:t>
            </a:r>
            <a:endParaRPr lang="en-US" sz="2200" dirty="0"/>
          </a:p>
          <a:p>
            <a:pPr indent="0" marL="0">
              <a:buNone/>
            </a:pPr>
            <a:r>
              <a:rPr lang="en-US" sz="1600" dirty="0">
                <a:solidFill>
                  <a:schemeClr val="bg1"/>
                </a:solidFill>
              </a:rPr>
              <a:t>Load the real structure and people, set the calendar, and run one full plan with its own technical officers and director.</a:t>
            </a:r>
            <a:endParaRPr lang="en-US" sz="2200" dirty="0"/>
          </a:p>
        </p:txBody>
      </p:sp>
      <p:sp>
        <p:nvSpPr>
          <p:cNvPr id="9" name="Next number 3"/>
          <p:cNvSpPr/>
          <p:nvPr/>
        </p:nvSpPr>
        <p:spPr>
          <a:xfrm>
            <a:off x="640080" y="3886200"/>
            <a:ext cx="731520" cy="731520"/>
          </a:xfrm>
          <a:prstGeom prst="ellipse">
            <a:avLst/>
          </a:prstGeom>
          <a:solidFill>
            <a:schemeClr val="accent1"/>
          </a:solidFill>
          <a:ln/>
        </p:spPr>
      </p:sp>
      <p:sp>
        <p:nvSpPr>
          <p:cNvPr id="10" name="Next number text 3"/>
          <p:cNvSpPr txBox="1"/>
          <p:nvPr/>
        </p:nvSpPr>
        <p:spPr>
          <a:xfrm>
            <a:off x="640080" y="388620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1" name="Next step 3"/>
          <p:cNvSpPr txBox="1"/>
          <p:nvPr/>
        </p:nvSpPr>
        <p:spPr>
          <a:xfrm>
            <a:off x="1691640" y="3794760"/>
            <a:ext cx="9692640" cy="914400"/>
          </a:xfrm>
          <a:prstGeom prst="rect">
            <a:avLst/>
          </a:prstGeom>
          <a:noFill/>
          <a:ln/>
        </p:spPr>
        <p:txBody>
          <a:bodyPr wrap="square" lIns="0" tIns="0" rIns="0" bIns="0" rtlCol="0" anchor="ctr"/>
          <a:lstStyle/>
          <a:p>
            <a:pPr indent="0" marL="0">
              <a:buNone/>
            </a:pPr>
            <a:r>
              <a:rPr lang="en-US" sz="2200" b="1" dirty="0">
                <a:solidFill>
                  <a:schemeClr val="bg1"/>
                </a:solidFill>
              </a:rPr>
              <a:t>Train with the manual</a:t>
            </a:r>
            <a:endParaRPr lang="en-US" sz="2200" dirty="0"/>
          </a:p>
          <a:p>
            <a:pPr indent="0" marL="0">
              <a:buNone/>
            </a:pPr>
            <a:r>
              <a:rPr lang="en-US" sz="1600" dirty="0">
                <a:solidFill>
                  <a:schemeClr val="bg1"/>
                </a:solidFill>
              </a:rPr>
              <a:t>The user manual walks every role through the whole year; sample data lets people practise first.</a:t>
            </a:r>
            <a:endParaRPr lang="en-US" sz="2200" dirty="0"/>
          </a:p>
        </p:txBody>
      </p:sp>
      <p:sp>
        <p:nvSpPr>
          <p:cNvPr id="12" name="Next number 4"/>
          <p:cNvSpPr/>
          <p:nvPr/>
        </p:nvSpPr>
        <p:spPr>
          <a:xfrm>
            <a:off x="640080" y="4983480"/>
            <a:ext cx="731520" cy="731520"/>
          </a:xfrm>
          <a:prstGeom prst="ellipse">
            <a:avLst/>
          </a:prstGeom>
          <a:solidFill>
            <a:schemeClr val="accent1"/>
          </a:solidFill>
          <a:ln/>
        </p:spPr>
      </p:sp>
      <p:sp>
        <p:nvSpPr>
          <p:cNvPr id="13" name="Next number text 4"/>
          <p:cNvSpPr txBox="1"/>
          <p:nvPr/>
        </p:nvSpPr>
        <p:spPr>
          <a:xfrm>
            <a:off x="640080" y="498348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4</a:t>
            </a:r>
            <a:endParaRPr lang="en-US" sz="2400" dirty="0"/>
          </a:p>
        </p:txBody>
      </p:sp>
      <p:sp>
        <p:nvSpPr>
          <p:cNvPr id="14" name="Next step 4"/>
          <p:cNvSpPr txBox="1"/>
          <p:nvPr/>
        </p:nvSpPr>
        <p:spPr>
          <a:xfrm>
            <a:off x="1691640" y="4892040"/>
            <a:ext cx="9692640" cy="914400"/>
          </a:xfrm>
          <a:prstGeom prst="rect">
            <a:avLst/>
          </a:prstGeom>
          <a:noFill/>
          <a:ln/>
        </p:spPr>
        <p:txBody>
          <a:bodyPr wrap="square" lIns="0" tIns="0" rIns="0" bIns="0" rtlCol="0" anchor="ctr"/>
          <a:lstStyle/>
          <a:p>
            <a:pPr indent="0" marL="0">
              <a:buNone/>
            </a:pPr>
            <a:r>
              <a:rPr lang="en-US" sz="2200" b="1" dirty="0">
                <a:solidFill>
                  <a:schemeClr val="bg1"/>
                </a:solidFill>
              </a:rPr>
              <a:t>Keep improving</a:t>
            </a:r>
            <a:endParaRPr lang="en-US" sz="2200" dirty="0"/>
          </a:p>
          <a:p>
            <a:pPr indent="0" marL="0">
              <a:buNone/>
            </a:pPr>
            <a:r>
              <a:rPr lang="en-US" sz="1600" dirty="0">
                <a:solidFill>
                  <a:schemeClr val="bg1"/>
                </a:solidFill>
              </a:rPr>
              <a:t>Watch real usage, fix what real users hit, and keep every text translated.</a:t>
            </a:r>
            <a:endParaRPr lang="en-US" sz="2200" dirty="0"/>
          </a:p>
        </p:txBody>
      </p:sp>
    </p:spTree>
  </p:cSld>
  <p:clrMapOvr>
    <a:masterClrMapping/>
  </p:clrMapOvr>
</p:sld>
</file>

<file path=ppt/theme/theme1.xml><?xml version="1.0" encoding="utf-8"?>
<a:theme xmlns:a="http://schemas.openxmlformats.org/drawingml/2006/main" name="PAA Navy">
  <a:themeElements>
    <a:clrScheme name="PAA Navy">
      <a:dk1>
        <a:srgbClr val="1B2A41"/>
      </a:dk1>
      <a:lt1>
        <a:srgbClr val="FFFFFF"/>
      </a:lt1>
      <a:dk2>
        <a:srgbClr val="0F1B2D"/>
      </a:dk2>
      <a:lt2>
        <a:srgbClr val="EEF2F7"/>
      </a:lt2>
      <a:accent1>
        <a:srgbClr val="C8102E"/>
      </a:accent1>
      <a:accent2>
        <a:srgbClr val="F2B705"/>
      </a:accent2>
      <a:accent3>
        <a:srgbClr val="2E6F95"/>
      </a:accent3>
      <a:accent4>
        <a:srgbClr val="3A7D5C"/>
      </a:accent4>
      <a:accent5>
        <a:srgbClr val="7A8CA3"/>
      </a:accent5>
      <a:accent6>
        <a:srgbClr val="E4572E"/>
      </a:accent6>
      <a:hlink>
        <a:srgbClr val="2E6F95"/>
      </a:hlink>
      <a:folHlink>
        <a:srgbClr val="7A8CA3"/>
      </a:folHlink>
    </a:clrScheme>
    <a:fontScheme name="PAA Nav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Plano de Ação Anual (PAA)</dc:title>
  <dc:subject>PptxGenJS Presentation</dc:subject>
  <dc:creator>G-Kakaroto</dc:creator>
  <cp:lastModifiedBy>G-Kakaroto</cp:lastModifiedBy>
  <cp:revision>1</cp:revision>
  <dcterms:created xsi:type="dcterms:W3CDTF">2026-10-21T23:43:56Z</dcterms:created>
  <dcterms:modified xsi:type="dcterms:W3CDTF">2026-10-21T23:43:56Z</dcterms:modified>
</cp:coreProperties>
</file>