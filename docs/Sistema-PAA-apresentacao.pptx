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96c92cc-0984-fd78-62a1-794816730cc8}">
          <p14:sldIdLst>
            <p14:sldId id="256"/>
            <p14:sldId id="257"/>
          </p14:sldIdLst>
        </p14:section>
        <p14:section name="How it works" id="{5551b5ae-6588-e2a3-099a-ea3a170f9f37}">
          <p14:sldIdLst>
            <p14:sldId id="258"/>
            <p14:sldId id="259"/>
            <p14:sldId id="260"/>
          </p14:sldIdLst>
        </p14:section>
        <p14:section name="Fit and trust" id="{e89915bc-1b2c-6e11-720d-2d70993ad607}">
          <p14:sldIdLst>
            <p14:sldId id="261"/>
            <p14:sldId id="262"/>
          </p14:sldIdLst>
        </p14:section>
        <p14:section name="Readiness" id="{6a0404d2-cb1d-73d1-0740-e527b4f2d262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Time to open a page, milliseconds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Milliseconds</c:v>
                </c:pt>
              </c:strCache>
            </c:strRef>
          </c:tx>
          <c:spPr>
            <a:solidFill>
              <a:srgbClr val="2E6F9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Annual report</c:v>
                  </c:pt>
                  <c:pt idx="1">
                    <c:v>Budget allocation</c:v>
                  </c:pt>
                  <c:pt idx="2">
                    <c:v>Plan approval</c:v>
                  </c:pt>
                  <c:pt idx="3">
                    <c:v>Activities</c:v>
                  </c:pt>
                  <c:pt idx="4">
                    <c:v>Dashboard</c:v>
                  </c:pt>
                  <c:pt idx="5">
                    <c:v>Monitoring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202</c:v>
                </c:pt>
                <c:pt idx="1">
                  <c:v>272</c:v>
                </c:pt>
                <c:pt idx="2">
                  <c:v>355</c:v>
                </c:pt>
                <c:pt idx="3">
                  <c:v>402</c:v>
                </c:pt>
                <c:pt idx="4">
                  <c:v>427</c:v>
                </c:pt>
                <c:pt idx="5">
                  <c:v>529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</c:scaling>
        <c:delete val="0"/>
        <c:axPos val="b"/>
        <c:majorGridlines>
          <c:spPr>
            <a:ln w="6350" cap="flat">
              <a:solidFill>
                <a:srgbClr val="D9E0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C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system: one place where a public body plans its year and its budget. It is not tied to one institution; the Ministry of Transport and Communications appears only as a sample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verbs: plan, approve, distribute. The distribution is exact to the cent and never gives a unit more than it asked for; any surplus stays unallocated.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order verified with the users: plan, internal approval, CRO, ministry total, Parliament and promulgation, envelope, distribution. Distribution only uses approved activities.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roles. Directors only see their own unit and the units beneath it. Every action is checked on the server, not only hidden in the menu.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screens, notifications and reports work in three languages. The PDF is the approved plan that goes to the CRO.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Ministry of Transport and Communications is only a sample. A deployment serves one institution; you can start with a single office such as the Gabinete de Digitalização e Segurança Cibernética.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 trail covers model saves. Two-factor is required for the Administrator and Minister roles by default and can be extended.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figures come from a load test with synthetic data. Guardrails now fail the build when a page runs too many database queries, and slow requests are logged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datasets are optional and removable. The Gabinete plan is illustrative; the ministry plan is taken from the published State Budget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ask: agree the pilot office and the deployment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011680"/>
            <a:ext cx="87782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93192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Sistema de Planeamento Anual e Orçamento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502920"/>
            <a:ext cx="1091153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201168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Sistema de Planeamento Anual e Orçamento</a:t>
            </a:r>
            <a:endParaRPr lang="en-US" sz="4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39319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The annual action plan and budget of a public body, from the first activity to the approved envelope</a:t>
            </a:r>
            <a:endParaRPr lang="en-US" sz="2000" dirty="0"/>
          </a:p>
        </p:txBody>
      </p:sp>
      <p:sp>
        <p:nvSpPr>
          <p:cNvPr id="4" name="Mark"/>
          <p:cNvSpPr/>
          <p:nvPr/>
        </p:nvSpPr>
        <p:spPr>
          <a:xfrm>
            <a:off x="9966960" y="1463040"/>
            <a:ext cx="1554480" cy="1554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Mark icon" descr="Plan and bud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1874520"/>
            <a:ext cx="731520" cy="731520"/>
          </a:xfrm>
          <a:prstGeom prst="rect">
            <a:avLst/>
          </a:prstGeom>
        </p:spPr>
      </p:pic>
      <p:sp>
        <p:nvSpPr>
          <p:cNvPr id="6" name="Implementer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Implemented by G-Kakaroto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system from the first plan to the final budget</a:t>
            </a:r>
            <a:endParaRPr lang="en-US" sz="3600" dirty="0"/>
          </a:p>
        </p:txBody>
      </p:sp>
      <p:sp>
        <p:nvSpPr>
          <p:cNvPr id="3" name="Card Plan"/>
          <p:cNvSpPr/>
          <p:nvPr/>
        </p:nvSpPr>
        <p:spPr>
          <a:xfrm>
            <a:off x="640080" y="173736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Circle Plan"/>
          <p:cNvSpPr/>
          <p:nvPr/>
        </p:nvSpPr>
        <p:spPr>
          <a:xfrm>
            <a:off x="1005840" y="21488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Plan" descr="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77440"/>
            <a:ext cx="411480" cy="411480"/>
          </a:xfrm>
          <a:prstGeom prst="rect">
            <a:avLst/>
          </a:prstGeom>
        </p:spPr>
      </p:pic>
      <p:sp>
        <p:nvSpPr>
          <p:cNvPr id="6" name="Heading Plan"/>
          <p:cNvSpPr txBox="1"/>
          <p:nvPr/>
        </p:nvSpPr>
        <p:spPr>
          <a:xfrm>
            <a:off x="100584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2400" dirty="0"/>
          </a:p>
        </p:txBody>
      </p:sp>
      <p:sp>
        <p:nvSpPr>
          <p:cNvPr id="7" name="Text Plan"/>
          <p:cNvSpPr txBox="1"/>
          <p:nvPr/>
        </p:nvSpPr>
        <p:spPr>
          <a:xfrm>
            <a:off x="1005840" y="38862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Units write their activities, indicators and budget lines by economic category.</a:t>
            </a:r>
            <a:endParaRPr lang="en-US" sz="1600" dirty="0"/>
          </a:p>
        </p:txBody>
      </p:sp>
      <p:sp>
        <p:nvSpPr>
          <p:cNvPr id="8" name="Card Approve"/>
          <p:cNvSpPr/>
          <p:nvPr/>
        </p:nvSpPr>
        <p:spPr>
          <a:xfrm>
            <a:off x="4434840" y="173736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Circle Approve"/>
          <p:cNvSpPr/>
          <p:nvPr/>
        </p:nvSpPr>
        <p:spPr>
          <a:xfrm>
            <a:off x="4800600" y="214884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 Approve" descr="Appr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377440"/>
            <a:ext cx="411480" cy="411480"/>
          </a:xfrm>
          <a:prstGeom prst="rect">
            <a:avLst/>
          </a:prstGeom>
        </p:spPr>
      </p:pic>
      <p:sp>
        <p:nvSpPr>
          <p:cNvPr id="11" name="Heading Approve"/>
          <p:cNvSpPr txBox="1"/>
          <p:nvPr/>
        </p:nvSpPr>
        <p:spPr>
          <a:xfrm>
            <a:off x="480060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2400" dirty="0"/>
          </a:p>
        </p:txBody>
      </p:sp>
      <p:sp>
        <p:nvSpPr>
          <p:cNvPr id="12" name="Text Approve"/>
          <p:cNvSpPr txBox="1"/>
          <p:nvPr/>
        </p:nvSpPr>
        <p:spPr>
          <a:xfrm>
            <a:off x="4800600" y="38862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Each plan is reviewed and validated up the chain until the head of the institution approves it.</a:t>
            </a:r>
            <a:endParaRPr lang="en-US" sz="1600" dirty="0"/>
          </a:p>
        </p:txBody>
      </p:sp>
      <p:sp>
        <p:nvSpPr>
          <p:cNvPr id="13" name="Card Distribute"/>
          <p:cNvSpPr/>
          <p:nvPr/>
        </p:nvSpPr>
        <p:spPr>
          <a:xfrm>
            <a:off x="8229600" y="173736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Circle Distribute"/>
          <p:cNvSpPr/>
          <p:nvPr/>
        </p:nvSpPr>
        <p:spPr>
          <a:xfrm>
            <a:off x="8595360" y="214884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con Distribute" descr="Distrib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377440"/>
            <a:ext cx="411480" cy="411480"/>
          </a:xfrm>
          <a:prstGeom prst="rect">
            <a:avLst/>
          </a:prstGeom>
        </p:spPr>
      </p:pic>
      <p:sp>
        <p:nvSpPr>
          <p:cNvPr id="16" name="Heading Distribute"/>
          <p:cNvSpPr txBox="1"/>
          <p:nvPr/>
        </p:nvSpPr>
        <p:spPr>
          <a:xfrm>
            <a:off x="859536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</a:t>
            </a:r>
            <a:endParaRPr lang="en-US" sz="2400" dirty="0"/>
          </a:p>
        </p:txBody>
      </p:sp>
      <p:sp>
        <p:nvSpPr>
          <p:cNvPr id="17" name="Text Distribute"/>
          <p:cNvSpPr txBox="1"/>
          <p:nvPr/>
        </p:nvSpPr>
        <p:spPr>
          <a:xfrm>
            <a:off x="8595360" y="38862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approved envelope is shared over the approved plan, to the cent, never above what was planned.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annual cycle, as the State Budget runs it</a:t>
            </a:r>
            <a:endParaRPr lang="en-US" sz="3600" dirty="0"/>
          </a:p>
        </p:txBody>
      </p:sp>
      <p:sp>
        <p:nvSpPr>
          <p:cNvPr id="3" name="Step 1"/>
          <p:cNvSpPr/>
          <p:nvPr/>
        </p:nvSpPr>
        <p:spPr>
          <a:xfrm>
            <a:off x="640080" y="160020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/>
          <p:nvPr/>
        </p:nvSpPr>
        <p:spPr>
          <a:xfrm>
            <a:off x="914400" y="187452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Number text 1"/>
          <p:cNvSpPr txBox="1"/>
          <p:nvPr/>
        </p:nvSpPr>
        <p:spPr>
          <a:xfrm>
            <a:off x="91440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tep title 1"/>
          <p:cNvSpPr txBox="1"/>
          <p:nvPr/>
        </p:nvSpPr>
        <p:spPr>
          <a:xfrm>
            <a:off x="1664208" y="1874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Units plan</a:t>
            </a:r>
            <a:endParaRPr lang="en-US" sz="2000" dirty="0"/>
          </a:p>
        </p:txBody>
      </p:sp>
      <p:sp>
        <p:nvSpPr>
          <p:cNvPr id="7" name="Step text 1"/>
          <p:cNvSpPr txBox="1"/>
          <p:nvPr/>
        </p:nvSpPr>
        <p:spPr>
          <a:xfrm>
            <a:off x="91440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Units draft activities with indicators and budget lines.</a:t>
            </a:r>
            <a:endParaRPr lang="en-US" sz="1600" dirty="0"/>
          </a:p>
        </p:txBody>
      </p:sp>
      <p:sp>
        <p:nvSpPr>
          <p:cNvPr id="8" name="Step 2"/>
          <p:cNvSpPr/>
          <p:nvPr/>
        </p:nvSpPr>
        <p:spPr>
          <a:xfrm>
            <a:off x="4434840" y="160020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/>
          <p:nvPr/>
        </p:nvSpPr>
        <p:spPr>
          <a:xfrm>
            <a:off x="4709160" y="187452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Number text 2"/>
          <p:cNvSpPr txBox="1"/>
          <p:nvPr/>
        </p:nvSpPr>
        <p:spPr>
          <a:xfrm>
            <a:off x="470916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tep title 2"/>
          <p:cNvSpPr txBox="1"/>
          <p:nvPr/>
        </p:nvSpPr>
        <p:spPr>
          <a:xfrm>
            <a:off x="5458968" y="1874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approval</a:t>
            </a:r>
            <a:endParaRPr lang="en-US" sz="2000" dirty="0"/>
          </a:p>
        </p:txBody>
      </p:sp>
      <p:sp>
        <p:nvSpPr>
          <p:cNvPr id="12" name="Step text 2"/>
          <p:cNvSpPr txBox="1"/>
          <p:nvPr/>
        </p:nvSpPr>
        <p:spPr>
          <a:xfrm>
            <a:off x="470916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Directors review and validate; the head approves the plan.</a:t>
            </a:r>
            <a:endParaRPr lang="en-US" sz="1600" dirty="0"/>
          </a:p>
        </p:txBody>
      </p:sp>
      <p:sp>
        <p:nvSpPr>
          <p:cNvPr id="13" name="Step 3"/>
          <p:cNvSpPr/>
          <p:nvPr/>
        </p:nvSpPr>
        <p:spPr>
          <a:xfrm>
            <a:off x="8229600" y="160020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4" name="Number 3"/>
          <p:cNvSpPr/>
          <p:nvPr/>
        </p:nvSpPr>
        <p:spPr>
          <a:xfrm>
            <a:off x="8503920" y="187452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Number text 3"/>
          <p:cNvSpPr txBox="1"/>
          <p:nvPr/>
        </p:nvSpPr>
        <p:spPr>
          <a:xfrm>
            <a:off x="850392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Step title 3"/>
          <p:cNvSpPr txBox="1"/>
          <p:nvPr/>
        </p:nvSpPr>
        <p:spPr>
          <a:xfrm>
            <a:off x="9253728" y="1874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the CRO</a:t>
            </a:r>
            <a:endParaRPr lang="en-US" sz="2000" dirty="0"/>
          </a:p>
        </p:txBody>
      </p:sp>
      <p:sp>
        <p:nvSpPr>
          <p:cNvPr id="17" name="Step text 3"/>
          <p:cNvSpPr txBox="1"/>
          <p:nvPr/>
        </p:nvSpPr>
        <p:spPr>
          <a:xfrm>
            <a:off x="850392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approved plan goes to the Comité de Revisão Político.</a:t>
            </a:r>
            <a:endParaRPr lang="en-US" sz="1600" dirty="0"/>
          </a:p>
        </p:txBody>
      </p:sp>
      <p:sp>
        <p:nvSpPr>
          <p:cNvPr id="18" name="Step 4"/>
          <p:cNvSpPr/>
          <p:nvPr/>
        </p:nvSpPr>
        <p:spPr>
          <a:xfrm>
            <a:off x="640080" y="393192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9" name="Number 4"/>
          <p:cNvSpPr/>
          <p:nvPr/>
        </p:nvSpPr>
        <p:spPr>
          <a:xfrm>
            <a:off x="914400" y="420624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Number text 4"/>
          <p:cNvSpPr txBox="1"/>
          <p:nvPr/>
        </p:nvSpPr>
        <p:spPr>
          <a:xfrm>
            <a:off x="91440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Step title 4"/>
          <p:cNvSpPr txBox="1"/>
          <p:nvPr/>
        </p:nvSpPr>
        <p:spPr>
          <a:xfrm>
            <a:off x="1664208" y="4206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Ministry total</a:t>
            </a:r>
            <a:endParaRPr lang="en-US" sz="2000" dirty="0"/>
          </a:p>
        </p:txBody>
      </p:sp>
      <p:sp>
        <p:nvSpPr>
          <p:cNvPr id="22" name="Step text 4"/>
          <p:cNvSpPr txBox="1"/>
          <p:nvPr/>
        </p:nvSpPr>
        <p:spPr>
          <a:xfrm>
            <a:off x="914400" y="4937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CRO decides the total for the ministry.</a:t>
            </a:r>
            <a:endParaRPr lang="en-US" sz="1600" dirty="0"/>
          </a:p>
        </p:txBody>
      </p:sp>
      <p:sp>
        <p:nvSpPr>
          <p:cNvPr id="23" name="Step 5"/>
          <p:cNvSpPr/>
          <p:nvPr/>
        </p:nvSpPr>
        <p:spPr>
          <a:xfrm>
            <a:off x="4434840" y="393192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4" name="Number 5"/>
          <p:cNvSpPr/>
          <p:nvPr/>
        </p:nvSpPr>
        <p:spPr>
          <a:xfrm>
            <a:off x="4709160" y="420624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5" name="Number text 5"/>
          <p:cNvSpPr txBox="1"/>
          <p:nvPr/>
        </p:nvSpPr>
        <p:spPr>
          <a:xfrm>
            <a:off x="470916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Step title 5"/>
          <p:cNvSpPr txBox="1"/>
          <p:nvPr/>
        </p:nvSpPr>
        <p:spPr>
          <a:xfrm>
            <a:off x="5458968" y="4206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law</a:t>
            </a:r>
            <a:endParaRPr lang="en-US" sz="2000" dirty="0"/>
          </a:p>
        </p:txBody>
      </p:sp>
      <p:sp>
        <p:nvSpPr>
          <p:cNvPr id="27" name="Step text 5"/>
          <p:cNvSpPr txBox="1"/>
          <p:nvPr/>
        </p:nvSpPr>
        <p:spPr>
          <a:xfrm>
            <a:off x="4709160" y="4937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Parliament approves and the President promulgates; the envelope is registered.</a:t>
            </a:r>
            <a:endParaRPr lang="en-US" sz="1600" dirty="0"/>
          </a:p>
        </p:txBody>
      </p:sp>
      <p:sp>
        <p:nvSpPr>
          <p:cNvPr id="28" name="Step 6"/>
          <p:cNvSpPr/>
          <p:nvPr/>
        </p:nvSpPr>
        <p:spPr>
          <a:xfrm>
            <a:off x="8229600" y="393192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9" name="Number 6"/>
          <p:cNvSpPr/>
          <p:nvPr/>
        </p:nvSpPr>
        <p:spPr>
          <a:xfrm>
            <a:off x="8503920" y="4206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Number text 6"/>
          <p:cNvSpPr txBox="1"/>
          <p:nvPr/>
        </p:nvSpPr>
        <p:spPr>
          <a:xfrm>
            <a:off x="850392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1" name="Step title 6"/>
          <p:cNvSpPr txBox="1"/>
          <p:nvPr/>
        </p:nvSpPr>
        <p:spPr>
          <a:xfrm>
            <a:off x="9253728" y="4206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2000" dirty="0"/>
          </a:p>
        </p:txBody>
      </p:sp>
      <p:sp>
        <p:nvSpPr>
          <p:cNvPr id="32" name="Step text 6"/>
          <p:cNvSpPr txBox="1"/>
          <p:nvPr/>
        </p:nvSpPr>
        <p:spPr>
          <a:xfrm>
            <a:off x="8503920" y="4937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envelope is shared over the approved plan.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Everyone sees and does what their role allows</a:t>
            </a:r>
            <a:endParaRPr lang="en-US" sz="3600" dirty="0"/>
          </a:p>
        </p:txBody>
      </p:sp>
      <p:sp>
        <p:nvSpPr>
          <p:cNvPr id="3" name="Role card Administrator"/>
          <p:cNvSpPr/>
          <p:nvPr/>
        </p:nvSpPr>
        <p:spPr>
          <a:xfrm>
            <a:off x="640080" y="1737360"/>
            <a:ext cx="2011680" cy="39319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" name="Role circle Administrator"/>
          <p:cNvSpPr/>
          <p:nvPr/>
        </p:nvSpPr>
        <p:spPr>
          <a:xfrm>
            <a:off x="118872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ole icon Administrator" descr="Administra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350008"/>
            <a:ext cx="420624" cy="420624"/>
          </a:xfrm>
          <a:prstGeom prst="rect">
            <a:avLst/>
          </a:prstGeom>
        </p:spPr>
      </p:pic>
      <p:sp>
        <p:nvSpPr>
          <p:cNvPr id="6" name="Role title Administrator"/>
          <p:cNvSpPr txBox="1"/>
          <p:nvPr/>
        </p:nvSpPr>
        <p:spPr>
          <a:xfrm>
            <a:off x="8229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800" dirty="0"/>
          </a:p>
        </p:txBody>
      </p:sp>
      <p:sp>
        <p:nvSpPr>
          <p:cNvPr id="7" name="Role text Administrator"/>
          <p:cNvSpPr txBox="1"/>
          <p:nvPr/>
        </p:nvSpPr>
        <p:spPr>
          <a:xfrm>
            <a:off x="822960" y="3840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Sets up the institution, users and settings.</a:t>
            </a:r>
            <a:endParaRPr lang="en-US" sz="1400" dirty="0"/>
          </a:p>
        </p:txBody>
      </p:sp>
      <p:sp>
        <p:nvSpPr>
          <p:cNvPr id="8" name="Role card Minister"/>
          <p:cNvSpPr/>
          <p:nvPr/>
        </p:nvSpPr>
        <p:spPr>
          <a:xfrm>
            <a:off x="2903220" y="1737360"/>
            <a:ext cx="2011680" cy="39319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9" name="Role circle Minister"/>
          <p:cNvSpPr/>
          <p:nvPr/>
        </p:nvSpPr>
        <p:spPr>
          <a:xfrm>
            <a:off x="3451860" y="210312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Role icon Minister" descr="Mini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48" y="2350008"/>
            <a:ext cx="420624" cy="420624"/>
          </a:xfrm>
          <a:prstGeom prst="rect">
            <a:avLst/>
          </a:prstGeom>
        </p:spPr>
      </p:pic>
      <p:sp>
        <p:nvSpPr>
          <p:cNvPr id="11" name="Role title Minister"/>
          <p:cNvSpPr txBox="1"/>
          <p:nvPr/>
        </p:nvSpPr>
        <p:spPr>
          <a:xfrm>
            <a:off x="308610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Minister</a:t>
            </a:r>
            <a:endParaRPr lang="en-US" sz="1800" dirty="0"/>
          </a:p>
        </p:txBody>
      </p:sp>
      <p:sp>
        <p:nvSpPr>
          <p:cNvPr id="12" name="Role text Minister"/>
          <p:cNvSpPr txBox="1"/>
          <p:nvPr/>
        </p:nvSpPr>
        <p:spPr>
          <a:xfrm>
            <a:off x="3086100" y="3840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Gives the final approval and registers the envelope.</a:t>
            </a:r>
            <a:endParaRPr lang="en-US" sz="1400" dirty="0"/>
          </a:p>
        </p:txBody>
      </p:sp>
      <p:sp>
        <p:nvSpPr>
          <p:cNvPr id="13" name="Role card Director"/>
          <p:cNvSpPr/>
          <p:nvPr/>
        </p:nvSpPr>
        <p:spPr>
          <a:xfrm>
            <a:off x="5166360" y="1737360"/>
            <a:ext cx="2011680" cy="39319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4" name="Role circle Director"/>
          <p:cNvSpPr/>
          <p:nvPr/>
        </p:nvSpPr>
        <p:spPr>
          <a:xfrm>
            <a:off x="5715000" y="210312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Role icon Director" descr="Direct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350008"/>
            <a:ext cx="420624" cy="420624"/>
          </a:xfrm>
          <a:prstGeom prst="rect">
            <a:avLst/>
          </a:prstGeom>
        </p:spPr>
      </p:pic>
      <p:sp>
        <p:nvSpPr>
          <p:cNvPr id="16" name="Role title Director"/>
          <p:cNvSpPr txBox="1"/>
          <p:nvPr/>
        </p:nvSpPr>
        <p:spPr>
          <a:xfrm>
            <a:off x="53492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</a:t>
            </a:r>
            <a:endParaRPr lang="en-US" sz="1800" dirty="0"/>
          </a:p>
        </p:txBody>
      </p:sp>
      <p:sp>
        <p:nvSpPr>
          <p:cNvPr id="17" name="Role text Director"/>
          <p:cNvSpPr txBox="1"/>
          <p:nvPr/>
        </p:nvSpPr>
        <p:spPr>
          <a:xfrm>
            <a:off x="5349240" y="3840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Reviews and validates the plans of the unit and its sub-units.</a:t>
            </a:r>
            <a:endParaRPr lang="en-US" sz="1400" dirty="0"/>
          </a:p>
        </p:txBody>
      </p:sp>
      <p:sp>
        <p:nvSpPr>
          <p:cNvPr id="18" name="Role card Planning"/>
          <p:cNvSpPr/>
          <p:nvPr/>
        </p:nvSpPr>
        <p:spPr>
          <a:xfrm>
            <a:off x="7429500" y="1737360"/>
            <a:ext cx="2011680" cy="39319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9" name="Role circle Planning"/>
          <p:cNvSpPr/>
          <p:nvPr/>
        </p:nvSpPr>
        <p:spPr>
          <a:xfrm>
            <a:off x="7978140" y="2103120"/>
            <a:ext cx="914400" cy="9144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Role icon Planning" descr="Plann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028" y="2350008"/>
            <a:ext cx="420624" cy="420624"/>
          </a:xfrm>
          <a:prstGeom prst="rect">
            <a:avLst/>
          </a:prstGeom>
        </p:spPr>
      </p:pic>
      <p:sp>
        <p:nvSpPr>
          <p:cNvPr id="21" name="Role title Planning"/>
          <p:cNvSpPr txBox="1"/>
          <p:nvPr/>
        </p:nvSpPr>
        <p:spPr>
          <a:xfrm>
            <a:off x="761238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800" dirty="0"/>
          </a:p>
        </p:txBody>
      </p:sp>
      <p:sp>
        <p:nvSpPr>
          <p:cNvPr id="22" name="Role text Planning"/>
          <p:cNvSpPr txBox="1"/>
          <p:nvPr/>
        </p:nvSpPr>
        <p:spPr>
          <a:xfrm>
            <a:off x="7612380" y="3840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Prepares activities, indicators and budget lines.</a:t>
            </a:r>
            <a:endParaRPr lang="en-US" sz="1400" dirty="0"/>
          </a:p>
        </p:txBody>
      </p:sp>
      <p:sp>
        <p:nvSpPr>
          <p:cNvPr id="23" name="Role card Viewer"/>
          <p:cNvSpPr/>
          <p:nvPr/>
        </p:nvSpPr>
        <p:spPr>
          <a:xfrm>
            <a:off x="9692640" y="1737360"/>
            <a:ext cx="2011680" cy="39319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24" name="Role circle Viewer"/>
          <p:cNvSpPr/>
          <p:nvPr/>
        </p:nvSpPr>
        <p:spPr>
          <a:xfrm>
            <a:off x="10241280" y="210312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Role icon Viewer" descr="View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8168" y="2350008"/>
            <a:ext cx="420624" cy="420624"/>
          </a:xfrm>
          <a:prstGeom prst="rect">
            <a:avLst/>
          </a:prstGeom>
        </p:spPr>
      </p:pic>
      <p:sp>
        <p:nvSpPr>
          <p:cNvPr id="26" name="Role title Viewer"/>
          <p:cNvSpPr txBox="1"/>
          <p:nvPr/>
        </p:nvSpPr>
        <p:spPr>
          <a:xfrm>
            <a:off x="987552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</a:t>
            </a:r>
            <a:endParaRPr lang="en-US" sz="1800" dirty="0"/>
          </a:p>
        </p:txBody>
      </p:sp>
      <p:sp>
        <p:nvSpPr>
          <p:cNvPr id="27" name="Role text Viewer"/>
          <p:cNvSpPr txBox="1"/>
          <p:nvPr/>
        </p:nvSpPr>
        <p:spPr>
          <a:xfrm>
            <a:off x="9875520" y="3840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Reads plans and reports; changes nothing.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the system gives each institution</a:t>
            </a:r>
            <a:endParaRPr lang="en-US" sz="3600" dirty="0"/>
          </a:p>
        </p:txBody>
      </p:sp>
      <p:sp>
        <p:nvSpPr>
          <p:cNvPr id="3" name="Cap circle 1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Cap icon 1" descr="Activities and indica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274320" cy="274320"/>
          </a:xfrm>
          <a:prstGeom prst="rect">
            <a:avLst/>
          </a:prstGeom>
        </p:spPr>
      </p:pic>
      <p:sp>
        <p:nvSpPr>
          <p:cNvPr id="5" name="Capability 1"/>
          <p:cNvSpPr txBox="1"/>
          <p:nvPr/>
        </p:nvSpPr>
        <p:spPr>
          <a:xfrm>
            <a:off x="1508760" y="15544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Activities and indicators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activity carries targets, quarterly progress and its budget lines.</a:t>
            </a:r>
            <a:endParaRPr lang="en-US" sz="1800" dirty="0"/>
          </a:p>
        </p:txBody>
      </p:sp>
      <p:sp>
        <p:nvSpPr>
          <p:cNvPr id="6" name="Cap circle 2"/>
          <p:cNvSpPr/>
          <p:nvPr/>
        </p:nvSpPr>
        <p:spPr>
          <a:xfrm>
            <a:off x="640080" y="249631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ap icon 2" descr="Budget by economic categ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79192"/>
            <a:ext cx="274320" cy="274320"/>
          </a:xfrm>
          <a:prstGeom prst="rect">
            <a:avLst/>
          </a:prstGeom>
        </p:spPr>
      </p:pic>
      <p:sp>
        <p:nvSpPr>
          <p:cNvPr id="8" name="Capability 2"/>
          <p:cNvSpPr txBox="1"/>
          <p:nvPr/>
        </p:nvSpPr>
        <p:spPr>
          <a:xfrm>
            <a:off x="1508760" y="245059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Budget by economic category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Salaries, goods and services, transfers and capital, in the State Budget's own classification.</a:t>
            </a:r>
            <a:endParaRPr lang="en-US" sz="1800" dirty="0"/>
          </a:p>
        </p:txBody>
      </p:sp>
      <p:sp>
        <p:nvSpPr>
          <p:cNvPr id="9" name="Cap circle 3"/>
          <p:cNvSpPr/>
          <p:nvPr/>
        </p:nvSpPr>
        <p:spPr>
          <a:xfrm>
            <a:off x="640080" y="339242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ap icon 3" descr="A clear approval ch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75304"/>
            <a:ext cx="274320" cy="274320"/>
          </a:xfrm>
          <a:prstGeom prst="rect">
            <a:avLst/>
          </a:prstGeom>
        </p:spPr>
      </p:pic>
      <p:sp>
        <p:nvSpPr>
          <p:cNvPr id="11" name="Capability 3"/>
          <p:cNvSpPr txBox="1"/>
          <p:nvPr/>
        </p:nvSpPr>
        <p:spPr>
          <a:xfrm>
            <a:off x="1508760" y="334670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clear approval chain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Submit, review, validate, approve, with notifications at each step.</a:t>
            </a:r>
            <a:endParaRPr lang="en-US" sz="1800" dirty="0"/>
          </a:p>
        </p:txBody>
      </p:sp>
      <p:sp>
        <p:nvSpPr>
          <p:cNvPr id="12" name="Cap circle 4"/>
          <p:cNvSpPr/>
          <p:nvPr/>
        </p:nvSpPr>
        <p:spPr>
          <a:xfrm>
            <a:off x="640080" y="4288536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Cap icon 4" descr="Dashboard and repor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71416"/>
            <a:ext cx="274320" cy="274320"/>
          </a:xfrm>
          <a:prstGeom prst="rect">
            <a:avLst/>
          </a:prstGeom>
        </p:spPr>
      </p:pic>
      <p:sp>
        <p:nvSpPr>
          <p:cNvPr id="14" name="Capability 4"/>
          <p:cNvSpPr txBox="1"/>
          <p:nvPr/>
        </p:nvSpPr>
        <p:spPr>
          <a:xfrm>
            <a:off x="1508760" y="424281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Dashboard and reports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Planned against approved, by unit and by programme, ready for the CRO.</a:t>
            </a:r>
            <a:endParaRPr lang="en-US" sz="1800" dirty="0"/>
          </a:p>
        </p:txBody>
      </p:sp>
      <p:sp>
        <p:nvSpPr>
          <p:cNvPr id="15" name="Cap circle 5"/>
          <p:cNvSpPr/>
          <p:nvPr/>
        </p:nvSpPr>
        <p:spPr>
          <a:xfrm>
            <a:off x="640080" y="518464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p icon 5" descr="Quarterly monitor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67528"/>
            <a:ext cx="274320" cy="274320"/>
          </a:xfrm>
          <a:prstGeom prst="rect">
            <a:avLst/>
          </a:prstGeom>
        </p:spPr>
      </p:pic>
      <p:sp>
        <p:nvSpPr>
          <p:cNvPr id="17" name="Capability 5"/>
          <p:cNvSpPr txBox="1"/>
          <p:nvPr/>
        </p:nvSpPr>
        <p:spPr>
          <a:xfrm>
            <a:off x="1508760" y="51389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Quarterly monitoring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Verified progress against annual targets.</a:t>
            </a:r>
            <a:endParaRPr lang="en-US" sz="1800" dirty="0"/>
          </a:p>
        </p:txBody>
      </p:sp>
      <p:sp>
        <p:nvSpPr>
          <p:cNvPr id="18" name="Stat card 1"/>
          <p:cNvSpPr/>
          <p:nvPr/>
        </p:nvSpPr>
        <p:spPr>
          <a:xfrm>
            <a:off x="8229600" y="1600200"/>
            <a:ext cx="3319272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9" name="Stat 1"/>
          <p:cNvSpPr txBox="1"/>
          <p:nvPr/>
        </p:nvSpPr>
        <p:spPr>
          <a:xfrm>
            <a:off x="8503920" y="1709928"/>
            <a:ext cx="1371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0" name="Stat label 1"/>
          <p:cNvSpPr txBox="1"/>
          <p:nvPr/>
        </p:nvSpPr>
        <p:spPr>
          <a:xfrm>
            <a:off x="9875520" y="1709928"/>
            <a:ext cx="1508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languages: English, Portuguese and Tetum</a:t>
            </a:r>
            <a:endParaRPr lang="en-US" sz="1400" dirty="0"/>
          </a:p>
        </p:txBody>
      </p:sp>
      <p:sp>
        <p:nvSpPr>
          <p:cNvPr id="21" name="Stat card 2"/>
          <p:cNvSpPr/>
          <p:nvPr/>
        </p:nvSpPr>
        <p:spPr>
          <a:xfrm>
            <a:off x="8229600" y="3081528"/>
            <a:ext cx="3319272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2" name="Stat 2"/>
          <p:cNvSpPr txBox="1"/>
          <p:nvPr/>
        </p:nvSpPr>
        <p:spPr>
          <a:xfrm>
            <a:off x="8503920" y="3191256"/>
            <a:ext cx="1371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</a:t>
            </a:r>
            <a:endParaRPr lang="en-US" sz="4000" dirty="0"/>
          </a:p>
        </p:txBody>
      </p:sp>
      <p:sp>
        <p:nvSpPr>
          <p:cNvPr id="23" name="Stat label 2"/>
          <p:cNvSpPr txBox="1"/>
          <p:nvPr/>
        </p:nvSpPr>
        <p:spPr>
          <a:xfrm>
            <a:off x="9875520" y="3191256"/>
            <a:ext cx="1508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approved plan for the CRO</a:t>
            </a:r>
            <a:endParaRPr lang="en-US" sz="1400" dirty="0"/>
          </a:p>
        </p:txBody>
      </p:sp>
      <p:sp>
        <p:nvSpPr>
          <p:cNvPr id="24" name="Stat card 3"/>
          <p:cNvSpPr/>
          <p:nvPr/>
        </p:nvSpPr>
        <p:spPr>
          <a:xfrm>
            <a:off x="8229600" y="4562856"/>
            <a:ext cx="3319272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5" name="Stat 3"/>
          <p:cNvSpPr txBox="1"/>
          <p:nvPr/>
        </p:nvSpPr>
        <p:spPr>
          <a:xfrm>
            <a:off x="8503920" y="4672584"/>
            <a:ext cx="1371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4000" dirty="0"/>
          </a:p>
        </p:txBody>
      </p:sp>
      <p:sp>
        <p:nvSpPr>
          <p:cNvPr id="26" name="Stat label 3"/>
          <p:cNvSpPr txBox="1"/>
          <p:nvPr/>
        </p:nvSpPr>
        <p:spPr>
          <a:xfrm>
            <a:off x="9875520" y="4672584"/>
            <a:ext cx="1508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import and export of activities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Built for any institution, whole ministry or one office</a:t>
            </a:r>
            <a:endParaRPr lang="en-US" sz="3600" dirty="0"/>
          </a:p>
        </p:txBody>
      </p:sp>
      <p:sp>
        <p:nvSpPr>
          <p:cNvPr id="3" name="Tree root"/>
          <p:cNvSpPr/>
          <p:nvPr/>
        </p:nvSpPr>
        <p:spPr>
          <a:xfrm>
            <a:off x="2011680" y="169164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4" name="Tree root text"/>
          <p:cNvSpPr txBox="1"/>
          <p:nvPr/>
        </p:nvSpPr>
        <p:spPr>
          <a:xfrm>
            <a:off x="201168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Institution</a:t>
            </a:r>
            <a:endParaRPr lang="en-US" sz="1800" dirty="0"/>
          </a:p>
        </p:txBody>
      </p:sp>
      <p:sp>
        <p:nvSpPr>
          <p:cNvPr id="5" name="Tree stem"/>
          <p:cNvSpPr/>
          <p:nvPr/>
        </p:nvSpPr>
        <p:spPr>
          <a:xfrm>
            <a:off x="3108960" y="2423160"/>
            <a:ext cx="0" cy="3200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6" name="Tree bar"/>
          <p:cNvSpPr/>
          <p:nvPr/>
        </p:nvSpPr>
        <p:spPr>
          <a:xfrm>
            <a:off x="1417320" y="2743200"/>
            <a:ext cx="33832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Tree drop 0"/>
          <p:cNvSpPr/>
          <p:nvPr/>
        </p:nvSpPr>
        <p:spPr>
          <a:xfrm>
            <a:off x="1417320" y="2743200"/>
            <a:ext cx="0" cy="182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8" name="Tree level 2 0"/>
          <p:cNvSpPr/>
          <p:nvPr/>
        </p:nvSpPr>
        <p:spPr>
          <a:xfrm>
            <a:off x="640080" y="292608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9" name="Tree level 2 0 text"/>
          <p:cNvSpPr txBox="1"/>
          <p:nvPr/>
        </p:nvSpPr>
        <p:spPr>
          <a:xfrm>
            <a:off x="640080" y="2926080"/>
            <a:ext cx="1554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Directorate</a:t>
            </a:r>
            <a:endParaRPr lang="en-US" sz="1400" dirty="0"/>
          </a:p>
        </p:txBody>
      </p:sp>
      <p:sp>
        <p:nvSpPr>
          <p:cNvPr id="10" name="Tree sub drop 0"/>
          <p:cNvSpPr/>
          <p:nvPr/>
        </p:nvSpPr>
        <p:spPr>
          <a:xfrm>
            <a:off x="1417320" y="3657600"/>
            <a:ext cx="0" cy="3657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" name="Tree level 3 0"/>
          <p:cNvSpPr/>
          <p:nvPr/>
        </p:nvSpPr>
        <p:spPr>
          <a:xfrm>
            <a:off x="640080" y="4023360"/>
            <a:ext cx="15544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2" name="Tree level 3 0 text"/>
          <p:cNvSpPr txBox="1"/>
          <p:nvPr/>
        </p:nvSpPr>
        <p:spPr>
          <a:xfrm>
            <a:off x="640080" y="4023360"/>
            <a:ext cx="1554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Units</a:t>
            </a:r>
            <a:endParaRPr lang="en-US" sz="1400" dirty="0"/>
          </a:p>
        </p:txBody>
      </p:sp>
      <p:sp>
        <p:nvSpPr>
          <p:cNvPr id="13" name="Tree drop 1"/>
          <p:cNvSpPr/>
          <p:nvPr/>
        </p:nvSpPr>
        <p:spPr>
          <a:xfrm>
            <a:off x="3108960" y="2743200"/>
            <a:ext cx="0" cy="182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4" name="Tree level 2 1"/>
          <p:cNvSpPr/>
          <p:nvPr/>
        </p:nvSpPr>
        <p:spPr>
          <a:xfrm>
            <a:off x="2331720" y="292608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15" name="Tree level 2 1 text"/>
          <p:cNvSpPr txBox="1"/>
          <p:nvPr/>
        </p:nvSpPr>
        <p:spPr>
          <a:xfrm>
            <a:off x="2331720" y="2926080"/>
            <a:ext cx="1554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Gabinete</a:t>
            </a:r>
            <a:endParaRPr lang="en-US" sz="1400" dirty="0"/>
          </a:p>
        </p:txBody>
      </p:sp>
      <p:sp>
        <p:nvSpPr>
          <p:cNvPr id="16" name="Tree sub drop 1"/>
          <p:cNvSpPr/>
          <p:nvPr/>
        </p:nvSpPr>
        <p:spPr>
          <a:xfrm>
            <a:off x="3108960" y="3657600"/>
            <a:ext cx="0" cy="3657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7" name="Tree level 3 1"/>
          <p:cNvSpPr/>
          <p:nvPr/>
        </p:nvSpPr>
        <p:spPr>
          <a:xfrm>
            <a:off x="2331720" y="4023360"/>
            <a:ext cx="15544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8" name="Tree level 3 1 text"/>
          <p:cNvSpPr txBox="1"/>
          <p:nvPr/>
        </p:nvSpPr>
        <p:spPr>
          <a:xfrm>
            <a:off x="2331720" y="4023360"/>
            <a:ext cx="1554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Units</a:t>
            </a:r>
            <a:endParaRPr lang="en-US" sz="1400" dirty="0"/>
          </a:p>
        </p:txBody>
      </p:sp>
      <p:sp>
        <p:nvSpPr>
          <p:cNvPr id="19" name="Tree drop 2"/>
          <p:cNvSpPr/>
          <p:nvPr/>
        </p:nvSpPr>
        <p:spPr>
          <a:xfrm>
            <a:off x="4800600" y="2743200"/>
            <a:ext cx="0" cy="182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0" name="Tree level 2 2"/>
          <p:cNvSpPr/>
          <p:nvPr/>
        </p:nvSpPr>
        <p:spPr>
          <a:xfrm>
            <a:off x="4023360" y="292608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21" name="Tree level 2 2 text"/>
          <p:cNvSpPr txBox="1"/>
          <p:nvPr/>
        </p:nvSpPr>
        <p:spPr>
          <a:xfrm>
            <a:off x="4023360" y="2926080"/>
            <a:ext cx="1554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Autonomous body</a:t>
            </a:r>
            <a:endParaRPr lang="en-US" sz="1400" dirty="0"/>
          </a:p>
        </p:txBody>
      </p:sp>
      <p:sp>
        <p:nvSpPr>
          <p:cNvPr id="22" name="Tree sub drop 2"/>
          <p:cNvSpPr/>
          <p:nvPr/>
        </p:nvSpPr>
        <p:spPr>
          <a:xfrm>
            <a:off x="4800600" y="3657600"/>
            <a:ext cx="0" cy="3657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3" name="Tree level 3 2"/>
          <p:cNvSpPr/>
          <p:nvPr/>
        </p:nvSpPr>
        <p:spPr>
          <a:xfrm>
            <a:off x="4023360" y="4023360"/>
            <a:ext cx="15544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4" name="Tree level 3 2 text"/>
          <p:cNvSpPr txBox="1"/>
          <p:nvPr/>
        </p:nvSpPr>
        <p:spPr>
          <a:xfrm>
            <a:off x="4023360" y="4023360"/>
            <a:ext cx="1554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Units</a:t>
            </a:r>
            <a:endParaRPr lang="en-US" sz="1400" dirty="0"/>
          </a:p>
        </p:txBody>
      </p:sp>
      <p:sp>
        <p:nvSpPr>
          <p:cNvPr id="25" name="Tree caption"/>
          <p:cNvSpPr txBox="1"/>
          <p:nvPr/>
        </p:nvSpPr>
        <p:spPr>
          <a:xfrm>
            <a:off x="640080" y="4937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Any depth the law defines</a:t>
            </a:r>
            <a:endParaRPr lang="en-US" sz="1400" dirty="0"/>
          </a:p>
        </p:txBody>
      </p:sp>
      <p:sp>
        <p:nvSpPr>
          <p:cNvPr id="26" name="Point 1"/>
          <p:cNvSpPr txBox="1"/>
          <p:nvPr/>
        </p:nvSpPr>
        <p:spPr>
          <a:xfrm>
            <a:off x="6583680" y="1691640"/>
            <a:ext cx="49651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One deployment, one institution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Name, structure and programmes are set in the app; nothing is hard-coded to a ministry.</a:t>
            </a:r>
            <a:endParaRPr lang="en-US" sz="1800" dirty="0"/>
          </a:p>
        </p:txBody>
      </p:sp>
      <p:sp>
        <p:nvSpPr>
          <p:cNvPr id="27" name="Point 2"/>
          <p:cNvSpPr txBox="1"/>
          <p:nvPr/>
        </p:nvSpPr>
        <p:spPr>
          <a:xfrm>
            <a:off x="6583680" y="3154680"/>
            <a:ext cx="49651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Whole ministry or a single office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with one gabinete or directorate and add the rest later.</a:t>
            </a:r>
            <a:endParaRPr lang="en-US" sz="1800" dirty="0"/>
          </a:p>
        </p:txBody>
      </p:sp>
      <p:sp>
        <p:nvSpPr>
          <p:cNvPr id="28" name="Point 3"/>
          <p:cNvSpPr txBox="1"/>
          <p:nvPr/>
        </p:nvSpPr>
        <p:spPr>
          <a:xfrm>
            <a:off x="6583680" y="4617720"/>
            <a:ext cx="49651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Autonomous bodies included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Public bodies with their own legal personality sit in the same tree, flagged as indirect administration.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Controls an institution can rely on</a:t>
            </a:r>
            <a:endParaRPr lang="en-US" sz="3600" dirty="0"/>
          </a:p>
        </p:txBody>
      </p:sp>
      <p:sp>
        <p:nvSpPr>
          <p:cNvPr id="3" name="Trust card 1"/>
          <p:cNvSpPr/>
          <p:nvPr/>
        </p:nvSpPr>
        <p:spPr>
          <a:xfrm>
            <a:off x="640080" y="160020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4" name="Trust circle 1"/>
          <p:cNvSpPr/>
          <p:nvPr/>
        </p:nvSpPr>
        <p:spPr>
          <a:xfrm>
            <a:off x="91440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rust icon 1" descr="Audit tr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57400"/>
            <a:ext cx="274320" cy="274320"/>
          </a:xfrm>
          <a:prstGeom prst="rect">
            <a:avLst/>
          </a:prstGeom>
        </p:spPr>
      </p:pic>
      <p:sp>
        <p:nvSpPr>
          <p:cNvPr id="6" name="Trust title 1"/>
          <p:cNvSpPr txBox="1"/>
          <p:nvPr/>
        </p:nvSpPr>
        <p:spPr>
          <a:xfrm>
            <a:off x="173736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</a:t>
            </a:r>
            <a:endParaRPr lang="en-US" sz="1800" dirty="0"/>
          </a:p>
        </p:txBody>
      </p:sp>
      <p:sp>
        <p:nvSpPr>
          <p:cNvPr id="7" name="Trust text 1"/>
          <p:cNvSpPr txBox="1"/>
          <p:nvPr/>
        </p:nvSpPr>
        <p:spPr>
          <a:xfrm>
            <a:off x="914400" y="2651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change to plans, budgets and settings is recorded with who and when.</a:t>
            </a:r>
            <a:endParaRPr lang="en-US" sz="1400" dirty="0"/>
          </a:p>
        </p:txBody>
      </p:sp>
      <p:sp>
        <p:nvSpPr>
          <p:cNvPr id="8" name="Trust card 2"/>
          <p:cNvSpPr/>
          <p:nvPr/>
        </p:nvSpPr>
        <p:spPr>
          <a:xfrm>
            <a:off x="4434840" y="160020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9" name="Trust circle 2"/>
          <p:cNvSpPr/>
          <p:nvPr/>
        </p:nvSpPr>
        <p:spPr>
          <a:xfrm>
            <a:off x="4709160" y="1874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Trust icon 2" descr="Role permiss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57400"/>
            <a:ext cx="274320" cy="274320"/>
          </a:xfrm>
          <a:prstGeom prst="rect">
            <a:avLst/>
          </a:prstGeom>
        </p:spPr>
      </p:pic>
      <p:sp>
        <p:nvSpPr>
          <p:cNvPr id="11" name="Trust title 2"/>
          <p:cNvSpPr txBox="1"/>
          <p:nvPr/>
        </p:nvSpPr>
        <p:spPr>
          <a:xfrm>
            <a:off x="553212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permissions</a:t>
            </a:r>
            <a:endParaRPr lang="en-US" sz="1800" dirty="0"/>
          </a:p>
        </p:txBody>
      </p:sp>
      <p:sp>
        <p:nvSpPr>
          <p:cNvPr id="12" name="Trust text 2"/>
          <p:cNvSpPr txBox="1"/>
          <p:nvPr/>
        </p:nvSpPr>
        <p:spPr>
          <a:xfrm>
            <a:off x="4709160" y="2651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Checked on the server for every action, not only hidden in the menu.</a:t>
            </a:r>
            <a:endParaRPr lang="en-US" sz="1400" dirty="0"/>
          </a:p>
        </p:txBody>
      </p:sp>
      <p:sp>
        <p:nvSpPr>
          <p:cNvPr id="13" name="Trust card 3"/>
          <p:cNvSpPr/>
          <p:nvPr/>
        </p:nvSpPr>
        <p:spPr>
          <a:xfrm>
            <a:off x="8229600" y="160020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4" name="Trust circle 3"/>
          <p:cNvSpPr/>
          <p:nvPr/>
        </p:nvSpPr>
        <p:spPr>
          <a:xfrm>
            <a:off x="8503920" y="1874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Trust icon 3" descr="Two-factor sign-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057400"/>
            <a:ext cx="274320" cy="274320"/>
          </a:xfrm>
          <a:prstGeom prst="rect">
            <a:avLst/>
          </a:prstGeom>
        </p:spPr>
      </p:pic>
      <p:sp>
        <p:nvSpPr>
          <p:cNvPr id="16" name="Trust title 3"/>
          <p:cNvSpPr txBox="1"/>
          <p:nvPr/>
        </p:nvSpPr>
        <p:spPr>
          <a:xfrm>
            <a:off x="932688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Two-factor sign-in</a:t>
            </a:r>
            <a:endParaRPr lang="en-US" sz="1800" dirty="0"/>
          </a:p>
        </p:txBody>
      </p:sp>
      <p:sp>
        <p:nvSpPr>
          <p:cNvPr id="17" name="Trust text 3"/>
          <p:cNvSpPr txBox="1"/>
          <p:nvPr/>
        </p:nvSpPr>
        <p:spPr>
          <a:xfrm>
            <a:off x="8503920" y="2651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Authenticator codes and recovery codes; required for senior roles.</a:t>
            </a:r>
            <a:endParaRPr lang="en-US" sz="1400" dirty="0"/>
          </a:p>
        </p:txBody>
      </p:sp>
      <p:sp>
        <p:nvSpPr>
          <p:cNvPr id="18" name="Trust card 4"/>
          <p:cNvSpPr/>
          <p:nvPr/>
        </p:nvSpPr>
        <p:spPr>
          <a:xfrm>
            <a:off x="640080" y="379476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9" name="Trust circle 4"/>
          <p:cNvSpPr/>
          <p:nvPr/>
        </p:nvSpPr>
        <p:spPr>
          <a:xfrm>
            <a:off x="914400" y="4069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Trust icon 4" descr="Closed registr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251960"/>
            <a:ext cx="274320" cy="274320"/>
          </a:xfrm>
          <a:prstGeom prst="rect">
            <a:avLst/>
          </a:prstGeom>
        </p:spPr>
      </p:pic>
      <p:sp>
        <p:nvSpPr>
          <p:cNvPr id="21" name="Trust title 4"/>
          <p:cNvSpPr txBox="1"/>
          <p:nvPr/>
        </p:nvSpPr>
        <p:spPr>
          <a:xfrm>
            <a:off x="173736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registration</a:t>
            </a:r>
            <a:endParaRPr lang="en-US" sz="1800" dirty="0"/>
          </a:p>
        </p:txBody>
      </p:sp>
      <p:sp>
        <p:nvSpPr>
          <p:cNvPr id="22" name="Trust text 4"/>
          <p:cNvSpPr txBox="1"/>
          <p:nvPr/>
        </p:nvSpPr>
        <p:spPr>
          <a:xfrm>
            <a:off x="914400" y="4846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self-sign-up; sign-in attempts are rate-limited.</a:t>
            </a:r>
            <a:endParaRPr lang="en-US" sz="1400" dirty="0"/>
          </a:p>
        </p:txBody>
      </p:sp>
      <p:sp>
        <p:nvSpPr>
          <p:cNvPr id="23" name="Trust card 5"/>
          <p:cNvSpPr/>
          <p:nvPr/>
        </p:nvSpPr>
        <p:spPr>
          <a:xfrm>
            <a:off x="4434840" y="379476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4" name="Trust circle 5"/>
          <p:cNvSpPr/>
          <p:nvPr/>
        </p:nvSpPr>
        <p:spPr>
          <a:xfrm>
            <a:off x="4709160" y="40690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Trust icon 5" descr="Backups and healt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251960"/>
            <a:ext cx="274320" cy="274320"/>
          </a:xfrm>
          <a:prstGeom prst="rect">
            <a:avLst/>
          </a:prstGeom>
        </p:spPr>
      </p:pic>
      <p:sp>
        <p:nvSpPr>
          <p:cNvPr id="26" name="Trust title 5"/>
          <p:cNvSpPr txBox="1"/>
          <p:nvPr/>
        </p:nvSpPr>
        <p:spPr>
          <a:xfrm>
            <a:off x="553212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Backups and health</a:t>
            </a:r>
            <a:endParaRPr lang="en-US" sz="1800" dirty="0"/>
          </a:p>
        </p:txBody>
      </p:sp>
      <p:sp>
        <p:nvSpPr>
          <p:cNvPr id="27" name="Trust text 5"/>
          <p:cNvSpPr txBox="1"/>
          <p:nvPr/>
        </p:nvSpPr>
        <p:spPr>
          <a:xfrm>
            <a:off x="4709160" y="4846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Nightly backups and a health check for uptime monitoring.</a:t>
            </a:r>
            <a:endParaRPr lang="en-US" sz="1400" dirty="0"/>
          </a:p>
        </p:txBody>
      </p:sp>
      <p:sp>
        <p:nvSpPr>
          <p:cNvPr id="28" name="Trust card 6"/>
          <p:cNvSpPr/>
          <p:nvPr/>
        </p:nvSpPr>
        <p:spPr>
          <a:xfrm>
            <a:off x="8229600" y="379476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9" name="Trust circle 6"/>
          <p:cNvSpPr/>
          <p:nvPr/>
        </p:nvSpPr>
        <p:spPr>
          <a:xfrm>
            <a:off x="8503920" y="4069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Trust icon 6" descr="Teste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4251960"/>
            <a:ext cx="274320" cy="274320"/>
          </a:xfrm>
          <a:prstGeom prst="rect">
            <a:avLst/>
          </a:prstGeom>
        </p:spPr>
      </p:pic>
      <p:sp>
        <p:nvSpPr>
          <p:cNvPr id="31" name="Trust title 6"/>
          <p:cNvSpPr txBox="1"/>
          <p:nvPr/>
        </p:nvSpPr>
        <p:spPr>
          <a:xfrm>
            <a:off x="932688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</a:t>
            </a:r>
            <a:endParaRPr lang="en-US" sz="1800" dirty="0"/>
          </a:p>
        </p:txBody>
      </p:sp>
      <p:sp>
        <p:nvSpPr>
          <p:cNvPr id="32" name="Trust text 6"/>
          <p:cNvSpPr txBox="1"/>
          <p:nvPr/>
        </p:nvSpPr>
        <p:spPr>
          <a:xfrm>
            <a:off x="8503920" y="4846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More than 160 automated tests guard the approval and budget rules.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Fast with a full year of data</a:t>
            </a:r>
            <a:endParaRPr lang="en-US" sz="3600" dirty="0"/>
          </a:p>
        </p:txBody>
      </p:sp>
      <p:graphicFrame>
        <p:nvGraphicFramePr>
          <p:cNvPr id="3" name="Page times chart" descr=""/>
          <p:cNvGraphicFramePr/>
          <p:nvPr/>
        </p:nvGraphicFramePr>
        <p:xfrm>
          <a:off x="640080" y="155448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sult card 1"/>
          <p:cNvSpPr/>
          <p:nvPr/>
        </p:nvSpPr>
        <p:spPr>
          <a:xfrm>
            <a:off x="7772400" y="1554480"/>
            <a:ext cx="377647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5" name="Result 1"/>
          <p:cNvSpPr txBox="1"/>
          <p:nvPr/>
        </p:nvSpPr>
        <p:spPr>
          <a:xfrm>
            <a:off x="8046720" y="1783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min+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to under 0.3 s</a:t>
            </a:r>
            <a:endParaRPr lang="en-US" sz="3200" dirty="0"/>
          </a:p>
        </p:txBody>
      </p:sp>
      <p:sp>
        <p:nvSpPr>
          <p:cNvPr id="6" name="Result label 1"/>
          <p:cNvSpPr txBox="1"/>
          <p:nvPr/>
        </p:nvSpPr>
        <p:spPr>
          <a:xfrm>
            <a:off x="8046720" y="2697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Annual report, which did not finish before</a:t>
            </a:r>
            <a:endParaRPr lang="en-US" sz="1400" dirty="0"/>
          </a:p>
        </p:txBody>
      </p:sp>
      <p:sp>
        <p:nvSpPr>
          <p:cNvPr id="7" name="Result card 2"/>
          <p:cNvSpPr/>
          <p:nvPr/>
        </p:nvSpPr>
        <p:spPr>
          <a:xfrm>
            <a:off x="7772400" y="3749040"/>
            <a:ext cx="377647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8" name="Result 2"/>
          <p:cNvSpPr txBox="1"/>
          <p:nvPr/>
        </p:nvSpPr>
        <p:spPr>
          <a:xfrm>
            <a:off x="8046720" y="3977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MB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to 92 KB</a:t>
            </a:r>
            <a:endParaRPr lang="en-US" sz="3200" dirty="0"/>
          </a:p>
        </p:txBody>
      </p:sp>
      <p:sp>
        <p:nvSpPr>
          <p:cNvPr id="9" name="Result label 2"/>
          <p:cNvSpPr txBox="1"/>
          <p:nvPr/>
        </p:nvSpPr>
        <p:spPr>
          <a:xfrm>
            <a:off x="8046720" y="4892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Monitoring page size</a:t>
            </a:r>
            <a:endParaRPr lang="en-US" sz="1400" dirty="0"/>
          </a:p>
        </p:txBody>
      </p:sp>
      <p:sp>
        <p:nvSpPr>
          <p:cNvPr id="10" name="Performance caption"/>
          <p:cNvSpPr txBox="1"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Measured on a development server with 3,000 activities; the MTC sample holds about 270 across three years. Hosted timings to be confirmed after deployment.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Try it with sample data</a:t>
            </a:r>
            <a:endParaRPr lang="en-US" sz="3600" dirty="0"/>
          </a:p>
        </p:txBody>
      </p:sp>
      <p:sp>
        <p:nvSpPr>
          <p:cNvPr id="3" name="Demo card 1"/>
          <p:cNvSpPr/>
          <p:nvPr/>
        </p:nvSpPr>
        <p:spPr>
          <a:xfrm>
            <a:off x="640080" y="1691640"/>
            <a:ext cx="52120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4" name="Demo circle 1"/>
          <p:cNvSpPr/>
          <p:nvPr/>
        </p:nvSpPr>
        <p:spPr>
          <a:xfrm>
            <a:off x="105156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Demo icon 1" descr="One off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331720"/>
            <a:ext cx="411480" cy="411480"/>
          </a:xfrm>
          <a:prstGeom prst="rect">
            <a:avLst/>
          </a:prstGeom>
        </p:spPr>
      </p:pic>
      <p:sp>
        <p:nvSpPr>
          <p:cNvPr id="6" name="Demo title 1"/>
          <p:cNvSpPr txBox="1"/>
          <p:nvPr/>
        </p:nvSpPr>
        <p:spPr>
          <a:xfrm>
            <a:off x="2148840" y="2103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office</a:t>
            </a:r>
            <a:endParaRPr lang="en-US" sz="2600" dirty="0"/>
          </a:p>
        </p:txBody>
      </p:sp>
      <p:sp>
        <p:nvSpPr>
          <p:cNvPr id="7" name="Demo text 1"/>
          <p:cNvSpPr txBox="1"/>
          <p:nvPr/>
        </p:nvSpPr>
        <p:spPr>
          <a:xfrm>
            <a:off x="1051560" y="324612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Gabinete de Digitalização e Segurança Cibernética, with the Unidade para o Digital and the Unidade de Segurança Cibernética.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Plans for 2026 and 2027 at every step of the approval workflow. The default choice.</a:t>
            </a:r>
            <a:endParaRPr lang="en-US" sz="1600" dirty="0"/>
          </a:p>
        </p:txBody>
      </p:sp>
      <p:sp>
        <p:nvSpPr>
          <p:cNvPr id="8" name="Demo card 2"/>
          <p:cNvSpPr/>
          <p:nvPr/>
        </p:nvSpPr>
        <p:spPr>
          <a:xfrm>
            <a:off x="6309360" y="1691640"/>
            <a:ext cx="52120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9" name="Demo circle 2"/>
          <p:cNvSpPr/>
          <p:nvPr/>
        </p:nvSpPr>
        <p:spPr>
          <a:xfrm>
            <a:off x="6720840" y="210312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Demo icon 2" descr="The whole minis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331720"/>
            <a:ext cx="411480" cy="411480"/>
          </a:xfrm>
          <a:prstGeom prst="rect">
            <a:avLst/>
          </a:prstGeom>
        </p:spPr>
      </p:pic>
      <p:sp>
        <p:nvSpPr>
          <p:cNvPr id="11" name="Demo title 2"/>
          <p:cNvSpPr txBox="1"/>
          <p:nvPr/>
        </p:nvSpPr>
        <p:spPr>
          <a:xfrm>
            <a:off x="7818120" y="2103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ministry</a:t>
            </a:r>
            <a:endParaRPr lang="en-US" sz="2600" dirty="0"/>
          </a:p>
        </p:txBody>
      </p:sp>
      <p:sp>
        <p:nvSpPr>
          <p:cNvPr id="12" name="Demo text 2"/>
          <p:cNvSpPr txBox="1"/>
          <p:nvPr/>
        </p:nvSpPr>
        <p:spPr>
          <a:xfrm>
            <a:off x="6720840" y="324612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The Ministry of Transport and Communications and its autonomous bodies.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real State Budget plans for 2025 to 2027, with the 2025 and 2026 envelopes distributed.</a:t>
            </a:r>
            <a:endParaRPr lang="en-US" sz="1600" dirty="0"/>
          </a:p>
        </p:txBody>
      </p:sp>
      <p:sp>
        <p:nvSpPr>
          <p:cNvPr id="13" name="Demo caption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Loaded and removed by an administrator at Management &gt; Sample Data; real data is never touched.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50292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Proposed next steps</a:t>
            </a:r>
            <a:endParaRPr lang="en-US" sz="3600" dirty="0"/>
          </a:p>
        </p:txBody>
      </p:sp>
      <p:sp>
        <p:nvSpPr>
          <p:cNvPr id="3" name="Next number 1"/>
          <p:cNvSpPr/>
          <p:nvPr/>
        </p:nvSpPr>
        <p:spPr>
          <a:xfrm>
            <a:off x="64008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Next number text 1"/>
          <p:cNvSpPr txBox="1"/>
          <p:nvPr/>
        </p:nvSpPr>
        <p:spPr>
          <a:xfrm>
            <a:off x="6400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Next step 1"/>
          <p:cNvSpPr txBox="1"/>
          <p:nvPr/>
        </p:nvSpPr>
        <p:spPr>
          <a:xfrm>
            <a:off x="1691640" y="16002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Deploy for real use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Production server, Redis for sessions and cache, and a scheduled nightly job.</a:t>
            </a:r>
            <a:endParaRPr lang="en-US" sz="2200" dirty="0"/>
          </a:p>
        </p:txBody>
      </p:sp>
      <p:sp>
        <p:nvSpPr>
          <p:cNvPr id="6" name="Next number 2"/>
          <p:cNvSpPr/>
          <p:nvPr/>
        </p:nvSpPr>
        <p:spPr>
          <a:xfrm>
            <a:off x="640080" y="2788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Next number text 2"/>
          <p:cNvSpPr txBox="1"/>
          <p:nvPr/>
        </p:nvSpPr>
        <p:spPr>
          <a:xfrm>
            <a:off x="64008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Next step 2"/>
          <p:cNvSpPr txBox="1"/>
          <p:nvPr/>
        </p:nvSpPr>
        <p:spPr>
          <a:xfrm>
            <a:off x="1691640" y="26974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Pilot with one office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Start with the Gabinete and its two units, then widen.</a:t>
            </a:r>
            <a:endParaRPr lang="en-US" sz="2200" dirty="0"/>
          </a:p>
        </p:txBody>
      </p:sp>
      <p:sp>
        <p:nvSpPr>
          <p:cNvPr id="9" name="Next number 3"/>
          <p:cNvSpPr/>
          <p:nvPr/>
        </p:nvSpPr>
        <p:spPr>
          <a:xfrm>
            <a:off x="640080" y="3886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ext number text 3"/>
          <p:cNvSpPr txBox="1"/>
          <p:nvPr/>
        </p:nvSpPr>
        <p:spPr>
          <a:xfrm>
            <a:off x="640080" y="3886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Next step 3"/>
          <p:cNvSpPr txBox="1"/>
          <p:nvPr/>
        </p:nvSpPr>
        <p:spPr>
          <a:xfrm>
            <a:off x="1691640" y="37947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Watch real usage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Slow requests are logged with their query counts; fix what real users hit.</a:t>
            </a:r>
            <a:endParaRPr lang="en-US" sz="2200" dirty="0"/>
          </a:p>
        </p:txBody>
      </p:sp>
      <p:sp>
        <p:nvSpPr>
          <p:cNvPr id="12" name="Next number 4"/>
          <p:cNvSpPr/>
          <p:nvPr/>
        </p:nvSpPr>
        <p:spPr>
          <a:xfrm>
            <a:off x="640080" y="4983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Next number text 4"/>
          <p:cNvSpPr txBox="1"/>
          <p:nvPr/>
        </p:nvSpPr>
        <p:spPr>
          <a:xfrm>
            <a:off x="640080" y="4983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Next step 4"/>
          <p:cNvSpPr txBox="1"/>
          <p:nvPr/>
        </p:nvSpPr>
        <p:spPr>
          <a:xfrm>
            <a:off x="1691640" y="48920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Keep improving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Move remaining page logic out of the views and share one look across screens.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A Navy">
  <a:themeElements>
    <a:clrScheme name="PAA Navy">
      <a:dk1>
        <a:srgbClr val="1B2A41"/>
      </a:dk1>
      <a:lt1>
        <a:srgbClr val="FFFFFF"/>
      </a:lt1>
      <a:dk2>
        <a:srgbClr val="0F1B2D"/>
      </a:dk2>
      <a:lt2>
        <a:srgbClr val="EEF2F7"/>
      </a:lt2>
      <a:accent1>
        <a:srgbClr val="C8102E"/>
      </a:accent1>
      <a:accent2>
        <a:srgbClr val="F2B705"/>
      </a:accent2>
      <a:accent3>
        <a:srgbClr val="2E6F95"/>
      </a:accent3>
      <a:accent4>
        <a:srgbClr val="3A7D5C"/>
      </a:accent4>
      <a:accent5>
        <a:srgbClr val="7A8CA3"/>
      </a:accent5>
      <a:accent6>
        <a:srgbClr val="E4572E"/>
      </a:accent6>
      <a:hlink>
        <a:srgbClr val="2E6F95"/>
      </a:hlink>
      <a:folHlink>
        <a:srgbClr val="7A8CA3"/>
      </a:folHlink>
    </a:clrScheme>
    <a:fontScheme name="PAA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Planeamento Anual e Orçamento</dc:title>
  <dc:subject>PptxGenJS Presentation</dc:subject>
  <dc:creator>G-Kakaroto</dc:creator>
  <cp:lastModifiedBy>G-Kakaroto</cp:lastModifiedBy>
  <cp:revision>1</cp:revision>
  <dcterms:created xsi:type="dcterms:W3CDTF">2026-10-14T00:21:43Z</dcterms:created>
  <dcterms:modified xsi:type="dcterms:W3CDTF">2026-10-14T00:21:43Z</dcterms:modified>
</cp:coreProperties>
</file>